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7aa9b9d36b4cb1" /><Relationship Type="http://schemas.openxmlformats.org/officeDocument/2006/relationships/extended-properties" Target="/docProps/app.xml" Id="R1383a670003b4dfc" /><Relationship Type="http://schemas.openxmlformats.org/officeDocument/2006/relationships/officeDocument" Target="/ppt/presentation.xml" Id="R842b77bee4954e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cbbffe593d4df6"/>
  </p:sldMasterIdLst>
  <p:notesMasterIdLst>
    <p:notesMasterId xmlns:r="http://schemas.openxmlformats.org/officeDocument/2006/relationships" r:id="R980c186bc9bc4d2a"/>
  </p:notesMasterIdLst>
  <p:sldIdLst>
    <p:sldId xmlns:r="http://schemas.openxmlformats.org/officeDocument/2006/relationships" id="256" r:id="R220f2d3227024391"/>
    <p:sldId xmlns:r="http://schemas.openxmlformats.org/officeDocument/2006/relationships" id="257" r:id="R2f83776eb84648d9"/>
    <p:sldId xmlns:r="http://schemas.openxmlformats.org/officeDocument/2006/relationships" id="258" r:id="R2c3a83a8e1e84669"/>
    <p:sldId xmlns:r="http://schemas.openxmlformats.org/officeDocument/2006/relationships" id="259" r:id="R243034f2c0fe4ba1"/>
    <p:sldId xmlns:r="http://schemas.openxmlformats.org/officeDocument/2006/relationships" id="260" r:id="R5269b797d6ba419f"/>
    <p:sldId xmlns:r="http://schemas.openxmlformats.org/officeDocument/2006/relationships" id="261" r:id="R7c8fbee094634185"/>
    <p:sldId xmlns:r="http://schemas.openxmlformats.org/officeDocument/2006/relationships" id="262" r:id="R91428ea81efd4433"/>
    <p:sldId xmlns:r="http://schemas.openxmlformats.org/officeDocument/2006/relationships" id="263" r:id="Red693096fa284e6b"/>
    <p:sldId xmlns:r="http://schemas.openxmlformats.org/officeDocument/2006/relationships" id="264" r:id="Rd4bac162734d4b35"/>
    <p:sldId xmlns:r="http://schemas.openxmlformats.org/officeDocument/2006/relationships" id="265" r:id="Refcc6a254601407c"/>
    <p:sldId xmlns:r="http://schemas.openxmlformats.org/officeDocument/2006/relationships" id="266" r:id="Reb90a528ad5a4946"/>
    <p:sldId xmlns:r="http://schemas.openxmlformats.org/officeDocument/2006/relationships" id="267" r:id="Ra0144304cd644eed"/>
    <p:sldId xmlns:r="http://schemas.openxmlformats.org/officeDocument/2006/relationships" id="268" r:id="Ra95c309e97284449"/>
    <p:sldId xmlns:r="http://schemas.openxmlformats.org/officeDocument/2006/relationships" id="269" r:id="Radff6f83d6f34f51"/>
    <p:sldId xmlns:r="http://schemas.openxmlformats.org/officeDocument/2006/relationships" id="270" r:id="Rd90caea48dd04bb6"/>
    <p:sldId xmlns:r="http://schemas.openxmlformats.org/officeDocument/2006/relationships" id="271" r:id="Re501a3cb7dad4ba5"/>
    <p:sldId xmlns:r="http://schemas.openxmlformats.org/officeDocument/2006/relationships" id="272" r:id="R7b2f55fd13044729"/>
    <p:sldId xmlns:r="http://schemas.openxmlformats.org/officeDocument/2006/relationships" id="273" r:id="R8c5074e4c2c34a8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6e6c4376664cf5" /><Relationship Type="http://schemas.openxmlformats.org/officeDocument/2006/relationships/slideMaster" Target="/ppt/slideMasters/slideMaster1.xml" Id="Rfccbbffe593d4df6" /><Relationship Type="http://schemas.openxmlformats.org/officeDocument/2006/relationships/notesMaster" Target="/ppt/notesMasters/notesMaster1.xml" Id="R980c186bc9bc4d2a" /><Relationship Type="http://schemas.openxmlformats.org/officeDocument/2006/relationships/presProps" Target="/ppt/presProps.xml" Id="R7df2508783334201" /><Relationship Type="http://schemas.openxmlformats.org/officeDocument/2006/relationships/viewProps" Target="/ppt/viewProps.xml" Id="Rd13019156107449d" /><Relationship Type="http://schemas.openxmlformats.org/officeDocument/2006/relationships/tableStyles" Target="/ppt/tableStyles.xml" Id="R1e8f08ff84994078" /><Relationship Type="http://schemas.openxmlformats.org/officeDocument/2006/relationships/slide" Target="/ppt/slides/slide1.xml" Id="R220f2d3227024391" /><Relationship Type="http://schemas.openxmlformats.org/officeDocument/2006/relationships/slide" Target="/ppt/slides/slide2.xml" Id="R2f83776eb84648d9" /><Relationship Type="http://schemas.openxmlformats.org/officeDocument/2006/relationships/slide" Target="/ppt/slides/slide3.xml" Id="R2c3a83a8e1e84669" /><Relationship Type="http://schemas.openxmlformats.org/officeDocument/2006/relationships/slide" Target="/ppt/slides/slide4.xml" Id="R243034f2c0fe4ba1" /><Relationship Type="http://schemas.openxmlformats.org/officeDocument/2006/relationships/slide" Target="/ppt/slides/slide5.xml" Id="R5269b797d6ba419f" /><Relationship Type="http://schemas.openxmlformats.org/officeDocument/2006/relationships/slide" Target="/ppt/slides/slide6.xml" Id="R7c8fbee094634185" /><Relationship Type="http://schemas.openxmlformats.org/officeDocument/2006/relationships/slide" Target="/ppt/slides/slide7.xml" Id="R91428ea81efd4433" /><Relationship Type="http://schemas.openxmlformats.org/officeDocument/2006/relationships/slide" Target="/ppt/slides/slide8.xml" Id="Red693096fa284e6b" /><Relationship Type="http://schemas.openxmlformats.org/officeDocument/2006/relationships/slide" Target="/ppt/slides/slide9.xml" Id="Rd4bac162734d4b35" /><Relationship Type="http://schemas.openxmlformats.org/officeDocument/2006/relationships/slide" Target="/ppt/slides/slide10.xml" Id="Refcc6a254601407c" /><Relationship Type="http://schemas.openxmlformats.org/officeDocument/2006/relationships/slide" Target="/ppt/slides/slide11.xml" Id="Reb90a528ad5a4946" /><Relationship Type="http://schemas.openxmlformats.org/officeDocument/2006/relationships/slide" Target="/ppt/slides/slide12.xml" Id="Ra0144304cd644eed" /><Relationship Type="http://schemas.openxmlformats.org/officeDocument/2006/relationships/slide" Target="/ppt/slides/slide13.xml" Id="Ra95c309e97284449" /><Relationship Type="http://schemas.openxmlformats.org/officeDocument/2006/relationships/slide" Target="/ppt/slides/slide14.xml" Id="Radff6f83d6f34f51" /><Relationship Type="http://schemas.openxmlformats.org/officeDocument/2006/relationships/slide" Target="/ppt/slides/slide15.xml" Id="Rd90caea48dd04bb6" /><Relationship Type="http://schemas.openxmlformats.org/officeDocument/2006/relationships/slide" Target="/ppt/slides/slide16.xml" Id="Re501a3cb7dad4ba5" /><Relationship Type="http://schemas.openxmlformats.org/officeDocument/2006/relationships/slide" Target="/ppt/slides/slide17.xml" Id="R7b2f55fd13044729" /><Relationship Type="http://schemas.openxmlformats.org/officeDocument/2006/relationships/slide" Target="/ppt/slides/slide18.xml" Id="R8c5074e4c2c34a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5caaca6f2f4a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dc5666984345cb" /><Relationship Type="http://schemas.openxmlformats.org/officeDocument/2006/relationships/notesMaster" Target="/ppt/notesMasters/notesMaster1.xml" Id="R073c1d85aba74d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f7c66136e54406" /><Relationship Type="http://schemas.openxmlformats.org/officeDocument/2006/relationships/notesMaster" Target="/ppt/notesMasters/notesMaster1.xml" Id="R74a1b9fd14ec41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80f139a7954e60" /><Relationship Type="http://schemas.openxmlformats.org/officeDocument/2006/relationships/notesMaster" Target="/ppt/notesMasters/notesMaster1.xml" Id="Rdb74bf69521b4c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ae750fc72147f6" /><Relationship Type="http://schemas.openxmlformats.org/officeDocument/2006/relationships/notesMaster" Target="/ppt/notesMasters/notesMaster1.xml" Id="Rdac336f1b0f145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8eb95866f644a0" /><Relationship Type="http://schemas.openxmlformats.org/officeDocument/2006/relationships/notesMaster" Target="/ppt/notesMasters/notesMaster1.xml" Id="R44dbc6577dbe4b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d59b5146724903" /><Relationship Type="http://schemas.openxmlformats.org/officeDocument/2006/relationships/notesMaster" Target="/ppt/notesMasters/notesMaster1.xml" Id="Rac384c1554534c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ab27884f96459c" /><Relationship Type="http://schemas.openxmlformats.org/officeDocument/2006/relationships/notesMaster" Target="/ppt/notesMasters/notesMaster1.xml" Id="R1cbdc0daf49343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52e530becd43dc" /><Relationship Type="http://schemas.openxmlformats.org/officeDocument/2006/relationships/notesMaster" Target="/ppt/notesMasters/notesMaster1.xml" Id="R30ca44656c724f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ee4d86613b4622" /><Relationship Type="http://schemas.openxmlformats.org/officeDocument/2006/relationships/notesMaster" Target="/ppt/notesMasters/notesMaster1.xml" Id="Rddc2c259ae7549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47013044064e31" /><Relationship Type="http://schemas.openxmlformats.org/officeDocument/2006/relationships/notesMaster" Target="/ppt/notesMasters/notesMaster1.xml" Id="R936dac880b464d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7a5135ff1443af" /><Relationship Type="http://schemas.openxmlformats.org/officeDocument/2006/relationships/notesMaster" Target="/ppt/notesMasters/notesMaster1.xml" Id="R9e14ac65981a40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090383a387414b" /><Relationship Type="http://schemas.openxmlformats.org/officeDocument/2006/relationships/notesMaster" Target="/ppt/notesMasters/notesMaster1.xml" Id="R9f1e3947503742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905cb109a94dd5" /><Relationship Type="http://schemas.openxmlformats.org/officeDocument/2006/relationships/notesMaster" Target="/ppt/notesMasters/notesMaster1.xml" Id="R87dc1ba43a134f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042756933142b3" /><Relationship Type="http://schemas.openxmlformats.org/officeDocument/2006/relationships/notesMaster" Target="/ppt/notesMasters/notesMaster1.xml" Id="R5ef691131e5a4e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26a4d8313143aa" /><Relationship Type="http://schemas.openxmlformats.org/officeDocument/2006/relationships/notesMaster" Target="/ppt/notesMasters/notesMaster1.xml" Id="Rbb566f0eaca844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131c93d90b4811" /><Relationship Type="http://schemas.openxmlformats.org/officeDocument/2006/relationships/notesMaster" Target="/ppt/notesMasters/notesMaster1.xml" Id="Rb698bd6efcc749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36b807a01b4d45" /><Relationship Type="http://schemas.openxmlformats.org/officeDocument/2006/relationships/notesMaster" Target="/ppt/notesMasters/notesMaster1.xml" Id="R49fa89650a6d42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4547ee1cab34bea" /><Relationship Type="http://schemas.openxmlformats.org/officeDocument/2006/relationships/notesMaster" Target="/ppt/notesMasters/notesMaster1.xml" Id="R7c591387d2d24a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07579980440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44f65446134037" /><Relationship Type="http://schemas.openxmlformats.org/officeDocument/2006/relationships/slideLayout" Target="/ppt/slideLayouts/slideLayout1.xml" Id="Re42a4756fdf243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2a4756fdf243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b0176b41347df" /><Relationship Type="http://schemas.openxmlformats.org/officeDocument/2006/relationships/image" Target="/ppt/media/image.png" Id="Rcb97d0e5234c486e" /><Relationship Type="http://schemas.openxmlformats.org/officeDocument/2006/relationships/notesSlide" Target="/ppt/notesSlides/notesSlide1.xml" Id="Rbad765f0bae145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6408ad0304abc" /><Relationship Type="http://schemas.openxmlformats.org/officeDocument/2006/relationships/image" Target="/ppt/media/image2.png" Id="R984d722a611441f9" /><Relationship Type="http://schemas.openxmlformats.org/officeDocument/2006/relationships/notesSlide" Target="/ppt/notesSlides/notesSlide2.xml" Id="R5a04a376be7745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97aa2fba14e75" /><Relationship Type="http://schemas.openxmlformats.org/officeDocument/2006/relationships/image" Target="/ppt/media/image3.png" Id="R903e15bc2d894ccc" /><Relationship Type="http://schemas.openxmlformats.org/officeDocument/2006/relationships/notesSlide" Target="/ppt/notesSlides/notesSlide3.xml" Id="Rad19b5dd05894b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274bdd8444cd3" /><Relationship Type="http://schemas.openxmlformats.org/officeDocument/2006/relationships/image" Target="/ppt/media/image4.png" Id="R0102c8884774403f" /><Relationship Type="http://schemas.openxmlformats.org/officeDocument/2006/relationships/notesSlide" Target="/ppt/notesSlides/notesSlide4.xml" Id="Rab0fbf9a213c42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77f912a2e4b7a" /><Relationship Type="http://schemas.openxmlformats.org/officeDocument/2006/relationships/image" Target="/ppt/media/image5.png" Id="R90555b168a2445a5" /><Relationship Type="http://schemas.openxmlformats.org/officeDocument/2006/relationships/notesSlide" Target="/ppt/notesSlides/notesSlide5.xml" Id="R522771aa251840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7ed17a3784f88" /><Relationship Type="http://schemas.openxmlformats.org/officeDocument/2006/relationships/image" Target="/ppt/media/image6.png" Id="R018df566e4b447fb" /><Relationship Type="http://schemas.openxmlformats.org/officeDocument/2006/relationships/notesSlide" Target="/ppt/notesSlides/notesSlide6.xml" Id="Rdfdc9ec6accd49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f68bbe75d4fad" /><Relationship Type="http://schemas.openxmlformats.org/officeDocument/2006/relationships/image" Target="/ppt/media/image7.png" Id="R49156a9f9e1146d8" /><Relationship Type="http://schemas.openxmlformats.org/officeDocument/2006/relationships/notesSlide" Target="/ppt/notesSlides/notesSlide7.xml" Id="R7fb8ad7d56d34b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73bf6feba4dab" /><Relationship Type="http://schemas.openxmlformats.org/officeDocument/2006/relationships/image" Target="/ppt/media/image8.png" Id="R8635154a917f4d3b" /><Relationship Type="http://schemas.openxmlformats.org/officeDocument/2006/relationships/notesSlide" Target="/ppt/notesSlides/notesSlide8.xml" Id="R42f4ad975b9a45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4ab56aa664f02" /><Relationship Type="http://schemas.openxmlformats.org/officeDocument/2006/relationships/image" Target="/ppt/media/image9.png" Id="R11c12640983e46f5" /><Relationship Type="http://schemas.openxmlformats.org/officeDocument/2006/relationships/notesSlide" Target="/ppt/notesSlides/notesSlide9.xml" Id="Re9c7e233f2ee44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2eacd6929466f" /><Relationship Type="http://schemas.openxmlformats.org/officeDocument/2006/relationships/image" Target="/ppt/media/image10.png" Id="R5b6cf24bb41d4e4c" /><Relationship Type="http://schemas.openxmlformats.org/officeDocument/2006/relationships/notesSlide" Target="/ppt/notesSlides/notesSlide10.xml" Id="R2b8dcb755c5447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87d2869e24f6a" /><Relationship Type="http://schemas.openxmlformats.org/officeDocument/2006/relationships/image" Target="/ppt/media/image11.png" Id="Rdcc6e266ec514e6e" /><Relationship Type="http://schemas.openxmlformats.org/officeDocument/2006/relationships/notesSlide" Target="/ppt/notesSlides/notesSlide11.xml" Id="R44efb2f56c744c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a0e99566f4344" /><Relationship Type="http://schemas.openxmlformats.org/officeDocument/2006/relationships/image" Target="/ppt/media/image12.png" Id="R97b01dc5b98a47be" /><Relationship Type="http://schemas.openxmlformats.org/officeDocument/2006/relationships/notesSlide" Target="/ppt/notesSlides/notesSlide12.xml" Id="Ra3c11859bdd044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ea64d4f7743ba" /><Relationship Type="http://schemas.openxmlformats.org/officeDocument/2006/relationships/image" Target="/ppt/media/image13.png" Id="Rc60e02c5e7be4895" /><Relationship Type="http://schemas.openxmlformats.org/officeDocument/2006/relationships/notesSlide" Target="/ppt/notesSlides/notesSlide13.xml" Id="Rd0e8cb691dfa4a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7ffa3b68e4e17" /><Relationship Type="http://schemas.openxmlformats.org/officeDocument/2006/relationships/image" Target="/ppt/media/image14.png" Id="R25f3d03f97614135" /><Relationship Type="http://schemas.openxmlformats.org/officeDocument/2006/relationships/notesSlide" Target="/ppt/notesSlides/notesSlide14.xml" Id="R2f9d18dfe3be4f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a750e54b04ac4" /><Relationship Type="http://schemas.openxmlformats.org/officeDocument/2006/relationships/image" Target="/ppt/media/image15.png" Id="R2953fd288e714426" /><Relationship Type="http://schemas.openxmlformats.org/officeDocument/2006/relationships/notesSlide" Target="/ppt/notesSlides/notesSlide15.xml" Id="R39fe4e70e6fc41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ee5f0fe3940f1" /><Relationship Type="http://schemas.openxmlformats.org/officeDocument/2006/relationships/image" Target="/ppt/media/image16.png" Id="Rf9d3f47590dd44fd" /><Relationship Type="http://schemas.openxmlformats.org/officeDocument/2006/relationships/notesSlide" Target="/ppt/notesSlides/notesSlide16.xml" Id="R7de25a6c07c24b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bed6a2a2443f0" /><Relationship Type="http://schemas.openxmlformats.org/officeDocument/2006/relationships/image" Target="/ppt/media/image17.png" Id="R5e46bb4b99c64d20" /><Relationship Type="http://schemas.openxmlformats.org/officeDocument/2006/relationships/notesSlide" Target="/ppt/notesSlides/notesSlide17.xml" Id="Ra5b5ff2b696d42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7b8e14982477d" /><Relationship Type="http://schemas.openxmlformats.org/officeDocument/2006/relationships/image" Target="/ppt/media/image18.png" Id="R2b693a44266d44cd" /><Relationship Type="http://schemas.openxmlformats.org/officeDocument/2006/relationships/notesSlide" Target="/ppt/notesSlides/notesSlide18.xml" Id="R4afd1e0a04af42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7d0e5234c48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26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d722a611441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859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e15bc2d894c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873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2c888477440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31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55b168a2445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70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df566e4b447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567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56a9f9e1146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35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5154a917f4d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053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12640983e46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310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cf24bb41d4e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506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6e266ec514e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416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01dc5b98a47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261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e02c5e7be48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682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3d03f976141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5818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ositioning-bg">
            <a:extLst xmlns:a="http://schemas.openxmlformats.org/drawingml/2006/main">
              <a:ext uri="{FF2B5EF4-FFF2-40B4-BE49-F238E27FC236}">
                <a16:creationId xmlns:a16="http://schemas.microsoft.com/office/drawing/2014/main" id="{DF13A666-59D2-4E3F-BB55-670C2C65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positioning-brand">
            <a:extLst xmlns:a="http://schemas.openxmlformats.org/drawingml/2006/main">
              <a:ext uri="{FF2B5EF4-FFF2-40B4-BE49-F238E27FC236}">
                <a16:creationId xmlns:a16="http://schemas.microsoft.com/office/drawing/2014/main" id="{4A5A36E2-049B-4BB4-8DC5-833CF823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positioning-meta">
            <a:extLst xmlns:a="http://schemas.openxmlformats.org/drawingml/2006/main">
              <a:ext uri="{FF2B5EF4-FFF2-40B4-BE49-F238E27FC236}">
                <a16:creationId xmlns:a16="http://schemas.microsoft.com/office/drawing/2014/main" id="{A50E4129-F4E1-45B7-891C-C18D8248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4" name="positioning-rule-top">
            <a:extLst xmlns:a="http://schemas.openxmlformats.org/drawingml/2006/main">
              <a:ext uri="{FF2B5EF4-FFF2-40B4-BE49-F238E27FC236}">
                <a16:creationId xmlns:a16="http://schemas.microsoft.com/office/drawing/2014/main" id="{047FEBBA-E3E4-424D-A72E-8A1ADAEA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positioning-rule-bottom">
            <a:extLst xmlns:a="http://schemas.openxmlformats.org/drawingml/2006/main">
              <a:ext uri="{FF2B5EF4-FFF2-40B4-BE49-F238E27FC236}">
                <a16:creationId xmlns:a16="http://schemas.microsoft.com/office/drawing/2014/main" id="{EA7039CE-B074-4D68-AB03-9F0CB1A0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positioning-footer">
            <a:extLst xmlns:a="http://schemas.openxmlformats.org/drawingml/2006/main">
              <a:ext uri="{FF2B5EF4-FFF2-40B4-BE49-F238E27FC236}">
                <a16:creationId xmlns:a16="http://schemas.microsoft.com/office/drawing/2014/main" id="{5D82AAC3-DE32-4CCC-86A1-C5C23021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Partner talk track: make the value easy to repeat.</a:t>
            </a:r>
          </a:p>
        </p:txBody>
      </p:sp>
      <p:sp>
        <p:nvSpPr>
          <p:cNvPr id="7" name="positioning-page">
            <a:extLst xmlns:a="http://schemas.openxmlformats.org/drawingml/2006/main">
              <a:ext uri="{FF2B5EF4-FFF2-40B4-BE49-F238E27FC236}">
                <a16:creationId xmlns:a16="http://schemas.microsoft.com/office/drawing/2014/main" id="{1007DDC8-9B3B-4F84-96F2-1CB20557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15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0DC7C-B707-49BC-B43A-4F071F2A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B8847-0DED-4CFF-92D6-5891ED8F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990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49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How partners should position ShiftBy in 20 seconds.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B638E-D59F-47EB-87D7-81F14571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is a Singapore-based, founder-led advisory practice. It helps leaders preserve understanding when execution becomes distributed across people, systems, suppliers, automation, and AI.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B7E91-DEF5-4A4B-85EA-718A0C8E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61531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670CB-3373-474E-A3A4-8076CC68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561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Say this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654B1-8007-4519-9448-8B6D09BC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24200"/>
            <a:ext cx="56197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helps leaders preserve understanding when execution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It is most useful when decisions, knowledge, ownership, and accountability become harder to keep connected.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5D60B-4035-438A-90B6-B319DF75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77000"/>
            <a:ext cx="6153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B2233-51E0-4723-B352-354FB970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724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Best used when a customer says: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632BC-7DC2-4992-9606-0134EDBC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0866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AI adoption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Governance and assurance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Knowledge loss and drift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3fd288e714426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463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ngagement-bg">
            <a:extLst xmlns:a="http://schemas.openxmlformats.org/drawingml/2006/main">
              <a:ext uri="{FF2B5EF4-FFF2-40B4-BE49-F238E27FC236}">
                <a16:creationId xmlns:a16="http://schemas.microsoft.com/office/drawing/2014/main" id="{09B9FDBC-7ABA-460C-B812-CA39806F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engagement-brand">
            <a:extLst xmlns:a="http://schemas.openxmlformats.org/drawingml/2006/main">
              <a:ext uri="{FF2B5EF4-FFF2-40B4-BE49-F238E27FC236}">
                <a16:creationId xmlns:a16="http://schemas.microsoft.com/office/drawing/2014/main" id="{932BD54F-BCBA-4608-BCC6-A49CC939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engagement-meta">
            <a:extLst xmlns:a="http://schemas.openxmlformats.org/drawingml/2006/main">
              <a:ext uri="{FF2B5EF4-FFF2-40B4-BE49-F238E27FC236}">
                <a16:creationId xmlns:a16="http://schemas.microsoft.com/office/drawing/2014/main" id="{F3E1627C-E83D-42FC-9B67-1AA187CA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ENGAGEMENT MODEL</a:t>
            </a:r>
          </a:p>
        </p:txBody>
      </p:sp>
      <p:sp>
        <p:nvSpPr>
          <p:cNvPr id="4" name="engagement-rule-top">
            <a:extLst xmlns:a="http://schemas.openxmlformats.org/drawingml/2006/main">
              <a:ext uri="{FF2B5EF4-FFF2-40B4-BE49-F238E27FC236}">
                <a16:creationId xmlns:a16="http://schemas.microsoft.com/office/drawing/2014/main" id="{5E7E7170-4BD5-481F-9B86-DCD540AF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engagement-rule-bottom">
            <a:extLst xmlns:a="http://schemas.openxmlformats.org/drawingml/2006/main">
              <a:ext uri="{FF2B5EF4-FFF2-40B4-BE49-F238E27FC236}">
                <a16:creationId xmlns:a16="http://schemas.microsoft.com/office/drawing/2014/main" id="{AC37E46F-09FD-46E5-8288-2862246F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engagement-footer">
            <a:extLst xmlns:a="http://schemas.openxmlformats.org/drawingml/2006/main">
              <a:ext uri="{FF2B5EF4-FFF2-40B4-BE49-F238E27FC236}">
                <a16:creationId xmlns:a16="http://schemas.microsoft.com/office/drawing/2014/main" id="{8BCA3B96-9C00-45AD-953F-19CEA026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Commercial clarity: how ShiftBy typically engages.</a:t>
            </a:r>
          </a:p>
        </p:txBody>
      </p:sp>
      <p:sp>
        <p:nvSpPr>
          <p:cNvPr id="7" name="engagement-page">
            <a:extLst xmlns:a="http://schemas.openxmlformats.org/drawingml/2006/main">
              <a:ext uri="{FF2B5EF4-FFF2-40B4-BE49-F238E27FC236}">
                <a16:creationId xmlns:a16="http://schemas.microsoft.com/office/drawing/2014/main" id="{4DA8E5DC-5E6B-47FD-8AF0-2B3E1FB2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16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0D80D-8E6B-4BA9-9766-E00A0C7E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ENGAGEMENT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F5EE0-76A5-41E6-B427-847A60E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5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How ShiftBy engages.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50F39-6419-4197-A4F2-6403C7E5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4805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work usually starts with a focused advisory conversation, then expands only where the organization needs more clarity, confidence, and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835C3-C3FB-4B78-B712-98E3009B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89730-0C34-4613-8694-EA73D960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Advisory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3917D-12E8-4F25-B547-1A82A38C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Clarify direction, decisions, and priorities before work broadens.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D4DE0-E7AB-46DF-BF5F-C4799D1E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B379B-7928-416C-8D71-29E51417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32D33-7578-49C6-850B-97BAB215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Align leadership teams around the challenge and the next move.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5AC62-6BD3-4FD1-A969-1AD5660B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2EB59-FF83-4137-9577-3EDBD40F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Capability mapping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4F4F4-BF5C-4D62-84B4-74A54D48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Map traceability, memory, accountability, and execution into a working picture.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F1081-82A1-4E19-9BA1-744677D7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43E07-B9E4-4302-AF01-90F992D1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Ongoing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FB601-7AAA-48CA-B94B-DF59041F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Stay with the work as priorities, risks, and decisions continue to change.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1D38D-AD89-4A2E-9076-EA38E661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001000"/>
            <a:ext cx="971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Start small. Move fast. Deepen only where the organization needs it.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3f47590dd44fd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388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comes-bg">
            <a:extLst xmlns:a="http://schemas.openxmlformats.org/drawingml/2006/main">
              <a:ext uri="{FF2B5EF4-FFF2-40B4-BE49-F238E27FC236}">
                <a16:creationId xmlns:a16="http://schemas.microsoft.com/office/drawing/2014/main" id="{C54103BC-6F1B-4928-B7E8-00E5DB15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outcomes-brand">
            <a:extLst xmlns:a="http://schemas.openxmlformats.org/drawingml/2006/main">
              <a:ext uri="{FF2B5EF4-FFF2-40B4-BE49-F238E27FC236}">
                <a16:creationId xmlns:a16="http://schemas.microsoft.com/office/drawing/2014/main" id="{406AFCA3-2CAE-4005-82BF-CC71F419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outcomes-meta">
            <a:extLst xmlns:a="http://schemas.openxmlformats.org/drawingml/2006/main">
              <a:ext uri="{FF2B5EF4-FFF2-40B4-BE49-F238E27FC236}">
                <a16:creationId xmlns:a16="http://schemas.microsoft.com/office/drawing/2014/main" id="{691E8795-E07F-4662-B6E9-7E799A15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TYPICAL OUTCOMES</a:t>
            </a:r>
          </a:p>
        </p:txBody>
      </p:sp>
      <p:sp>
        <p:nvSpPr>
          <p:cNvPr id="4" name="outcomes-rule-top">
            <a:extLst xmlns:a="http://schemas.openxmlformats.org/drawingml/2006/main">
              <a:ext uri="{FF2B5EF4-FFF2-40B4-BE49-F238E27FC236}">
                <a16:creationId xmlns:a16="http://schemas.microsoft.com/office/drawing/2014/main" id="{A2A419A4-9125-422F-B235-4B135FEB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outcomes-rule-bottom">
            <a:extLst xmlns:a="http://schemas.openxmlformats.org/drawingml/2006/main">
              <a:ext uri="{FF2B5EF4-FFF2-40B4-BE49-F238E27FC236}">
                <a16:creationId xmlns:a16="http://schemas.microsoft.com/office/drawing/2014/main" id="{CC359807-860F-498A-B30A-B547CDF8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outcomes-footer">
            <a:extLst xmlns:a="http://schemas.openxmlformats.org/drawingml/2006/main">
              <a:ext uri="{FF2B5EF4-FFF2-40B4-BE49-F238E27FC236}">
                <a16:creationId xmlns:a16="http://schemas.microsoft.com/office/drawing/2014/main" id="{10C24AA5-7D57-4314-BBF6-5D938A27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Commercial value: what the engagement should leave behind.</a:t>
            </a:r>
          </a:p>
        </p:txBody>
      </p:sp>
      <p:sp>
        <p:nvSpPr>
          <p:cNvPr id="7" name="outcomes-page">
            <a:extLst xmlns:a="http://schemas.openxmlformats.org/drawingml/2006/main">
              <a:ext uri="{FF2B5EF4-FFF2-40B4-BE49-F238E27FC236}">
                <a16:creationId xmlns:a16="http://schemas.microsoft.com/office/drawing/2014/main" id="{4B921704-8FA7-4199-8F77-7F0FB060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17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3D9F6-3CAE-4F03-8946-CCD624DB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185EA-A497-4D6B-B374-C62C62F3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57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What a good engagement should leave behind.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1159F-8DAB-4F54-A734-E4BD5A8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8E42F-B5C6-42EE-BE35-6F530A14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Clearer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692E2-0B75-47AC-928D-95A698C1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 sharper view of what is being decided, who owns it, and why it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aim is not more discussion. It is better decision quality.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B0821-FC84-41BB-8111-F05ADF69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43D62-0230-4A43-ADDE-9E23623E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Recoverable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CB1D0-E4A3-48F1-8E33-233BDEB2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 better ability to reconstruct the rationale, evidence, and change history behind important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That makes the organization easier to explain and defend.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AF533-112A-4174-BF18-3DE0A70C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DE9F3-65BD-4219-B7E7-4185777B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Stronger 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E3FFA-74E5-4995-AD5D-51445BA8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Clearer ownership across teams, systems, suppliers, automation, and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Confidence becomes easier to preserve when responsibility stays visible.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ACD84-C0FD-4F22-90D8-FF8AE291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1153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outcome is practical: more confidence, less drift, and a better basis for action.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6bb4b99c64d20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1362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ingapore-bg">
            <a:extLst xmlns:a="http://schemas.openxmlformats.org/drawingml/2006/main">
              <a:ext uri="{FF2B5EF4-FFF2-40B4-BE49-F238E27FC236}">
                <a16:creationId xmlns:a16="http://schemas.microsoft.com/office/drawing/2014/main" id="{95377C22-EA3E-4403-8E96-334FEF25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singapore-brand">
            <a:extLst xmlns:a="http://schemas.openxmlformats.org/drawingml/2006/main">
              <a:ext uri="{FF2B5EF4-FFF2-40B4-BE49-F238E27FC236}">
                <a16:creationId xmlns:a16="http://schemas.microsoft.com/office/drawing/2014/main" id="{AE326208-0C5D-41FB-9D97-0840AE33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singapore-meta">
            <a:extLst xmlns:a="http://schemas.openxmlformats.org/drawingml/2006/main">
              <a:ext uri="{FF2B5EF4-FFF2-40B4-BE49-F238E27FC236}">
                <a16:creationId xmlns:a16="http://schemas.microsoft.com/office/drawing/2014/main" id="{75EF84A3-345F-4E67-BCBB-D94AB11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SINGAPORE / APAC</a:t>
            </a:r>
          </a:p>
        </p:txBody>
      </p:sp>
      <p:sp>
        <p:nvSpPr>
          <p:cNvPr id="4" name="singapore-rule-top">
            <a:extLst xmlns:a="http://schemas.openxmlformats.org/drawingml/2006/main">
              <a:ext uri="{FF2B5EF4-FFF2-40B4-BE49-F238E27FC236}">
                <a16:creationId xmlns:a16="http://schemas.microsoft.com/office/drawing/2014/main" id="{93F18BB9-F656-4732-A9EC-DB571BD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singapore-rule-bottom">
            <a:extLst xmlns:a="http://schemas.openxmlformats.org/drawingml/2006/main">
              <a:ext uri="{FF2B5EF4-FFF2-40B4-BE49-F238E27FC236}">
                <a16:creationId xmlns:a16="http://schemas.microsoft.com/office/drawing/2014/main" id="{CDB90981-AF6F-4A77-BB91-E972305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singapore-footer">
            <a:extLst xmlns:a="http://schemas.openxmlformats.org/drawingml/2006/main">
              <a:ext uri="{FF2B5EF4-FFF2-40B4-BE49-F238E27FC236}">
                <a16:creationId xmlns:a16="http://schemas.microsoft.com/office/drawing/2014/main" id="{35BF0542-3458-4863-AF0D-1A4E80A9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Singapore context: local, founder-led, APAC-aware.</a:t>
            </a:r>
          </a:p>
        </p:txBody>
      </p:sp>
      <p:sp>
        <p:nvSpPr>
          <p:cNvPr id="7" name="singapore-page">
            <a:extLst xmlns:a="http://schemas.openxmlformats.org/drawingml/2006/main">
              <a:ext uri="{FF2B5EF4-FFF2-40B4-BE49-F238E27FC236}">
                <a16:creationId xmlns:a16="http://schemas.microsoft.com/office/drawing/2014/main" id="{42A78415-F932-406B-9E91-3B3012A3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18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ACF68-6E29-4E2F-996A-A4E779E2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SINGAPORE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D6364-D6AC-4532-A0D0-EFA81F7A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11239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49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Built for Singapore conversations, with APAC leadership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E4FFF-45D9-4079-AA16-1610A624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7524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is positioned for Singapore-based leaders and partner conversations where AI, governance, knowledge, and execution intersect.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C084F-B287-4BBA-A21B-A0E00EF4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7E410-BA6B-41C0-B8FB-7F496ED2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Singapore-based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CA357-1A1F-4F37-9BBA-AFB7957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Founder-led advisory work rooted in Singapore and relevant for local enterprise conversations.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17E7F-BCDF-491A-B853-246D277B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E7544-130F-451B-B27C-34658212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APAC leadership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986E9-2CC9-425F-96A7-4B0C7CED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Useful for regional operating environments where execution, governance, and knowledge move across teams.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E7F0C-9AB8-4A9F-8CEE-72D54A0C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4FCAA-714F-4364-9B17-AE5DBD70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Local contact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5A223-D673-47FF-8C7E-230F40CA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Vision Exchange, 2 Venture Drive, #19-18, Singapore 608526.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anandakrishnam@shiftby.sg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47CAC-C88E-40D6-ABD4-5D7480E6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3248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 Pte. Ltd.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6B453-23DD-4741-BA87-3F719CFD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487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For partner sharing in Singapore and the region.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93a44266d44cd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4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2026-06-15T03:31:31.8980000Z</dcterms:created>
  <dcterms:modified xsi:type="dcterms:W3CDTF">2026-06-15T03:31:31.8980000Z</dcterms:modified>
</coreProperties>
</file>