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142a1fcb0c44e85" /><Relationship Type="http://schemas.openxmlformats.org/officeDocument/2006/relationships/extended-properties" Target="/docProps/app.xml" Id="R5878c95e195a4516" /><Relationship Type="http://schemas.openxmlformats.org/officeDocument/2006/relationships/officeDocument" Target="/ppt/presentation.xml" Id="R09686505c4c5446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8039fa2e348495b"/>
  </p:sldMasterIdLst>
  <p:notesMasterIdLst>
    <p:notesMasterId xmlns:r="http://schemas.openxmlformats.org/officeDocument/2006/relationships" r:id="Rad43fb45c45c4e38"/>
  </p:notesMasterIdLst>
  <p:sldIdLst>
    <p:sldId xmlns:r="http://schemas.openxmlformats.org/officeDocument/2006/relationships" id="256" r:id="R92bbec8034974607"/>
    <p:sldId xmlns:r="http://schemas.openxmlformats.org/officeDocument/2006/relationships" id="257" r:id="R2f40c10cd60c46b5"/>
    <p:sldId xmlns:r="http://schemas.openxmlformats.org/officeDocument/2006/relationships" id="258" r:id="Raf177495b0904947"/>
    <p:sldId xmlns:r="http://schemas.openxmlformats.org/officeDocument/2006/relationships" id="259" r:id="R9f2a5ea9834842f9"/>
    <p:sldId xmlns:r="http://schemas.openxmlformats.org/officeDocument/2006/relationships" id="260" r:id="Rbee33bb32f614271"/>
    <p:sldId xmlns:r="http://schemas.openxmlformats.org/officeDocument/2006/relationships" id="261" r:id="Rd54ff5775e434a42"/>
    <p:sldId xmlns:r="http://schemas.openxmlformats.org/officeDocument/2006/relationships" id="262" r:id="R27d81863948d4fc1"/>
    <p:sldId xmlns:r="http://schemas.openxmlformats.org/officeDocument/2006/relationships" id="263" r:id="R6b7ccdcf6f7f470f"/>
    <p:sldId xmlns:r="http://schemas.openxmlformats.org/officeDocument/2006/relationships" id="264" r:id="R0aa4d0bf3da84bf4"/>
    <p:sldId xmlns:r="http://schemas.openxmlformats.org/officeDocument/2006/relationships" id="265" r:id="Rc2871a4652b04a0f"/>
    <p:sldId xmlns:r="http://schemas.openxmlformats.org/officeDocument/2006/relationships" id="266" r:id="R2b510d4db8374179"/>
    <p:sldId xmlns:r="http://schemas.openxmlformats.org/officeDocument/2006/relationships" id="267" r:id="Rab0b91bcf4b74882"/>
    <p:sldId xmlns:r="http://schemas.openxmlformats.org/officeDocument/2006/relationships" id="268" r:id="R45a1733c85bb438c"/>
    <p:sldId xmlns:r="http://schemas.openxmlformats.org/officeDocument/2006/relationships" id="269" r:id="Rb8c62d19dc924c92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01615423e9745d4" /><Relationship Type="http://schemas.openxmlformats.org/officeDocument/2006/relationships/slideMaster" Target="/ppt/slideMasters/slideMaster1.xml" Id="R68039fa2e348495b" /><Relationship Type="http://schemas.openxmlformats.org/officeDocument/2006/relationships/notesMaster" Target="/ppt/notesMasters/notesMaster1.xml" Id="Rad43fb45c45c4e38" /><Relationship Type="http://schemas.openxmlformats.org/officeDocument/2006/relationships/presProps" Target="/ppt/presProps.xml" Id="Racf7aa31735a43b3" /><Relationship Type="http://schemas.openxmlformats.org/officeDocument/2006/relationships/tableStyles" Target="/ppt/tableStyles.xml" Id="Ra76e489384454ba8" /><Relationship Type="http://schemas.openxmlformats.org/officeDocument/2006/relationships/slide" Target="/ppt/slides/slide1.xml" Id="R92bbec8034974607" /><Relationship Type="http://schemas.openxmlformats.org/officeDocument/2006/relationships/slide" Target="/ppt/slides/slide2.xml" Id="R2f40c10cd60c46b5" /><Relationship Type="http://schemas.openxmlformats.org/officeDocument/2006/relationships/slide" Target="/ppt/slides/slide3.xml" Id="Raf177495b0904947" /><Relationship Type="http://schemas.openxmlformats.org/officeDocument/2006/relationships/slide" Target="/ppt/slides/slide4.xml" Id="R9f2a5ea9834842f9" /><Relationship Type="http://schemas.openxmlformats.org/officeDocument/2006/relationships/slide" Target="/ppt/slides/slide5.xml" Id="Rbee33bb32f614271" /><Relationship Type="http://schemas.openxmlformats.org/officeDocument/2006/relationships/slide" Target="/ppt/slides/slide6.xml" Id="Rd54ff5775e434a42" /><Relationship Type="http://schemas.openxmlformats.org/officeDocument/2006/relationships/slide" Target="/ppt/slides/slide7.xml" Id="R27d81863948d4fc1" /><Relationship Type="http://schemas.openxmlformats.org/officeDocument/2006/relationships/slide" Target="/ppt/slides/slide8.xml" Id="R6b7ccdcf6f7f470f" /><Relationship Type="http://schemas.openxmlformats.org/officeDocument/2006/relationships/slide" Target="/ppt/slides/slide9.xml" Id="R0aa4d0bf3da84bf4" /><Relationship Type="http://schemas.openxmlformats.org/officeDocument/2006/relationships/slide" Target="/ppt/slides/slide10.xml" Id="Rc2871a4652b04a0f" /><Relationship Type="http://schemas.openxmlformats.org/officeDocument/2006/relationships/slide" Target="/ppt/slides/slide11.xml" Id="R2b510d4db8374179" /><Relationship Type="http://schemas.openxmlformats.org/officeDocument/2006/relationships/slide" Target="/ppt/slides/slide12.xml" Id="Rab0b91bcf4b74882" /><Relationship Type="http://schemas.openxmlformats.org/officeDocument/2006/relationships/slide" Target="/ppt/slides/slide13.xml" Id="R45a1733c85bb438c" /><Relationship Type="http://schemas.openxmlformats.org/officeDocument/2006/relationships/slide" Target="/ppt/slides/slide14.xml" Id="Rb8c62d19dc924c9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b1da640c1bd4b9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2fc9bbe10e74c7a" /><Relationship Type="http://schemas.openxmlformats.org/officeDocument/2006/relationships/notesMaster" Target="/ppt/notesMasters/notesMaster1.xml" Id="Rd9c5b229e4bc470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c8f6e4e8c01435b" /><Relationship Type="http://schemas.openxmlformats.org/officeDocument/2006/relationships/notesMaster" Target="/ppt/notesMasters/notesMaster1.xml" Id="Redf8d7e422d94f7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622a47ab9d94acc" /><Relationship Type="http://schemas.openxmlformats.org/officeDocument/2006/relationships/notesMaster" Target="/ppt/notesMasters/notesMaster1.xml" Id="R2b2b32995f694c5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16585d2d4af40ee" /><Relationship Type="http://schemas.openxmlformats.org/officeDocument/2006/relationships/notesMaster" Target="/ppt/notesMasters/notesMaster1.xml" Id="R24009be5719b4c2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bb9eaed3bb64112" /><Relationship Type="http://schemas.openxmlformats.org/officeDocument/2006/relationships/notesMaster" Target="/ppt/notesMasters/notesMaster1.xml" Id="Rbd6004bf89aa4d4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b977ded4adf4b70" /><Relationship Type="http://schemas.openxmlformats.org/officeDocument/2006/relationships/notesMaster" Target="/ppt/notesMasters/notesMaster1.xml" Id="R31d6297570044ae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c4b24b7bd754547" /><Relationship Type="http://schemas.openxmlformats.org/officeDocument/2006/relationships/notesMaster" Target="/ppt/notesMasters/notesMaster1.xml" Id="R00fd2474f0d54ef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f54ae5d015542f9" /><Relationship Type="http://schemas.openxmlformats.org/officeDocument/2006/relationships/notesMaster" Target="/ppt/notesMasters/notesMaster1.xml" Id="Re13e8a89a88d4e7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5346aae667940a6" /><Relationship Type="http://schemas.openxmlformats.org/officeDocument/2006/relationships/notesMaster" Target="/ppt/notesMasters/notesMaster1.xml" Id="R23263463f14947c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b6ac1e129894515" /><Relationship Type="http://schemas.openxmlformats.org/officeDocument/2006/relationships/notesMaster" Target="/ppt/notesMasters/notesMaster1.xml" Id="R5ea461668f18406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2cdfd21fb484c61" /><Relationship Type="http://schemas.openxmlformats.org/officeDocument/2006/relationships/notesMaster" Target="/ppt/notesMasters/notesMaster1.xml" Id="R1063885d7264460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094499de2f04f3f" /><Relationship Type="http://schemas.openxmlformats.org/officeDocument/2006/relationships/notesMaster" Target="/ppt/notesMasters/notesMaster1.xml" Id="Rb71df2554554444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ecbb292bcf64de9" /><Relationship Type="http://schemas.openxmlformats.org/officeDocument/2006/relationships/notesMaster" Target="/ppt/notesMasters/notesMaster1.xml" Id="R5bfebed513b348b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01e85e457b7492b" /><Relationship Type="http://schemas.openxmlformats.org/officeDocument/2006/relationships/notesMaster" Target="/ppt/notesMasters/notesMaster1.xml" Id="R451a361d0b30445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9da596c57642d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f46ea54ac64405e" /><Relationship Type="http://schemas.openxmlformats.org/officeDocument/2006/relationships/slideLayout" Target="/ppt/slideLayouts/slideLayout1.xml" Id="Rcdedbe9a456242e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dedbe9a456242e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5e8243e96c4a7c" /><Relationship Type="http://schemas.openxmlformats.org/officeDocument/2006/relationships/image" Target="/ppt/media/image.png" Id="R30b76da2c2fc4731" /><Relationship Type="http://schemas.openxmlformats.org/officeDocument/2006/relationships/image" Target="/ppt/media/image2.png" Id="R7b511ef788104d49" /><Relationship Type="http://schemas.openxmlformats.org/officeDocument/2006/relationships/notesSlide" Target="/ppt/notesSlides/notesSlide1.xml" Id="R2381ea509c67457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a54bd9df414401" /><Relationship Type="http://schemas.openxmlformats.org/officeDocument/2006/relationships/image" Target="/ppt/media/image3.png" Id="R5936af86730a4352" /><Relationship Type="http://schemas.openxmlformats.org/officeDocument/2006/relationships/notesSlide" Target="/ppt/notesSlides/notesSlide2.xml" Id="R1540301bf305421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0cc50a8bd34eb4" /><Relationship Type="http://schemas.openxmlformats.org/officeDocument/2006/relationships/image" Target="/ppt/media/image4.png" Id="R15922503267c47e2" /><Relationship Type="http://schemas.openxmlformats.org/officeDocument/2006/relationships/notesSlide" Target="/ppt/notesSlides/notesSlide3.xml" Id="R1e1e6474371048e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30126c902843e1" /><Relationship Type="http://schemas.openxmlformats.org/officeDocument/2006/relationships/image" Target="/ppt/media/image5.png" Id="Rc0be2ed910e74d42" /><Relationship Type="http://schemas.openxmlformats.org/officeDocument/2006/relationships/notesSlide" Target="/ppt/notesSlides/notesSlide4.xml" Id="Rf5bc7eb5b68e450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a9604df650452d" /><Relationship Type="http://schemas.openxmlformats.org/officeDocument/2006/relationships/image" Target="/ppt/media/image6.png" Id="R47a5c6e8ae9047f7" /><Relationship Type="http://schemas.openxmlformats.org/officeDocument/2006/relationships/notesSlide" Target="/ppt/notesSlides/notesSlide5.xml" Id="R23580c9e5db14b1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4ee7b7030848f7" /><Relationship Type="http://schemas.openxmlformats.org/officeDocument/2006/relationships/image" Target="/ppt/media/image7.png" Id="R9fe90da8d38f4dcb" /><Relationship Type="http://schemas.openxmlformats.org/officeDocument/2006/relationships/notesSlide" Target="/ppt/notesSlides/notesSlide6.xml" Id="R09a9379219834c9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9945e443584e64" /><Relationship Type="http://schemas.openxmlformats.org/officeDocument/2006/relationships/image" Target="/ppt/media/image8.png" Id="Rd83134b5904a4efa" /><Relationship Type="http://schemas.openxmlformats.org/officeDocument/2006/relationships/image" Target="/ppt/media/image9.png" Id="R61675f13459d4e2d" /><Relationship Type="http://schemas.openxmlformats.org/officeDocument/2006/relationships/notesSlide" Target="/ppt/notesSlides/notesSlide7.xml" Id="R961b02cff7f6485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203ed9c78944a0" /><Relationship Type="http://schemas.openxmlformats.org/officeDocument/2006/relationships/image" Target="/ppt/media/image10.png" Id="Rbc4d99dc534d45ee" /><Relationship Type="http://schemas.openxmlformats.org/officeDocument/2006/relationships/image" Target="/ppt/media/image11.png" Id="Rba4c47e1229d430b" /><Relationship Type="http://schemas.openxmlformats.org/officeDocument/2006/relationships/notesSlide" Target="/ppt/notesSlides/notesSlide8.xml" Id="R6b258afeaf5e442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bf754fd75047a1" /><Relationship Type="http://schemas.openxmlformats.org/officeDocument/2006/relationships/image" Target="/ppt/media/image12.png" Id="R6587d9626f9546e5" /><Relationship Type="http://schemas.openxmlformats.org/officeDocument/2006/relationships/image" Target="/ppt/media/image13.png" Id="R1e8e68094b4349d7" /><Relationship Type="http://schemas.openxmlformats.org/officeDocument/2006/relationships/notesSlide" Target="/ppt/notesSlides/notesSlide9.xml" Id="R879c47bc8eda497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3237d5dc1b4673" /><Relationship Type="http://schemas.openxmlformats.org/officeDocument/2006/relationships/image" Target="/ppt/media/image14.png" Id="Ra9de04c96d71419a" /><Relationship Type="http://schemas.openxmlformats.org/officeDocument/2006/relationships/image" Target="/ppt/media/image15.png" Id="R86638f8152d04515" /><Relationship Type="http://schemas.openxmlformats.org/officeDocument/2006/relationships/notesSlide" Target="/ppt/notesSlides/notesSlide10.xml" Id="R5e44f16cbf5d4e4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69930d0fe34c58" /><Relationship Type="http://schemas.openxmlformats.org/officeDocument/2006/relationships/image" Target="/ppt/media/image16.png" Id="R2ae28ac285fd4f58" /><Relationship Type="http://schemas.openxmlformats.org/officeDocument/2006/relationships/notesSlide" Target="/ppt/notesSlides/notesSlide11.xml" Id="R30c4d640e76a4de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b27190880b4d9a" /><Relationship Type="http://schemas.openxmlformats.org/officeDocument/2006/relationships/image" Target="/ppt/media/image17.png" Id="R6db862e7c67f4528" /><Relationship Type="http://schemas.openxmlformats.org/officeDocument/2006/relationships/notesSlide" Target="/ppt/notesSlides/notesSlide12.xml" Id="R517ce9b6b6df48a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0b0a3f06cc4cf0" /><Relationship Type="http://schemas.openxmlformats.org/officeDocument/2006/relationships/image" Target="/ppt/media/image18.png" Id="Rd157d99d5a634753" /><Relationship Type="http://schemas.openxmlformats.org/officeDocument/2006/relationships/notesSlide" Target="/ppt/notesSlides/notesSlide13.xml" Id="R92b7b29297ac4eb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d10d98000e4288" /><Relationship Type="http://schemas.openxmlformats.org/officeDocument/2006/relationships/image" Target="/ppt/media/image19.png" Id="R0b781cfd3a16499e" /><Relationship Type="http://schemas.openxmlformats.org/officeDocument/2006/relationships/notesSlide" Target="/ppt/notesSlides/notesSlide14.xml" Id="Re96022c53624498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0E526F2-D129-4E01-B458-3EE162FC7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5CBC4A-8B0F-4E63-9CFA-1836CDA47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b76da2c2fc4731"/>
          <a:srcRect xmlns:a="http://schemas.openxmlformats.org/drawingml/2006/main" l="24000" t="24000" r="24000" b="24000"/>
          <a:stretch xmlns:a="http://schemas.openxmlformats.org/drawingml/2006/main"/>
        </p:blipFill>
        <p:spPr>
          <a:xfrm xmlns:a="http://schemas.openxmlformats.org/drawingml/2006/main">
            <a:off x="666750" y="228600"/>
            <a:ext cx="1028700" cy="10287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EEC56A-2D4C-4B10-817A-F1F4BC312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BRIEFING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644686-63A6-4DB0-A4FA-F614DA092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5DEF86-1354-4221-821E-33380B7A1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28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239046-3137-4E35-8F55-7F6A96DE1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66875"/>
            <a:ext cx="9334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 changes.</a:t>
            </a:r>
          </a:p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Understanding preserves confidence.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61C8A9-87E2-4685-B8BF-0BF42E868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14875"/>
            <a:ext cx="685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AI advisory, coaching, and thought leadership for organizations navigating AI, governance, knowledge, and transformation.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511ef788104d49"/>
          <a:stretch xmlns:a="http://schemas.openxmlformats.org/drawingml/2006/main"/>
        </p:blipFill>
        <p:spPr>
          <a:xfrm xmlns:a="http://schemas.openxmlformats.org/drawingml/2006/main">
            <a:off x="13525500" y="2286000"/>
            <a:ext cx="5334000" cy="53340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95D64E-B2C0-44EC-AF1E-FE5F583CF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DCC53F-07CD-4AA4-A4E4-9F6AC1FA5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12" name="pager-pill">
            <a:extLst xmlns:a="http://schemas.openxmlformats.org/drawingml/2006/main">
              <a:ext uri="{FF2B5EF4-FFF2-40B4-BE49-F238E27FC236}">
                <a16:creationId xmlns:a16="http://schemas.microsoft.com/office/drawing/2014/main" id="{A35CBACC-F735-4019-AEFA-FA17E6FBC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637062-481A-48EB-85A2-56BCCB8D9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18C4CA-3604-414C-8E00-1E80D64E1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76797A-D586-4962-8B61-7AE80AD2C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D54F7E-C864-42AC-A7F5-CA3BB7A70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01 / 14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176FED-836C-4716-A86C-502F5C4ED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3323235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286046-6062-4EBF-8ED9-988275358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DE634D-89A0-43B3-9235-FE5E1E0DD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36af86730a4352"/>
          <a:srcRect xmlns:a="http://schemas.openxmlformats.org/drawingml/2006/main" l="24000" t="24000" r="24000" b="24000"/>
          <a:stretch xmlns:a="http://schemas.openxmlformats.org/drawingml/2006/main"/>
        </p:blipFill>
        <p:spPr>
          <a:xfrm xmlns:a="http://schemas.openxmlformats.org/drawingml/2006/main">
            <a:off x="666750" y="228600"/>
            <a:ext cx="1028700" cy="10287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181D0B-DBB2-4DEF-965A-5D6E7B4C7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WHY SHIFTBY EXISTS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22D41B-A32B-44C7-A24F-20699B7AD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C0C3E8-0D04-44B6-B07D-99839AC1B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CORE OBSERVATION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6F8CDC-5793-4225-A70A-31153BC9A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33800"/>
            <a:ext cx="53340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preserve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records.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They lose operating context.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CDE433-4E0C-4DDD-9E16-ABE25401C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3533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ShiftBy exists to help leaders preserve understanding as execution changes.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276AEA-4D80-4D73-986D-32C45E36C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1470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75E41C-385A-4449-B05A-C5AA15D9F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433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decision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survives.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CFE6AC-F0CB-4F27-8CBF-735ECCEE7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54330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The rationale</a:t>
            </a:r>
          </a:p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often does not.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30666C-7CCA-495D-A20E-66A50BEF9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958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740DD9-4C60-42D2-8E71-569FE6F00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24425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process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survives.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0BAE77-25B0-4421-A046-CB60212FF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924425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The context</a:t>
            </a:r>
          </a:p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often does not.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52A456-5BD3-4BF2-92C9-F6E992571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0769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12C8C1-50A6-4FDB-ACA3-A471F4B2D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3055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system survives.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EE8400-88CA-4E9D-BE6B-FB4D9BCC9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30555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The knowledge</a:t>
            </a:r>
          </a:p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often does not.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4E2ED3-74FB-4936-820F-5A28C3835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745807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5AC5CE-41E2-492B-9120-CA01BA6F2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45BA58-B022-424F-AD40-7D1F54521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21" name="pager-pill">
            <a:extLst xmlns:a="http://schemas.openxmlformats.org/drawingml/2006/main">
              <a:ext uri="{FF2B5EF4-FFF2-40B4-BE49-F238E27FC236}">
                <a16:creationId xmlns:a16="http://schemas.microsoft.com/office/drawing/2014/main" id="{471BEC17-89D3-44D3-AA38-2BE616A8B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0AA9FA-6147-4236-B953-2AC662E17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D2DAE4-E2E3-411D-9505-A61986863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EDCC3F-6715-41A2-A831-8C747C08D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9A736D-61F3-426D-8F5C-8BE5D4E22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02 / 14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1082D1-5C82-4D63-9DE5-50EFFBF56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5361705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C3D0E6-9815-499D-8A7A-0D87D581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45726C-7CDF-4088-9811-83ACDA552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922503267c47e2"/>
          <a:srcRect xmlns:a="http://schemas.openxmlformats.org/drawingml/2006/main" l="24000" t="24000" r="24000" b="24000"/>
          <a:stretch xmlns:a="http://schemas.openxmlformats.org/drawingml/2006/main"/>
        </p:blipFill>
        <p:spPr>
          <a:xfrm xmlns:a="http://schemas.openxmlformats.org/drawingml/2006/main">
            <a:off x="666750" y="228600"/>
            <a:ext cx="1028700" cy="10287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107A79-7F78-459F-B5DB-4E83EF929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VALUE FRAME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919A8D-273C-410B-97DB-126975680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5F42C7-3552-4288-9C35-3382AA8C6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287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WHY ORGANIZATIONS ENGAGE SHIFTBY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6907FE-DA20-4853-8A2C-00D7E641D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Value, risk, and trust are</a:t>
            </a:r>
          </a:p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increasingly connected.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15A4F5-A809-496C-88FD-3109B4C6C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0"/>
            <a:ext cx="5334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FC35E1-124C-4569-AA3F-2C52A2828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76650"/>
            <a:ext cx="480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CREATE VALUE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E6ED2B-FC47-4FB5-A0DE-E6D7C2DA6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338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Clarify where AI can create meaningful value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A561B5-940A-4950-84DC-B043A6AFE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85775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Prioritize AI opportunities and investments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58E272-8836-4A6B-94ED-FE4337482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38162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decision quality and visibility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C26FD0-BEAD-42EA-8920-BDDABC63E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9055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Accelerate responsible AI adoption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D9D3FE-CD7E-4711-A1B2-F0D171C28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4293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organizational effectiveness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6E0FA3-663D-4ED5-B5C3-BDFCEC716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29000"/>
            <a:ext cx="5334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EEFE03-69F0-4C39-B01C-1157D8AEE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76650"/>
            <a:ext cx="480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REDUCE RISK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1B57EE-E05A-49C3-8EE6-71C1FE54D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3338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Strengthen governance and oversight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C64853-F9B6-4C67-9ABD-4EA353B24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85775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audit readiness and assurance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4B1028-CA52-431B-B89E-5930CD50F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38162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Address AI security and privacy concerns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D47074-805D-413B-80F8-21B12A8D1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9055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accountability and traceability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4F2B6F-602B-4BF9-ABA0-DEE32B65E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64293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visibility of AI-related risks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E403D3-4975-4482-A9F4-1CA658208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429000"/>
            <a:ext cx="5334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C19C2C-4055-461B-9783-4DB5C5F79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3676650"/>
            <a:ext cx="480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PRESERVE TRUST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B97922-CDD7-4F49-A0F6-5D7A16496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3338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Preserve organizational knowledge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0D6BC2-37F1-4AF1-B796-8567BDCCD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85775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Maintain explainability of important decisions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119400-4EA5-4198-8F43-72E273199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38162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Retain rationale as systems evolve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FC27B6-5F75-4E93-A3C1-8393E5DC0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9055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Maintain accountability as execution changes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3EB274-E4B6-41AB-B460-5DC4066FC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64293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Increase confidence in AI-enabled operations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0CB4C7-E396-4610-90EF-30549D6AE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0010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3541B5C-B6C3-4DFE-B85A-605D44D95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3343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Understanding helps organizations navigate all</a:t>
            </a:r>
          </a:p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three.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68E7914-F5F3-4CA6-8BC0-66A8AE216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9BC38CC-8A33-4DB6-A138-BAA95F132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33" name="pager-pill">
            <a:extLst xmlns:a="http://schemas.openxmlformats.org/drawingml/2006/main">
              <a:ext uri="{FF2B5EF4-FFF2-40B4-BE49-F238E27FC236}">
                <a16:creationId xmlns:a16="http://schemas.microsoft.com/office/drawing/2014/main" id="{0880AFB8-6217-4AF3-BFA0-373720602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619ECF9-2CCF-4B3B-8F3D-4250E7B2C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D541114-4515-4A64-9134-E16954CDE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FC4B335-0521-42B8-92DF-DE2D25562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A765F94-A37A-493A-8BBE-01647D57C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03 / 14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3AFE0E5-31AD-4369-98F2-EE64BC933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3012116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B556B4-DEB2-4328-BBAF-4D280C813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432519-7F2E-4205-8AF8-262181E66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be2ed910e74d42"/>
          <a:srcRect xmlns:a="http://schemas.openxmlformats.org/drawingml/2006/main" l="24000" t="24000" r="24000" b="24000"/>
          <a:stretch xmlns:a="http://schemas.openxmlformats.org/drawingml/2006/main"/>
        </p:blipFill>
        <p:spPr>
          <a:xfrm xmlns:a="http://schemas.openxmlformats.org/drawingml/2006/main">
            <a:off x="666750" y="228600"/>
            <a:ext cx="1028700" cy="10287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F47308-3898-47DB-A194-0BAD1BA0B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INDUSTRY SIGNALS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4FDC26-B834-4CB0-BBC0-EFCD1F81E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BFF428-511F-4AD7-BDBE-6C597345F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09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INDUSTRIES WHERE SIMILAR CONVERSATIONS FREQUENTLY ARISE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8C1CAA-6C0B-4C38-AC50-FD56D7092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1047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Different industries.</a:t>
            </a:r>
          </a:p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Similar enterprise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A9D6C8-8549-4627-949A-BA5EEB949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FC82FB-3F2A-4F68-B60A-D197CC95E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Pharmaceuticals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5F8B9E-1204-4294-B663-94D18D6A4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48069A-914E-415C-87F8-ED5334607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Consumer Health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D9CAB9-2E6B-4A56-B8F1-97797F086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E310A6-3056-4A15-A2AA-258955517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Medical Technology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0B8AAD-237C-4047-A84F-A35AC4AAF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4D3F1A-45EE-454A-AC8B-04918B6CE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Manufacturing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097615-A131-40B2-B969-147D98C98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5775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CC764E-7566-4296-9981-905A04AF9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6673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Supply Chain &amp; Logistics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18E26A-F3E3-4970-80BD-ADF19140B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85775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9F533C-9BAE-4D8C-9EF1-A2B2710FB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56673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Technology &amp; Digital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FFB9F2-F16F-4995-A4E1-D87271C43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85775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305959-589B-4BF2-9988-880DA2171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6673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Professional Services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62EF7D-A556-4EA0-9B0A-4B23DFC4C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8199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1A8882-1B35-423D-ABA0-1DED60796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086600"/>
            <a:ext cx="12001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Across sectors, the same questions recur around</a:t>
            </a:r>
          </a:p>
          <a:p xmlns:a="http://schemas.openxmlformats.org/drawingml/2006/main">
            <a:pPr algn="l">
              <a:defRPr sz="36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change, knowledge, accountability, and</a:t>
            </a:r>
          </a:p>
          <a:p xmlns:a="http://schemas.openxmlformats.org/drawingml/2006/main">
            <a:pPr algn="l">
              <a:defRPr sz="36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confidence.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25ED32-B7B3-4440-990C-ADFDA91DC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31E58D-3AA7-4C81-B90B-70CEB6AE0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26" name="pager-pill">
            <a:extLst xmlns:a="http://schemas.openxmlformats.org/drawingml/2006/main">
              <a:ext uri="{FF2B5EF4-FFF2-40B4-BE49-F238E27FC236}">
                <a16:creationId xmlns:a16="http://schemas.microsoft.com/office/drawing/2014/main" id="{3C9E5933-6784-4A79-8C86-6251AEB7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5DAACC-394F-4872-A852-DE300C6AA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3CFAB1-40CA-478F-9395-33CD610A2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9D4BC2A-A1CC-47BE-BEB6-B3D387C55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4EAE3D-458B-4E1E-A5F3-1B5845A80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04 / 14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50D8D8-0D0B-4E2B-A1A9-225020BD4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8012373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317BC5-CA1F-4186-8A06-D59FF0501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409817-4C68-43B0-B4B1-3274BC932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a5c6e8ae9047f7"/>
          <a:srcRect xmlns:a="http://schemas.openxmlformats.org/drawingml/2006/main" l="24000" t="24000" r="24000" b="24000"/>
          <a:stretch xmlns:a="http://schemas.openxmlformats.org/drawingml/2006/main"/>
        </p:blipFill>
        <p:spPr>
          <a:xfrm xmlns:a="http://schemas.openxmlformats.org/drawingml/2006/main">
            <a:off x="666750" y="228600"/>
            <a:ext cx="1028700" cy="10287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29B22F-270F-4238-91B5-049CFA9E5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FUNCTIONAL SIGNALS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5869C5-1330-4485-A006-E21905CF9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08C79E-0343-4344-A70B-23F5E113E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097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BUSINESS FUNCTIONS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5DC8AF-4987-41FA-8078-B95664410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10668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 conversations often</a:t>
            </a:r>
          </a:p>
          <a:p xmlns:a="http://schemas.openxmlformats.org/drawingml/2006/main">
            <a:pPr algn="l">
              <a:defRPr sz="5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begin where responsibility,</a:t>
            </a:r>
          </a:p>
          <a:p xmlns:a="http://schemas.openxmlformats.org/drawingml/2006/main">
            <a:pPr algn="l">
              <a:defRPr sz="5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change, and control meet.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5B6BF6-08F5-4287-BE4B-EE63E0B28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26B28D-4D67-482F-A9BA-25175481C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Executive Leadership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613C6C-56BD-4011-B25D-D1592CA0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85DFC9-B58A-4FFE-86D8-FE0E5417C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Research &amp; Development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5BB9F8-9E05-4EDF-9761-1AF37AB8E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A3D0E6-3FE8-4DD6-8CCD-22FF3224C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Manufacturing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217521-F7AE-435F-8D50-AA9860A18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871E99-84F4-4D31-9D3D-5391C8DC2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Supply Chain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06D215-4AD3-4970-9737-B7DF830A6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05E126-F4CF-42D6-B833-46DAAEFDE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Quality &amp; Compliance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69FD3A-D1F8-497B-A250-1A92770EB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E5043D-05DB-4A57-8487-D9C4D4AA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Procurement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63E5D5-5A3D-425E-BB16-937B1636D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765101-105C-461E-A0DA-873821DB8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Technology &amp; Digital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0EAD4E-FC29-4AA2-AC25-32C1347B3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25D5A2-AF9F-48C7-B70E-574DAA677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Data &amp; AI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0DE1AC-A87A-48E0-B865-7969B48F8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345047-9D82-49AF-AA3F-D7BBBD0AA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Enterprise Architecture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65FCA2-5E14-4D04-88EF-F71A22398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0E9473-E67C-42FD-B862-5E9472401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Risk &amp; Governance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1FB3BD-C165-41B4-BACD-19FC6F18A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568FB3-349E-42DB-B483-8C87FDAA3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Internal Audit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EFBE09-387F-42BF-B897-363D0E3C3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25E9021-079F-41E7-82C7-9EFA603C8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Transformation Offices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22E802-B805-4D1B-8202-494F872B8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572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97B4A98-0E4D-4A59-9E2B-7340901D8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7439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Many functions inherit AI-enabled change</a:t>
            </a:r>
          </a:p>
          <a:p xmlns:a="http://schemas.openxmlformats.org/drawingml/2006/main">
            <a:pPr algn="l">
              <a:defRPr sz="19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before they own it.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4F92F0D-59B4-4CB8-B978-D9CC1E498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B2B4FA7-668D-4471-9FB6-B602FA8A4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36" name="pager-pill">
            <a:extLst xmlns:a="http://schemas.openxmlformats.org/drawingml/2006/main">
              <a:ext uri="{FF2B5EF4-FFF2-40B4-BE49-F238E27FC236}">
                <a16:creationId xmlns:a16="http://schemas.microsoft.com/office/drawing/2014/main" id="{8EBA6FDD-CC3A-4423-9B23-DA01303FA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1952AB5-D074-4E14-9FF4-BE7EFD3D2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4B2B3F1-CB0D-4E98-BC3E-4A901D4E9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B04890D-9544-42C3-8494-775DFFA4C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16A10E9-03A2-414F-A576-6BCC5C079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05 / 14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E0A756E-CA06-47BB-BC87-3841AC5A4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20713884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A8FE21-6070-4C84-8E55-199B93430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9CC015-DF68-4DF7-8C60-AEADB58BF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e90da8d38f4dcb"/>
          <a:srcRect xmlns:a="http://schemas.openxmlformats.org/drawingml/2006/main" l="24000" t="24000" r="24000" b="24000"/>
          <a:stretch xmlns:a="http://schemas.openxmlformats.org/drawingml/2006/main"/>
        </p:blipFill>
        <p:spPr>
          <a:xfrm xmlns:a="http://schemas.openxmlformats.org/drawingml/2006/main">
            <a:off x="666750" y="228600"/>
            <a:ext cx="1028700" cy="10287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C395DC-C4B8-4504-AE32-A98B1627A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REFERRAL SIGNALS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4D9FE5-5AAD-4F17-A8C3-B08ECA482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256037-FDCF-4DCB-90E9-27DD134AD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097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TYPICAL SITUATIONS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9CFA28-8B8D-49A3-AE33-EB408489C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8858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 may be relevant.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06AF08-0A78-4D86-BCE4-E0AAF3696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957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A74CBD-F35A-436E-8297-D8C6FAAC3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624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6EE091-E5A4-455F-A3DB-E32F29C8A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886450"/>
            <a:ext cx="26574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are exploring AI and need a starting point.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88FA8B-6A02-41F9-9094-5E2D72D0B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0957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80C19C-E394-4E39-8DEA-681797E0C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3624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F05D2A-6C65-498C-845E-000B1CCA7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886450"/>
            <a:ext cx="26574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have AI ideas and need priorities.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EF569D-CFFE-47E3-8249-9731D6E1C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957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C7E565-1BC9-40E2-8A50-F3CEB4448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3624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665953-FBDE-406B-ADA7-D8B55AFE6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886450"/>
            <a:ext cx="26574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need governance and audit readiness.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BDC75C-1ADC-4D54-924D-626C5A719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40957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5BE2D6-73B7-4364-9C64-FF6AF1539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43624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A17920-49C6-4DC6-97CC-9D02FA696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5886450"/>
            <a:ext cx="26574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are introducing AI agents into workflows.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3F6DA5-B877-4587-ADCB-C0F2F0CA9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40957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0079EA-0CE8-4A4E-BF7A-8A8CF0721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43624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113416-6EEC-4667-89E0-B2BDCBC8B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5886450"/>
            <a:ext cx="26574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want to preserve critical knowledge.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21EAE2-218B-4AC3-89C7-91F2971BE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B27A6E-9A5C-4B17-AD75-E03E64BA5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25" name="pager-pill">
            <a:extLst xmlns:a="http://schemas.openxmlformats.org/drawingml/2006/main">
              <a:ext uri="{FF2B5EF4-FFF2-40B4-BE49-F238E27FC236}">
                <a16:creationId xmlns:a16="http://schemas.microsoft.com/office/drawing/2014/main" id="{B74C0EA6-19D9-4528-98CC-615F07420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352AA2-4827-4DC3-9534-F0FB731B1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93CF38-8573-4A04-A25E-74F47B1C6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7F8430-0E00-449C-96A4-D204F5A0E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6BC48D-ED3D-4A5E-A0B5-FA1CD3DC7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06 / 14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7ABF925-D538-4571-9CCF-93F346FC2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20982066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5B4652-3E41-4CB3-AE1B-406AD9512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192254-4323-4FC6-A7EC-3DBE38D40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3134b5904a4efa"/>
          <a:srcRect xmlns:a="http://schemas.openxmlformats.org/drawingml/2006/main" l="24000" t="24000" r="24000" b="24000"/>
          <a:stretch xmlns:a="http://schemas.openxmlformats.org/drawingml/2006/main"/>
        </p:blipFill>
        <p:spPr>
          <a:xfrm xmlns:a="http://schemas.openxmlformats.org/drawingml/2006/main">
            <a:off x="666750" y="228600"/>
            <a:ext cx="1028700" cy="10287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1083B2-A630-4E94-8FAF-0DF6E6CE7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READINESS SIGNALS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D09745-AFB9-4CD4-8F7A-A4DCC438C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AD63B3-D225-415B-9533-41FDF3E07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FC49DA-FFFA-4CB9-9756-CDD56734C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PREPARING FOR AI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7B3EE8-B83A-4E92-97C7-4FE116440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51435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Readiness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&amp; Enablement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D08258-91AE-4E95-92CF-8B8D731E2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19700"/>
            <a:ext cx="5143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REDUCE UNCERTAINTY BEFORE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MAJOR AI MOVES.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675f13459d4e2d"/>
          <a:stretch xmlns:a="http://schemas.openxmlformats.org/drawingml/2006/main"/>
        </p:blipFill>
        <p:spPr>
          <a:xfrm xmlns:a="http://schemas.openxmlformats.org/drawingml/2006/main">
            <a:off x="13335000" y="1619250"/>
            <a:ext cx="5905500" cy="59055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6785ED-8911-48DE-A15D-9E01E07FF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7652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9671ED-56D4-46EF-9F1A-53B7F695C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48615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Executive workshops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2F32F4-4A1F-459E-A1A8-167B3CA67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67652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124DBF-D8BB-43D8-93E5-0E61511D2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348615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literacy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626D6F-2ECF-4F25-B867-6CC81F068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898900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BB4690-4454-4B95-AC0B-7F2E06D7A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708525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Data readiness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C7D655-C605-47CE-94E3-73BB3BD3C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898900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213F10-7B61-4D80-B238-2740174BF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4708525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Knowledge readiness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65523C-724B-4EDE-813D-FDECA4ECE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12127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B1119E-BE4F-429A-9E89-907C86D58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93090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Governance readiness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C1023B-9536-4BD0-8A5B-F243436EA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512127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A45BF4-1E54-4CB8-9046-37E923395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593090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Workforce readiness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E805AE-B842-40DB-88EA-F397249B5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457950"/>
            <a:ext cx="771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1104F9-66E4-4DD3-BAA1-40B76E01C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781800"/>
            <a:ext cx="8001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often know AI matters.</a:t>
            </a:r>
          </a:p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question is whether data, knowledge,</a:t>
            </a:r>
          </a:p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and operating model can support change.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6B5536-4D11-4BB9-AE2D-6544F4509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7B5DE3-9CBF-4B85-A5BF-B8F6FEBC5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27" name="pager-pill">
            <a:extLst xmlns:a="http://schemas.openxmlformats.org/drawingml/2006/main">
              <a:ext uri="{FF2B5EF4-FFF2-40B4-BE49-F238E27FC236}">
                <a16:creationId xmlns:a16="http://schemas.microsoft.com/office/drawing/2014/main" id="{E059B473-72FA-4E49-B763-FD446645D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12F9C3-1B0A-4AB7-A8BD-2BA43C70E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BBF2BC3-1F71-48B2-8A09-AFD2EF64D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A0D9E3-2C74-4F6F-B014-53398E7F4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F9F42D-6561-4BE2-AFFD-CC7ECF4CE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07 / 14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3968107-8047-4FD0-8A03-A0EB44C0A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96988336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562114-B005-4E0F-8F12-700ABFD88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0B6E64-C64A-49DA-98F6-0C66DD9CB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4d99dc534d45ee"/>
          <a:srcRect xmlns:a="http://schemas.openxmlformats.org/drawingml/2006/main" l="24000" t="24000" r="24000" b="24000"/>
          <a:stretch xmlns:a="http://schemas.openxmlformats.org/drawingml/2006/main"/>
        </p:blipFill>
        <p:spPr>
          <a:xfrm xmlns:a="http://schemas.openxmlformats.org/drawingml/2006/main">
            <a:off x="666750" y="228600"/>
            <a:ext cx="1028700" cy="10287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9B52C6-443E-4A3C-A7B3-BE6596745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VALUE PRIORITIES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FEA8F0-60EB-4302-A0DF-B85426805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6C1B7E-AF26-451C-8198-C87D18921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83C8D8-134D-425F-A676-28349D512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CHOOSING WHERE TO ACT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CE66B9-5BE4-4ABA-81E9-84E37D743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666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Adoption &amp;</a:t>
            </a:r>
          </a:p>
          <a:p xmlns:a="http://schemas.openxmlformats.org/drawingml/2006/main">
            <a:pPr algn="l">
              <a:defRPr sz="45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Transformation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866EDE-AA5C-40BD-B91C-DCD46153F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62500"/>
            <a:ext cx="590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TURN AI INTEREST INTO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FOCUSED BUSINESS VALUE.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4c47e1229d430b"/>
          <a:stretch xmlns:a="http://schemas.openxmlformats.org/drawingml/2006/main"/>
        </p:blipFill>
        <p:spPr>
          <a:xfrm xmlns:a="http://schemas.openxmlformats.org/drawingml/2006/main">
            <a:off x="13430250" y="1524000"/>
            <a:ext cx="5905500" cy="59055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6B22EB-BF92-4237-8C2C-EAE9877A7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667000"/>
            <a:ext cx="7810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210C54-9AD4-4EA1-9C85-DDBCF6A50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952875"/>
            <a:ext cx="7810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6D6725-FA8A-4F03-B917-F56A49401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5238750"/>
            <a:ext cx="7810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5B1ABB-A016-4DD4-A1AE-8E4493C92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143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Opportunity assessment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7CC356-153E-46A2-8A55-EED9383AD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3143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Use-case prioritization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BF885F-E9F6-44ED-91D5-110978161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4196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Business process analysis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6DFBA2-6264-4199-9423-5832F52F6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44196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roadmaps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2B0E8A-55E6-4478-A1DE-542624481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5581650"/>
            <a:ext cx="704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Operating model</a:t>
            </a:r>
          </a:p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considerations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F15C05-4FE5-443E-B761-7EA2A864B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670560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13D8A8-67AD-4C2E-872E-D39917AEB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6991350"/>
            <a:ext cx="742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often have more AI ideas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than they can realistically pursue.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challenge is determining where value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may emerge, what should be prioritized,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and where ownership should remain visible.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65B6BE-F35D-4333-BC19-20C2DFB84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80061C-7A0C-43A6-840F-068D65BCD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23" name="pager-pill">
            <a:extLst xmlns:a="http://schemas.openxmlformats.org/drawingml/2006/main">
              <a:ext uri="{FF2B5EF4-FFF2-40B4-BE49-F238E27FC236}">
                <a16:creationId xmlns:a16="http://schemas.microsoft.com/office/drawing/2014/main" id="{18CECE1C-6AB1-4B3F-8268-21C1CFC3B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96E7C3-1F0F-488F-9AEF-443D85007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635802-9AAE-4F6E-A444-437D9BE6A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F8A485-0431-47A7-914C-C71E09D01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5194C7-48EC-4CCE-A7D0-EE4F7825F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08 / 14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0B71B6-47D0-4D18-91BB-7EDC0E87F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31861236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063E73-DF22-4B35-891C-BAD581B11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99F902-2737-4651-A848-2FFF14522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87d9626f9546e5"/>
          <a:srcRect xmlns:a="http://schemas.openxmlformats.org/drawingml/2006/main" l="24000" t="24000" r="24000" b="24000"/>
          <a:stretch xmlns:a="http://schemas.openxmlformats.org/drawingml/2006/main"/>
        </p:blipFill>
        <p:spPr>
          <a:xfrm xmlns:a="http://schemas.openxmlformats.org/drawingml/2006/main">
            <a:off x="666750" y="228600"/>
            <a:ext cx="1028700" cy="10287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35D1EE-6BEF-4A05-8BA5-8082F7634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TRUST &amp; OVERSIGHT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A2FA62-C1A7-4202-B0E6-E29FFDFE2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F578D7-0EEC-4D1D-BF79-A082896A3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21C84E-AEFC-48EE-82DC-2F8738637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PRESERVING TRUST AS EXECUTION CHANGES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C62978-8AA4-4B01-BA8F-CEB621C4C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5334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Governance,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Safety &amp; Resilience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0D653C-EA16-4A43-98A7-7C8B778AB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19700"/>
            <a:ext cx="504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PRESERVE TRUST WHILE KEEPING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OPERATIONAL AND GOVERNANCE RISK IN VIEW.</a:t>
            </a:r>
          </a:p>
        </p:txBody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8e68094b4349d7"/>
          <a:stretch xmlns:a="http://schemas.openxmlformats.org/drawingml/2006/main"/>
        </p:blipFill>
        <p:spPr>
          <a:xfrm xmlns:a="http://schemas.openxmlformats.org/drawingml/2006/main">
            <a:off x="13430250" y="1524000"/>
            <a:ext cx="5905500" cy="59055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94FD9B-13D5-4B4E-AD71-E3CE3C931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4287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BCF4C4-3BE4-4EB4-9F9A-90039EEB4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18573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Responsible AI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D669B1-08AA-4070-9355-DF3AD0A8B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14287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538874-A5D9-4658-B5D8-B9CAA9BE3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18573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governance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88EFA7-2C6B-4009-A599-1285744C2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B26379-125C-4E8D-B442-965D01CFD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0956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risk management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7C47A9-5DA6-464D-BDD8-D21F03CED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D3C646-C951-4105-B39A-D1D0CCE17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30956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security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4E359F-4F6E-4421-A57B-12994931D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CCFDFE-3402-4160-A413-4A9783EEA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3338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safety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3764F4-3CA9-4C70-82B7-2CB1AF34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568B38-EAE5-484E-9EA0-0F76614F7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43338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Data privacy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6619E7-01FB-4589-AA1E-DF7AA3866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1435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0D98C3-674E-4078-9648-C651365C5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5721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assurance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CED9E3-18F3-45E3-B4CC-E81CDBFF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51435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36B88F-61C9-45AB-8B88-F7AD1FB33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55721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Audit readiness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12AB0E-3607-45AC-82E6-2BA6E3C1E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381750"/>
            <a:ext cx="7810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DF062A-F196-4F5E-8ABF-A078E9911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7246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Third-party AI risk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BB3E684-9259-4106-92F0-DDBB8C593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7839075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1D666D-1758-4972-A5EC-DE48E5012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7962900"/>
            <a:ext cx="7810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As AI adoption grows, organizations need decisions that can be</a:t>
            </a:r>
          </a:p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explained, reviewed, governed, and defended.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5C390D-3902-4FF6-96F3-E8BC3AE8E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C10EB0B-9C35-4715-B542-F896F5240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33" name="pager-pill">
            <a:extLst xmlns:a="http://schemas.openxmlformats.org/drawingml/2006/main">
              <a:ext uri="{FF2B5EF4-FFF2-40B4-BE49-F238E27FC236}">
                <a16:creationId xmlns:a16="http://schemas.microsoft.com/office/drawing/2014/main" id="{A465B120-02FD-4C32-93E0-26620907F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31C8146-396F-48F5-97BB-054738667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A9D71DD-9C8D-4DB8-957D-55E8C5FB3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4EEFF87-FBAB-49CF-90C5-27DA20A71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00B18DE-1FFA-4C5E-A4DF-CB620F9AB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09 / 14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1589581-A0F1-40B0-B537-996E3670A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24864893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5453BA-FDC1-4121-8977-643B5A5F3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ED84D2-0A2E-4C2B-B5D3-3A74054D4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de04c96d71419a"/>
          <a:srcRect xmlns:a="http://schemas.openxmlformats.org/drawingml/2006/main" l="24000" t="24000" r="24000" b="24000"/>
          <a:stretch xmlns:a="http://schemas.openxmlformats.org/drawingml/2006/main"/>
        </p:blipFill>
        <p:spPr>
          <a:xfrm xmlns:a="http://schemas.openxmlformats.org/drawingml/2006/main">
            <a:off x="666750" y="228600"/>
            <a:ext cx="1028700" cy="10287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5F7485-B0DB-4C5E-B3AE-623A7E44C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FUTURE OPERATIONS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F81060-8277-4138-978C-99B2142F1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5B5AB4-4055-4ECC-867E-6268CCD73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ADE52E-FCC5-4623-BE4E-04BFB10F3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IMPROVING WORK WITHOUT LOSING 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B07F59-0ABA-4BF0-97C0-2AC3F3545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5143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Agents &amp;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Intelligent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Operations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E8447-8570-4BCB-B76C-99AD2B27C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67375"/>
            <a:ext cx="495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IMPROVE WORK WHILE KEEPING</a:t>
            </a:r>
          </a:p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ACCOUNTABILITY AND CONTEXT IN PLACE.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638f8152d04515"/>
          <a:stretch xmlns:a="http://schemas.openxmlformats.org/drawingml/2006/main"/>
        </p:blipFill>
        <p:spPr>
          <a:xfrm xmlns:a="http://schemas.openxmlformats.org/drawingml/2006/main">
            <a:off x="13430250" y="1524000"/>
            <a:ext cx="5905500" cy="59055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66D636-6D4D-4DAE-B646-D6EF4B4BC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383D00-6645-43E8-A925-E5C25D526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09562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agents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8C5CEB-8177-4EDF-BBA2-AB51DCA1B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83B7C1-BF01-4263-BAF4-079B31CA5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309562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Human-AI collaboration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F5E692-E9CA-4BDD-B851-5DE226030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545C09-67CD-4A4C-9D7A-1E9C6F16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33387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Knowledge-</a:t>
            </a:r>
          </a:p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connected workflows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1D2258-08E8-4488-83BD-22093205A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813186-00FA-4687-A927-FF8D9896E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433387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Traceability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964005-C5C5-4E51-8EE6-C89EA6729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143500"/>
            <a:ext cx="7810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7880F5-0DAF-46D0-97C3-65803B49E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572125"/>
            <a:ext cx="7315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Governed output generation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853643-BAAE-4B19-AEEC-1F5BE71CE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61035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6B80A6-503D-4A7E-AA66-ABE6CD3A0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915150"/>
            <a:ext cx="7524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As AI becomes part of operational</a:t>
            </a:r>
          </a:p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execution, understanding, traceability,</a:t>
            </a:r>
          </a:p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and ownership must remain in place.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C06BC9-8B2C-4DD6-A9C8-FE1AED7D3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100C81-4438-4D56-A655-5B8826A69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25" name="pager-pill">
            <a:extLst xmlns:a="http://schemas.openxmlformats.org/drawingml/2006/main">
              <a:ext uri="{FF2B5EF4-FFF2-40B4-BE49-F238E27FC236}">
                <a16:creationId xmlns:a16="http://schemas.microsoft.com/office/drawing/2014/main" id="{331F6950-4A52-4A87-8F9C-5604EC8C2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3381A9-BBFC-482A-BC30-3371C7993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467845-2683-4682-BCBF-77C672E9D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65E204-A440-4729-A795-42A0A735B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02B71A-AAE6-4817-AA21-6127464F9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10 / 14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600725-0E02-4A1F-B877-FB4262DDC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46555587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99C3F0-64EB-4FED-A4F4-BE109DDE8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24A258-ECBD-4328-83BF-93F091CE6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66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F8"/>
          </a:solidFill>
          <a:ln xmlns:a="http://schemas.openxmlformats.org/drawingml/2006/main" w="0">
            <a:solidFill>
              <a:srgbClr val="F7F0F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6636D6-FB4E-4EF6-9838-BF66277FD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99794A-1D02-4974-8A1A-CBBED5B35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e28ac285fd4f58"/>
          <a:srcRect xmlns:a="http://schemas.openxmlformats.org/drawingml/2006/main" l="24000" t="24000" r="24000" b="24000"/>
          <a:stretch xmlns:a="http://schemas.openxmlformats.org/drawingml/2006/main"/>
        </p:blipFill>
        <p:spPr>
          <a:xfrm xmlns:a="http://schemas.openxmlformats.org/drawingml/2006/main">
            <a:off x="666750" y="228600"/>
            <a:ext cx="1028700" cy="1028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D42F8A-2956-4903-9539-038E44192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DIFFERENTIATION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C97B7D-368C-4FE5-BAF1-3AB9D6630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42C16A-8C2A-4EE2-B430-D9FE64DDA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002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WHY SHIFTBY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8CF6DC-969A-4FB7-B6D9-81BF62333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24150"/>
            <a:ext cx="7810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rarely need</a:t>
            </a:r>
          </a:p>
          <a:p xmlns:a="http://schemas.openxmlformats.org/drawingml/2006/main">
            <a:pPr algn="l">
              <a:defRPr sz="4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more technology.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922BA8-54B0-4472-8C60-D6CB78F9F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19750"/>
            <a:ext cx="93345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They lose clarity when decisions, knowledge, ownership, and</a:t>
            </a:r>
          </a:p>
          <a:p xmlns:a="http://schemas.openxmlformats.org/drawingml/2006/main">
            <a:pPr algn="l">
              <a:defRPr sz="25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accountability become harder to preserve.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FC26BF-1BD5-470B-B67C-3D220618F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239000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ShiftBy helps leaders preserve the rationale behind execution as change accelerates.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EA86F3-DFD0-4B69-A3D3-1E4653225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2476500"/>
            <a:ext cx="5524500" cy="5524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87CA0C-8C7D-415D-957C-2956548BD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385762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549BEA-E3E9-4FA7-A2AD-9840F6761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B44C69-DF75-43C9-9396-79CE3CDED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16" name="pager-pill">
            <a:extLst xmlns:a="http://schemas.openxmlformats.org/drawingml/2006/main">
              <a:ext uri="{FF2B5EF4-FFF2-40B4-BE49-F238E27FC236}">
                <a16:creationId xmlns:a16="http://schemas.microsoft.com/office/drawing/2014/main" id="{C02D4B97-E849-4C67-83AA-E5A8378BF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89701A-5640-4A81-9F31-C343BC5E0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4D2665-C8BA-4480-80C6-0800CFDE8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674AFA-1EA4-4A94-8AFE-B25D8E5FE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5F1317-771D-4AA6-8C1B-64AC4A179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11 / 14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B13C40-2123-43A2-912D-BDB2BAF88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90944226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D58197-E32F-4291-8D84-4A984FE14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3C022E-72A1-4546-8AB1-35644A2AE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b862e7c67f4528"/>
          <a:srcRect xmlns:a="http://schemas.openxmlformats.org/drawingml/2006/main" l="24000" t="24000" r="24000" b="24000"/>
          <a:stretch xmlns:a="http://schemas.openxmlformats.org/drawingml/2006/main"/>
        </p:blipFill>
        <p:spPr>
          <a:xfrm xmlns:a="http://schemas.openxmlformats.org/drawingml/2006/main">
            <a:off x="666750" y="228600"/>
            <a:ext cx="1028700" cy="10287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A9C40D-AED0-4F22-BC50-3987AFF1C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CAPABILITIES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C4F62F-EF5F-4FFC-8B5A-A53C59C84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19CDBC-E7AD-4AD3-AEE9-37DA4F816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287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THE SHIFTBY CAPABILITY 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DEAFD2-3319-43C2-946A-01C2AF75F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76400"/>
            <a:ext cx="8191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Four capabilities support</a:t>
            </a:r>
          </a:p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confidence when</a:t>
            </a:r>
          </a:p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 changes.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86D921-5AE0-4DF3-A314-D07C1857E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53000"/>
            <a:ext cx="395287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B38A20-3F3D-4691-9B8A-19AB23103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7626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Decision Traceability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F16839-4B32-4211-AD38-6E59778DC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689610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Rationale remains visible.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F0C947-6C68-4403-BBE6-825676467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953000"/>
            <a:ext cx="395287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C751A2-88F4-4050-9328-00975375A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57626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Organizational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Memory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0F6286-5F59-4002-AFA2-B199513E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689610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Meaning survives change.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3FFE4C-144D-4EF7-AF3A-84E707F88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53000"/>
            <a:ext cx="395287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E07D9A-0956-4993-AF0B-E88149E9E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7626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Human-AI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Accountability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F51236-E800-43D5-8649-A18F42CB5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689610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Responsibility stays legible.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5A7EB2-6C26-4077-BB1B-47DE97EE2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4953000"/>
            <a:ext cx="395287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38E013-2B22-4309-8A34-AF1BB067A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4525" y="57626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Adaptive Execution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88F598-A462-4A05-803D-912767CE6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4525" y="689610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Change remains coherent.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34A56D-DB02-4020-ACC4-A89BBC4D5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0129FD-A86E-451C-B14B-6F70B743F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22" name="pager-pill">
            <a:extLst xmlns:a="http://schemas.openxmlformats.org/drawingml/2006/main">
              <a:ext uri="{FF2B5EF4-FFF2-40B4-BE49-F238E27FC236}">
                <a16:creationId xmlns:a16="http://schemas.microsoft.com/office/drawing/2014/main" id="{9D3C5010-2F7A-4C2A-AECE-954770D08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3CF98D-CD8F-4269-862D-CB5B00EEB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9404A6-3BFA-43C7-A745-7FE6DF5EB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C444DC-4805-4A73-BC27-9188964A4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B7FB04-AEA6-4CCE-ACCD-E6DFB6CE3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12 / 14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8593E7-1B6C-43F6-95AA-AC282DDE3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5528636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C38C46-D55F-4107-9D0C-10114EE1D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584DFD-F472-4CDA-87F9-B07FB6817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57d99d5a634753"/>
          <a:srcRect xmlns:a="http://schemas.openxmlformats.org/drawingml/2006/main" l="24000" t="24000" r="24000" b="24000"/>
          <a:stretch xmlns:a="http://schemas.openxmlformats.org/drawingml/2006/main"/>
        </p:blipFill>
        <p:spPr>
          <a:xfrm xmlns:a="http://schemas.openxmlformats.org/drawingml/2006/main">
            <a:off x="666750" y="228600"/>
            <a:ext cx="1028700" cy="10287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0DC417-2902-46A4-AB8E-24055E66F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REFERRAL MOMENT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DCA38A-5A24-4D76-9384-03AE1632F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95E34D-41C3-4A62-934C-66266DE41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6667500" cy="841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F8"/>
          </a:solidFill>
          <a:ln xmlns:a="http://schemas.openxmlformats.org/drawingml/2006/main" w="0">
            <a:solidFill>
              <a:srgbClr val="F7F0F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6885E2-601B-4D90-8AA5-760A3F3CA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0027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INTRODUCE SHIFTBY WHEN...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49400B-1629-4E4E-AA02-5C62CEAAD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62250"/>
            <a:ext cx="44767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Confidence</a:t>
            </a:r>
          </a:p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needs to</a:t>
            </a:r>
          </a:p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survive</a:t>
            </a:r>
          </a:p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change.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70E442-00B0-4030-844A-A69662120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896100"/>
            <a:ext cx="4286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 partner does not need to</a:t>
            </a:r>
          </a:p>
          <a:p xmlns:a="http://schemas.openxmlformats.org/drawingml/2006/main">
            <a:pPr algn="l">
              <a:defRPr sz="25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diagnose the work. They only</a:t>
            </a:r>
          </a:p>
          <a:p xmlns:a="http://schemas.openxmlformats.org/drawingml/2006/main">
            <a:pPr algn="l">
              <a:defRPr sz="25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need to recognize the moment.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9D1E8F-601C-4218-A8D4-906E79CB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765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05F4D4-CFBE-4883-9A20-1DA4C3872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3242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1F1141-2C42-434E-AF53-F54D65AF9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8956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A2285F-21A9-4220-A951-C04EB0403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85750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 new AI initiative needs a clear starting point.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C866DE-E676-4632-A18C-907937D75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4767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CDF1DE-7F75-41AC-9816-E6B5DB452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0481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1A3920-B629-4813-BE4C-D3AD9F118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10025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ideas exist, but prioritization is unclear.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B07684-14E5-4C26-96F1-6B337CC75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62927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797F19-B0C4-4C3C-89B9-83CBEA6A0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2006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FDA3E4-8C0A-4170-88E7-D46D83BD5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16255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Governance, auditability, or ownership is missing.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228727-6DE0-4664-AF0E-D0072AE45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67818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E5B573-F168-4F65-A94E-52A3ADCC5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63531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92F1B9-FF8F-4F3E-A7CD-949A47373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6315075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agents are moving into live workflows.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0AF1A5-BF8F-4504-9922-07053A4E9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79343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AB5051-31E1-4CDD-9F45-48C42237C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75057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D1D317-078A-4C06-AFDB-078334055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746760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Critical knowledge is at risk of being lost.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EE6AA3-40C5-4C42-A962-B8CD129C7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49C125-0C34-41B1-88E3-39F9BD142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28" name="pager-pill">
            <a:extLst xmlns:a="http://schemas.openxmlformats.org/drawingml/2006/main">
              <a:ext uri="{FF2B5EF4-FFF2-40B4-BE49-F238E27FC236}">
                <a16:creationId xmlns:a16="http://schemas.microsoft.com/office/drawing/2014/main" id="{119B4FFE-3AA0-49C0-BA8D-C6BFED955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6FC381-DD0D-4C38-8EBF-75747580E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D063DA-EE81-48CF-A13A-C0C36B910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51E9FCE-5D7F-4123-A2DD-6A016F015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9AE3A06-6E66-4D0B-A11F-D7FA53EC0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13 / 14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428936B-445C-4B77-B516-0FBBE0EBF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201230083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763A48-D01C-4332-9FE6-EC468FFAA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C6F76A-FAE1-488A-B6B6-BA6E6D2D6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781cfd3a16499e"/>
          <a:srcRect xmlns:a="http://schemas.openxmlformats.org/drawingml/2006/main" l="24000" t="24000" r="24000" b="24000"/>
          <a:stretch xmlns:a="http://schemas.openxmlformats.org/drawingml/2006/main"/>
        </p:blipFill>
        <p:spPr>
          <a:xfrm xmlns:a="http://schemas.openxmlformats.org/drawingml/2006/main">
            <a:off x="666750" y="228600"/>
            <a:ext cx="1028700" cy="10287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C41CEB-1578-4ECC-AD54-F05E88FB8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CONTACT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241DE4-FEE0-450C-AD10-F6CA726E6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10C3AE-33DD-4E8F-A9C1-9D2C0DE93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E692CE-6FDB-4C65-A243-3FC00A713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F285B0-3D2E-49E7-9D4D-D74B13A82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00275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MAKE AN INTRODUCTION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3BDA2E-F0F6-4766-9895-418191DB6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24150"/>
            <a:ext cx="61912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changes.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Understanding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preserves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confidence.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8E6C0E-C634-48D5-B4D6-7DB15F32D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762875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Introduce ShiftBy when understanding</a:t>
            </a:r>
          </a:p>
          <a:p xmlns:a="http://schemas.openxmlformats.org/drawingml/2006/main">
            <a:pPr algn="l">
              <a:defRPr sz="28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needs to survive change.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361995-AEB9-4386-A5DB-5FA61898B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2476500"/>
            <a:ext cx="5524500" cy="5524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4D0600-45ED-420D-89D3-417322822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5625" y="385762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D7CF7C-5414-4D79-ADEE-980F4CDF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238750"/>
            <a:ext cx="647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A827EF-3FDC-4746-B819-FB2667A3D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572125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Ananda Krishna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E12DE0-441E-4503-8281-A1F34ABC2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Founder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720358-4908-4F43-8873-B4911D12E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7246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ShiftBy Pte. Ltd.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D2BF6A-DEF7-4D8B-9610-F63377152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72866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https://www.shiftby.sg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A6992C-D268-491E-8425-0D8628F45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783907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linkedin.com/in/anandakrishnam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FA3666-F076-4A0E-A7FE-8DFA52C4C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3915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anandakrishnam@shiftby.sg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1239F0-7FB8-4B7E-B9CD-82012FA4B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6568F2-9190-4A17-87F4-778DDA612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22" name="pager-pill">
            <a:extLst xmlns:a="http://schemas.openxmlformats.org/drawingml/2006/main">
              <a:ext uri="{FF2B5EF4-FFF2-40B4-BE49-F238E27FC236}">
                <a16:creationId xmlns:a16="http://schemas.microsoft.com/office/drawing/2014/main" id="{5A81EE4A-EA63-434D-8D9A-0EA2C0E2E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49EFF0-A69F-4B40-9FEE-72F8EF98B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E9AB1D-C361-47E1-B622-EB9B008A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F399F4-B1C0-439D-BA6E-AFE2540E9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6020D9-3A33-4C47-8EE6-6C75A9081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14 / 14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7A16F9-FEE4-49A1-95DD-791AD3E9C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5676030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2026-06-15T09:58:55.4820000Z</dcterms:created>
  <dcterms:modified xsi:type="dcterms:W3CDTF">2026-06-15T09:58:55.4820000Z</dcterms:modified>
</coreProperties>
</file>