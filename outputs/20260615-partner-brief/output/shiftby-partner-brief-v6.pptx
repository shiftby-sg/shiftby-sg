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e83ee22b974cc2" /><Relationship Type="http://schemas.openxmlformats.org/officeDocument/2006/relationships/extended-properties" Target="/docProps/app.xml" Id="Redc2c93000654208" /><Relationship Type="http://schemas.openxmlformats.org/officeDocument/2006/relationships/officeDocument" Target="/ppt/presentation.xml" Id="R400d3d8322e748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bd54f776184865"/>
  </p:sldMasterIdLst>
  <p:notesMasterIdLst>
    <p:notesMasterId xmlns:r="http://schemas.openxmlformats.org/officeDocument/2006/relationships" r:id="R69cc4cd1b9f64631"/>
  </p:notesMasterIdLst>
  <p:sldIdLst>
    <p:sldId xmlns:r="http://schemas.openxmlformats.org/officeDocument/2006/relationships" id="256" r:id="R941ac3f1497e4f95"/>
    <p:sldId xmlns:r="http://schemas.openxmlformats.org/officeDocument/2006/relationships" id="257" r:id="R92a8581804fa4088"/>
    <p:sldId xmlns:r="http://schemas.openxmlformats.org/officeDocument/2006/relationships" id="258" r:id="Rc4d9c48024074394"/>
    <p:sldId xmlns:r="http://schemas.openxmlformats.org/officeDocument/2006/relationships" id="259" r:id="R6827ed1c7a8a4ead"/>
    <p:sldId xmlns:r="http://schemas.openxmlformats.org/officeDocument/2006/relationships" id="260" r:id="R2642bff182744d17"/>
    <p:sldId xmlns:r="http://schemas.openxmlformats.org/officeDocument/2006/relationships" id="261" r:id="Rc666b4704c8e4d1e"/>
    <p:sldId xmlns:r="http://schemas.openxmlformats.org/officeDocument/2006/relationships" id="262" r:id="R061e5d0908a54879"/>
    <p:sldId xmlns:r="http://schemas.openxmlformats.org/officeDocument/2006/relationships" id="263" r:id="R82f0acb91e9d46b6"/>
    <p:sldId xmlns:r="http://schemas.openxmlformats.org/officeDocument/2006/relationships" id="264" r:id="R27d127f733db4597"/>
    <p:sldId xmlns:r="http://schemas.openxmlformats.org/officeDocument/2006/relationships" id="265" r:id="Rcafd0080ce7046bb"/>
    <p:sldId xmlns:r="http://schemas.openxmlformats.org/officeDocument/2006/relationships" id="266" r:id="Rd8e252f8ec2f46aa"/>
    <p:sldId xmlns:r="http://schemas.openxmlformats.org/officeDocument/2006/relationships" id="267" r:id="Rcc51c32a5b4e40cb"/>
    <p:sldId xmlns:r="http://schemas.openxmlformats.org/officeDocument/2006/relationships" id="268" r:id="R3c8b7f747ed849dd"/>
    <p:sldId xmlns:r="http://schemas.openxmlformats.org/officeDocument/2006/relationships" id="269" r:id="Rca9d229aa3324cbc"/>
    <p:sldId xmlns:r="http://schemas.openxmlformats.org/officeDocument/2006/relationships" id="270" r:id="R56fcaf47e42d41d2"/>
    <p:sldId xmlns:r="http://schemas.openxmlformats.org/officeDocument/2006/relationships" id="271" r:id="R08fa0ab6ba894863"/>
    <p:sldId xmlns:r="http://schemas.openxmlformats.org/officeDocument/2006/relationships" id="272" r:id="R3434d740a9f146a6"/>
    <p:sldId xmlns:r="http://schemas.openxmlformats.org/officeDocument/2006/relationships" id="273" r:id="Re748ba4c0afa47f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a1b56c3490458b" /><Relationship Type="http://schemas.openxmlformats.org/officeDocument/2006/relationships/slideMaster" Target="/ppt/slideMasters/slideMaster1.xml" Id="R43bd54f776184865" /><Relationship Type="http://schemas.openxmlformats.org/officeDocument/2006/relationships/notesMaster" Target="/ppt/notesMasters/notesMaster1.xml" Id="R69cc4cd1b9f64631" /><Relationship Type="http://schemas.openxmlformats.org/officeDocument/2006/relationships/presProps" Target="/ppt/presProps.xml" Id="R7a0cb69c31e6420f" /><Relationship Type="http://schemas.openxmlformats.org/officeDocument/2006/relationships/viewProps" Target="/ppt/viewProps.xml" Id="R511b719d3e59440b" /><Relationship Type="http://schemas.openxmlformats.org/officeDocument/2006/relationships/tableStyles" Target="/ppt/tableStyles.xml" Id="R75e35ba630a34abf" /><Relationship Type="http://schemas.openxmlformats.org/officeDocument/2006/relationships/slide" Target="/ppt/slides/slide1.xml" Id="R941ac3f1497e4f95" /><Relationship Type="http://schemas.openxmlformats.org/officeDocument/2006/relationships/slide" Target="/ppt/slides/slide2.xml" Id="R92a8581804fa4088" /><Relationship Type="http://schemas.openxmlformats.org/officeDocument/2006/relationships/slide" Target="/ppt/slides/slide3.xml" Id="Rc4d9c48024074394" /><Relationship Type="http://schemas.openxmlformats.org/officeDocument/2006/relationships/slide" Target="/ppt/slides/slide4.xml" Id="R6827ed1c7a8a4ead" /><Relationship Type="http://schemas.openxmlformats.org/officeDocument/2006/relationships/slide" Target="/ppt/slides/slide5.xml" Id="R2642bff182744d17" /><Relationship Type="http://schemas.openxmlformats.org/officeDocument/2006/relationships/slide" Target="/ppt/slides/slide6.xml" Id="Rc666b4704c8e4d1e" /><Relationship Type="http://schemas.openxmlformats.org/officeDocument/2006/relationships/slide" Target="/ppt/slides/slide7.xml" Id="R061e5d0908a54879" /><Relationship Type="http://schemas.openxmlformats.org/officeDocument/2006/relationships/slide" Target="/ppt/slides/slide8.xml" Id="R82f0acb91e9d46b6" /><Relationship Type="http://schemas.openxmlformats.org/officeDocument/2006/relationships/slide" Target="/ppt/slides/slide9.xml" Id="R27d127f733db4597" /><Relationship Type="http://schemas.openxmlformats.org/officeDocument/2006/relationships/slide" Target="/ppt/slides/slide10.xml" Id="Rcafd0080ce7046bb" /><Relationship Type="http://schemas.openxmlformats.org/officeDocument/2006/relationships/slide" Target="/ppt/slides/slide11.xml" Id="Rd8e252f8ec2f46aa" /><Relationship Type="http://schemas.openxmlformats.org/officeDocument/2006/relationships/slide" Target="/ppt/slides/slide12.xml" Id="Rcc51c32a5b4e40cb" /><Relationship Type="http://schemas.openxmlformats.org/officeDocument/2006/relationships/slide" Target="/ppt/slides/slide13.xml" Id="R3c8b7f747ed849dd" /><Relationship Type="http://schemas.openxmlformats.org/officeDocument/2006/relationships/slide" Target="/ppt/slides/slide14.xml" Id="Rca9d229aa3324cbc" /><Relationship Type="http://schemas.openxmlformats.org/officeDocument/2006/relationships/slide" Target="/ppt/slides/slide15.xml" Id="R56fcaf47e42d41d2" /><Relationship Type="http://schemas.openxmlformats.org/officeDocument/2006/relationships/slide" Target="/ppt/slides/slide16.xml" Id="R08fa0ab6ba894863" /><Relationship Type="http://schemas.openxmlformats.org/officeDocument/2006/relationships/slide" Target="/ppt/slides/slide17.xml" Id="R3434d740a9f146a6" /><Relationship Type="http://schemas.openxmlformats.org/officeDocument/2006/relationships/slide" Target="/ppt/slides/slide18.xml" Id="Re748ba4c0afa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bc7e5774f44d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d6fed3eef63433a" /><Relationship Type="http://schemas.openxmlformats.org/officeDocument/2006/relationships/notesMaster" Target="/ppt/notesMasters/notesMaster1.xml" Id="Rfab8f4ef4f03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6cf0d83db44bb4" /><Relationship Type="http://schemas.openxmlformats.org/officeDocument/2006/relationships/notesMaster" Target="/ppt/notesMasters/notesMaster1.xml" Id="R11d7f0f16f084e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3a7a75cfdd4191" /><Relationship Type="http://schemas.openxmlformats.org/officeDocument/2006/relationships/notesMaster" Target="/ppt/notesMasters/notesMaster1.xml" Id="Ra10ba0a97f4a4d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bde82c95ab4cae" /><Relationship Type="http://schemas.openxmlformats.org/officeDocument/2006/relationships/notesMaster" Target="/ppt/notesMasters/notesMaster1.xml" Id="Rc832dcc4acdd49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c93f86811a4e34" /><Relationship Type="http://schemas.openxmlformats.org/officeDocument/2006/relationships/notesMaster" Target="/ppt/notesMasters/notesMaster1.xml" Id="Rf2dbf4112ca045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097387a7af4e72" /><Relationship Type="http://schemas.openxmlformats.org/officeDocument/2006/relationships/notesMaster" Target="/ppt/notesMasters/notesMaster1.xml" Id="R1bf128f27f4145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6304bb056484d86" /><Relationship Type="http://schemas.openxmlformats.org/officeDocument/2006/relationships/notesMaster" Target="/ppt/notesMasters/notesMaster1.xml" Id="R484247dc51bf43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3fd9c04b6544a9" /><Relationship Type="http://schemas.openxmlformats.org/officeDocument/2006/relationships/notesMaster" Target="/ppt/notesMasters/notesMaster1.xml" Id="Rac2c3cda11c341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4cc7c85e2242f3" /><Relationship Type="http://schemas.openxmlformats.org/officeDocument/2006/relationships/notesMaster" Target="/ppt/notesMasters/notesMaster1.xml" Id="R6639cf7bcd3844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aa8675afc84548" /><Relationship Type="http://schemas.openxmlformats.org/officeDocument/2006/relationships/notesMaster" Target="/ppt/notesMasters/notesMaster1.xml" Id="R2fa82ffc610b4b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fe97c41fb243aa" /><Relationship Type="http://schemas.openxmlformats.org/officeDocument/2006/relationships/notesMaster" Target="/ppt/notesMasters/notesMaster1.xml" Id="R074f6fa38d184e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8bf478be524a04" /><Relationship Type="http://schemas.openxmlformats.org/officeDocument/2006/relationships/notesMaster" Target="/ppt/notesMasters/notesMaster1.xml" Id="R2476bd60e5f94e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04a35bf6df43d3" /><Relationship Type="http://schemas.openxmlformats.org/officeDocument/2006/relationships/notesMaster" Target="/ppt/notesMasters/notesMaster1.xml" Id="R93309b4872dc426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da7d063385f4349" /><Relationship Type="http://schemas.openxmlformats.org/officeDocument/2006/relationships/notesMaster" Target="/ppt/notesMasters/notesMaster1.xml" Id="R8bd3600226e546e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a5dc303c9cf4e3c" /><Relationship Type="http://schemas.openxmlformats.org/officeDocument/2006/relationships/notesMaster" Target="/ppt/notesMasters/notesMaster1.xml" Id="R6441d4af10d545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1df1c1c5fa4286" /><Relationship Type="http://schemas.openxmlformats.org/officeDocument/2006/relationships/notesMaster" Target="/ppt/notesMasters/notesMaster1.xml" Id="R292d23652c434d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68d3dbcbcd14b51" /><Relationship Type="http://schemas.openxmlformats.org/officeDocument/2006/relationships/notesMaster" Target="/ppt/notesMasters/notesMaster1.xml" Id="R8907cc6683934d7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748556778c342ed" /><Relationship Type="http://schemas.openxmlformats.org/officeDocument/2006/relationships/notesMaster" Target="/ppt/notesMasters/notesMaster1.xml" Id="R8b3c71eb50da4b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db02c679f4a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80a61c2f374cae" /><Relationship Type="http://schemas.openxmlformats.org/officeDocument/2006/relationships/slideLayout" Target="/ppt/slideLayouts/slideLayout1.xml" Id="R7ba28fc130b548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a28fc130b548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d000e37964f4a" /><Relationship Type="http://schemas.openxmlformats.org/officeDocument/2006/relationships/image" Target="/ppt/media/image.png" Id="Rcfd4820af0e14d2f" /><Relationship Type="http://schemas.openxmlformats.org/officeDocument/2006/relationships/notesSlide" Target="/ppt/notesSlides/notesSlide1.xml" Id="Rb96bd9b58fc14f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c44e8d473043b9" /><Relationship Type="http://schemas.openxmlformats.org/officeDocument/2006/relationships/image" Target="/ppt/media/image2.png" Id="R77045e62d5644833" /><Relationship Type="http://schemas.openxmlformats.org/officeDocument/2006/relationships/notesSlide" Target="/ppt/notesSlides/notesSlide2.xml" Id="R8eee4853d7ed44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40dfaa1504cb0" /><Relationship Type="http://schemas.openxmlformats.org/officeDocument/2006/relationships/image" Target="/ppt/media/image3.png" Id="Ra489e1cc16dc4953" /><Relationship Type="http://schemas.openxmlformats.org/officeDocument/2006/relationships/notesSlide" Target="/ppt/notesSlides/notesSlide3.xml" Id="R84426a2bb0b947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2d498c1d046e3" /><Relationship Type="http://schemas.openxmlformats.org/officeDocument/2006/relationships/image" Target="/ppt/media/image4.png" Id="R4d7cd707cc9b44f1" /><Relationship Type="http://schemas.openxmlformats.org/officeDocument/2006/relationships/notesSlide" Target="/ppt/notesSlides/notesSlide4.xml" Id="R43252309163f4c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84b14e89546c3" /><Relationship Type="http://schemas.openxmlformats.org/officeDocument/2006/relationships/image" Target="/ppt/media/image5.png" Id="R1114ee709cde47e1" /><Relationship Type="http://schemas.openxmlformats.org/officeDocument/2006/relationships/notesSlide" Target="/ppt/notesSlides/notesSlide5.xml" Id="R0a35bdb6fbc047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7750e42fd4fbc" /><Relationship Type="http://schemas.openxmlformats.org/officeDocument/2006/relationships/image" Target="/ppt/media/image6.png" Id="R112dd35f35ee4e7d" /><Relationship Type="http://schemas.openxmlformats.org/officeDocument/2006/relationships/notesSlide" Target="/ppt/notesSlides/notesSlide6.xml" Id="Rd5fd37e6c22744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0fcb31466743b5" /><Relationship Type="http://schemas.openxmlformats.org/officeDocument/2006/relationships/image" Target="/ppt/media/image7.png" Id="Rf90340b10a2b47ef" /><Relationship Type="http://schemas.openxmlformats.org/officeDocument/2006/relationships/notesSlide" Target="/ppt/notesSlides/notesSlide7.xml" Id="Rc2248cef023f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3648b9ebd4aeb" /><Relationship Type="http://schemas.openxmlformats.org/officeDocument/2006/relationships/image" Target="/ppt/media/image8.png" Id="R5694761c79184e7d" /><Relationship Type="http://schemas.openxmlformats.org/officeDocument/2006/relationships/notesSlide" Target="/ppt/notesSlides/notesSlide8.xml" Id="Rc0b6f1e31bfc41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1c2c8428449bf" /><Relationship Type="http://schemas.openxmlformats.org/officeDocument/2006/relationships/image" Target="/ppt/media/image9.png" Id="Re9775ef02b1d4ca5" /><Relationship Type="http://schemas.openxmlformats.org/officeDocument/2006/relationships/notesSlide" Target="/ppt/notesSlides/notesSlide9.xml" Id="Rd40e571233b848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5dcbe36a14adf" /><Relationship Type="http://schemas.openxmlformats.org/officeDocument/2006/relationships/image" Target="/ppt/media/image10.png" Id="Ra27d4824ce1842d5" /><Relationship Type="http://schemas.openxmlformats.org/officeDocument/2006/relationships/notesSlide" Target="/ppt/notesSlides/notesSlide10.xml" Id="Rb9c23bfec7a047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9c14d42d14318" /><Relationship Type="http://schemas.openxmlformats.org/officeDocument/2006/relationships/image" Target="/ppt/media/image11.png" Id="R5c5a8601ab8d4118" /><Relationship Type="http://schemas.openxmlformats.org/officeDocument/2006/relationships/notesSlide" Target="/ppt/notesSlides/notesSlide11.xml" Id="Rb58162f2c19045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42b945f41454a" /><Relationship Type="http://schemas.openxmlformats.org/officeDocument/2006/relationships/image" Target="/ppt/media/image12.png" Id="R5ef4cf518db448ad" /><Relationship Type="http://schemas.openxmlformats.org/officeDocument/2006/relationships/notesSlide" Target="/ppt/notesSlides/notesSlide12.xml" Id="R7eda3c8ea94548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dd93761ca4748" /><Relationship Type="http://schemas.openxmlformats.org/officeDocument/2006/relationships/image" Target="/ppt/media/image13.png" Id="Rb8c4256df07c4ac3" /><Relationship Type="http://schemas.openxmlformats.org/officeDocument/2006/relationships/notesSlide" Target="/ppt/notesSlides/notesSlide13.xml" Id="Refcacd86f14142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3fc2eb223841f9" /><Relationship Type="http://schemas.openxmlformats.org/officeDocument/2006/relationships/image" Target="/ppt/media/image14.png" Id="R26e1de21d41b44bb" /><Relationship Type="http://schemas.openxmlformats.org/officeDocument/2006/relationships/notesSlide" Target="/ppt/notesSlides/notesSlide14.xml" Id="R10dd8e78d6154df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6ac1f43dc4159" /><Relationship Type="http://schemas.openxmlformats.org/officeDocument/2006/relationships/image" Target="/ppt/media/image15.png" Id="R2d31c35491bb433f" /><Relationship Type="http://schemas.openxmlformats.org/officeDocument/2006/relationships/notesSlide" Target="/ppt/notesSlides/notesSlide15.xml" Id="Rba476a15bb4244c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4c4a0479a4133" /><Relationship Type="http://schemas.openxmlformats.org/officeDocument/2006/relationships/image" Target="/ppt/media/image16.png" Id="R103ae2d5064a4fd5" /><Relationship Type="http://schemas.openxmlformats.org/officeDocument/2006/relationships/notesSlide" Target="/ppt/notesSlides/notesSlide16.xml" Id="R39ed55205ad24f8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81a4ec3db4771" /><Relationship Type="http://schemas.openxmlformats.org/officeDocument/2006/relationships/image" Target="/ppt/media/image17.png" Id="Rc5445454ab504245" /><Relationship Type="http://schemas.openxmlformats.org/officeDocument/2006/relationships/notesSlide" Target="/ppt/notesSlides/notesSlide17.xml" Id="R796779681a5d421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e8949f2b944e1" /><Relationship Type="http://schemas.openxmlformats.org/officeDocument/2006/relationships/image" Target="/ppt/media/image18.png" Id="Rc60861a3844a4910" /><Relationship Type="http://schemas.openxmlformats.org/officeDocument/2006/relationships/notesSlide" Target="/ppt/notesSlides/notesSlide18.xml" Id="Rf882735a9dbe4f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4820af0e14d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92676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45e62d56448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59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9e1cc16dc49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4873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7cd707cc9b44f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31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4ee709cde47e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17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2dd35f35ee4e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5675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340b10a2b47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35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4761c79184e7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053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75ef02b1d4ca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310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d4824ce1842d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4506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5a8601ab8d411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04162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4cf518db448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2610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4256df07c4ac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6820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e1de21d41b44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45818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positioning-bg">
            <a:extLst xmlns:a="http://schemas.openxmlformats.org/drawingml/2006/main">
              <a:ext uri="{FF2B5EF4-FFF2-40B4-BE49-F238E27FC236}">
                <a16:creationId xmlns:a16="http://schemas.microsoft.com/office/drawing/2014/main" id="{DF13A666-59D2-4E3F-BB55-670C2C6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positioning-brand">
            <a:extLst xmlns:a="http://schemas.openxmlformats.org/drawingml/2006/main">
              <a:ext uri="{FF2B5EF4-FFF2-40B4-BE49-F238E27FC236}">
                <a16:creationId xmlns:a16="http://schemas.microsoft.com/office/drawing/2014/main" id="{4A5A36E2-049B-4BB4-8DC5-833CF823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positioning-meta">
            <a:extLst xmlns:a="http://schemas.openxmlformats.org/drawingml/2006/main">
              <a:ext uri="{FF2B5EF4-FFF2-40B4-BE49-F238E27FC236}">
                <a16:creationId xmlns:a16="http://schemas.microsoft.com/office/drawing/2014/main" id="{A50E4129-F4E1-45B7-891C-C18D824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4" name="positioning-rule-top">
            <a:extLst xmlns:a="http://schemas.openxmlformats.org/drawingml/2006/main">
              <a:ext uri="{FF2B5EF4-FFF2-40B4-BE49-F238E27FC236}">
                <a16:creationId xmlns:a16="http://schemas.microsoft.com/office/drawing/2014/main" id="{047FEBBA-E3E4-424D-A72E-8A1ADAEA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positioning-rule-bottom">
            <a:extLst xmlns:a="http://schemas.openxmlformats.org/drawingml/2006/main">
              <a:ext uri="{FF2B5EF4-FFF2-40B4-BE49-F238E27FC236}">
                <a16:creationId xmlns:a16="http://schemas.microsoft.com/office/drawing/2014/main" id="{EA7039CE-B074-4D68-AB03-9F0CB1A0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positioning-footer">
            <a:extLst xmlns:a="http://schemas.openxmlformats.org/drawingml/2006/main">
              <a:ext uri="{FF2B5EF4-FFF2-40B4-BE49-F238E27FC236}">
                <a16:creationId xmlns:a16="http://schemas.microsoft.com/office/drawing/2014/main" id="{5D82AAC3-DE32-4CCC-86A1-C5C23021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Partner talk track: make the value easy to repeat.</a:t>
            </a:r>
          </a:p>
        </p:txBody>
      </p:sp>
      <p:sp>
        <p:nvSpPr>
          <p:cNvPr id="7" name="positioning-page">
            <a:extLst xmlns:a="http://schemas.openxmlformats.org/drawingml/2006/main">
              <a:ext uri="{FF2B5EF4-FFF2-40B4-BE49-F238E27FC236}">
                <a16:creationId xmlns:a16="http://schemas.microsoft.com/office/drawing/2014/main" id="{1007DDC8-9B3B-4F84-96F2-1CB20557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15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A0DC7C-B707-49BC-B43A-4F071F2A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POSITIONING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B8847-0DED-4CFF-92D6-5891ED8F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90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partners should position ShiftBy in 20 seconds.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B638E-D59F-47EB-87D7-81F1457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7239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a Singapore-based, founder-led advisory practice. It helps leaders preserve understanding when execution becomes distributed across people, systems, suppliers, automation, and 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B7E91-DEF5-4A4B-85EA-718A0C8E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95500"/>
            <a:ext cx="61531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8670CB-3373-474E-A3A4-8076CC68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561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Say this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E654B1-8007-4519-9448-8B6D09BC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24200"/>
            <a:ext cx="561975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helps leaders preserve understanding when execution changes.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It is most useful when decisions, knowledge, ownership, and accountability become harder to keep connected.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5D60B-4035-438A-90B6-B319DF75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477000"/>
            <a:ext cx="61531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B2233-51E0-4723-B352-354FB970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672465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Best used when a customer says: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C632BC-7DC2-4992-9606-0134EDBC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86600"/>
            <a:ext cx="5334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AI adoption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Governance and assurance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0">
                <a:solidFill>
                  <a:srgbClr val="0D0F12"/>
                </a:solidFill>
                <a:latin typeface="Ubuntu"/>
                <a:ea typeface="Ubuntu"/>
                <a:cs typeface="Ubuntu"/>
              </a:rPr>
              <a:t>Knowledge loss and drift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1c35491bb433f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24637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ngagement-bg">
            <a:extLst xmlns:a="http://schemas.openxmlformats.org/drawingml/2006/main">
              <a:ext uri="{FF2B5EF4-FFF2-40B4-BE49-F238E27FC236}">
                <a16:creationId xmlns:a16="http://schemas.microsoft.com/office/drawing/2014/main" id="{09B9FDBC-7ABA-460C-B812-CA39806F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engagement-brand">
            <a:extLst xmlns:a="http://schemas.openxmlformats.org/drawingml/2006/main">
              <a:ext uri="{FF2B5EF4-FFF2-40B4-BE49-F238E27FC236}">
                <a16:creationId xmlns:a16="http://schemas.microsoft.com/office/drawing/2014/main" id="{932BD54F-BCBA-4608-BCC6-A49CC939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engagement-meta">
            <a:extLst xmlns:a="http://schemas.openxmlformats.org/drawingml/2006/main">
              <a:ext uri="{FF2B5EF4-FFF2-40B4-BE49-F238E27FC236}">
                <a16:creationId xmlns:a16="http://schemas.microsoft.com/office/drawing/2014/main" id="{F3E1627C-E83D-42FC-9B67-1AA187CA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4" name="engagement-rule-top">
            <a:extLst xmlns:a="http://schemas.openxmlformats.org/drawingml/2006/main">
              <a:ext uri="{FF2B5EF4-FFF2-40B4-BE49-F238E27FC236}">
                <a16:creationId xmlns:a16="http://schemas.microsoft.com/office/drawing/2014/main" id="{5E7E7170-4BD5-481F-9B86-DCD540AF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engagement-rule-bottom">
            <a:extLst xmlns:a="http://schemas.openxmlformats.org/drawingml/2006/main">
              <a:ext uri="{FF2B5EF4-FFF2-40B4-BE49-F238E27FC236}">
                <a16:creationId xmlns:a16="http://schemas.microsoft.com/office/drawing/2014/main" id="{AC37E46F-09FD-46E5-8288-2862246F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engagement-footer">
            <a:extLst xmlns:a="http://schemas.openxmlformats.org/drawingml/2006/main">
              <a:ext uri="{FF2B5EF4-FFF2-40B4-BE49-F238E27FC236}">
                <a16:creationId xmlns:a16="http://schemas.microsoft.com/office/drawing/2014/main" id="{8BCA3B96-9C00-45AD-953F-19CEA026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clarity: how ShiftBy typically engages.</a:t>
            </a:r>
          </a:p>
        </p:txBody>
      </p:sp>
      <p:sp>
        <p:nvSpPr>
          <p:cNvPr id="7" name="engagement-page">
            <a:extLst xmlns:a="http://schemas.openxmlformats.org/drawingml/2006/main">
              <a:ext uri="{FF2B5EF4-FFF2-40B4-BE49-F238E27FC236}">
                <a16:creationId xmlns:a16="http://schemas.microsoft.com/office/drawing/2014/main" id="{4DA8E5DC-5E6B-47FD-8AF0-2B3E1FB2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16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D0D80D-8E6B-4BA9-9766-E00A0C7E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ENGAGEMENT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F5EE0-76A5-41E6-B427-847A60E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7239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How ShiftBy engages.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50F39-6419-4197-A4F2-6403C7E5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48050"/>
            <a:ext cx="5905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work usually starts with a focused advisory conversation, then expands only where the organization needs more clarity, confidence, and action.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835C3-C3FB-4B78-B712-98E3009B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89730-0C34-4613-8694-EA73D960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Advisory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3917D-12E8-4F25-B547-1A82A38C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Clarify direction, decisions, and priorities before work broadens.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D4DE0-E7AB-46DF-BF5F-C4799D1E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B379B-7928-416C-8D71-29E514178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Workshops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32D33-7578-49C6-850B-97BAB21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Align leadership teams around the challenge and the next move.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D5AC62-6BD3-4FD1-A969-1AD5660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82EB59-FF83-4137-9577-3EDBD40F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Capability mapping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04F4F4-BF5C-4D62-84B4-74A54D48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Map traceability, memory, accountability, and execution into a working picture.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BF1081-82A1-4E19-9BA1-744677D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5048250"/>
            <a:ext cx="35433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943E07-B9E4-4302-AF01-90F992D1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295900"/>
            <a:ext cx="3009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Ongoing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CFB601-7AAA-48CA-B94B-DF59041F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6076950"/>
            <a:ext cx="30099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Stay with the work as priorities, risks, and decisions continue to change.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1D38D-AD89-4A2E-9076-EA38E661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001000"/>
            <a:ext cx="9715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Start small. Move fast. Deepen only where the organization needs it.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ae2d5064a4fd5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388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comes-bg">
            <a:extLst xmlns:a="http://schemas.openxmlformats.org/drawingml/2006/main">
              <a:ext uri="{FF2B5EF4-FFF2-40B4-BE49-F238E27FC236}">
                <a16:creationId xmlns:a16="http://schemas.microsoft.com/office/drawing/2014/main" id="{C54103BC-6F1B-4928-B7E8-00E5DB15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outcomes-brand">
            <a:extLst xmlns:a="http://schemas.openxmlformats.org/drawingml/2006/main">
              <a:ext uri="{FF2B5EF4-FFF2-40B4-BE49-F238E27FC236}">
                <a16:creationId xmlns:a16="http://schemas.microsoft.com/office/drawing/2014/main" id="{406AFCA3-2CAE-4005-82BF-CC71F419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outcomes-meta">
            <a:extLst xmlns:a="http://schemas.openxmlformats.org/drawingml/2006/main">
              <a:ext uri="{FF2B5EF4-FFF2-40B4-BE49-F238E27FC236}">
                <a16:creationId xmlns:a16="http://schemas.microsoft.com/office/drawing/2014/main" id="{691E8795-E07F-4662-B6E9-7E799A15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TYPICAL OUTCOMES</a:t>
            </a:r>
          </a:p>
        </p:txBody>
      </p:sp>
      <p:sp>
        <p:nvSpPr>
          <p:cNvPr id="4" name="outcomes-rule-top">
            <a:extLst xmlns:a="http://schemas.openxmlformats.org/drawingml/2006/main">
              <a:ext uri="{FF2B5EF4-FFF2-40B4-BE49-F238E27FC236}">
                <a16:creationId xmlns:a16="http://schemas.microsoft.com/office/drawing/2014/main" id="{A2A419A4-9125-422F-B235-4B135FE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outcomes-rule-bottom">
            <a:extLst xmlns:a="http://schemas.openxmlformats.org/drawingml/2006/main">
              <a:ext uri="{FF2B5EF4-FFF2-40B4-BE49-F238E27FC236}">
                <a16:creationId xmlns:a16="http://schemas.microsoft.com/office/drawing/2014/main" id="{CC359807-860F-498A-B30A-B547CDF8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outcomes-footer">
            <a:extLst xmlns:a="http://schemas.openxmlformats.org/drawingml/2006/main">
              <a:ext uri="{FF2B5EF4-FFF2-40B4-BE49-F238E27FC236}">
                <a16:creationId xmlns:a16="http://schemas.microsoft.com/office/drawing/2014/main" id="{10C24AA5-7D57-4314-BBF6-5D938A27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Commercial value: what the engagement should leave behind.</a:t>
            </a:r>
          </a:p>
        </p:txBody>
      </p:sp>
      <p:sp>
        <p:nvSpPr>
          <p:cNvPr id="7" name="outcomes-page">
            <a:extLst xmlns:a="http://schemas.openxmlformats.org/drawingml/2006/main">
              <a:ext uri="{FF2B5EF4-FFF2-40B4-BE49-F238E27FC236}">
                <a16:creationId xmlns:a16="http://schemas.microsoft.com/office/drawing/2014/main" id="{4B921704-8FA7-4199-8F77-7F0FB060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17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3D9F6-3CAE-4F03-8946-CCD624DB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OUTCOMES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5185EA-A497-4D6B-B374-C62C62F3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9334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57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What a good engagement should leave behind.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1159F-8DAB-4F54-A734-E4BD5A89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38E42F-B5C6-42EE-BE35-6F530A14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Clearer decisions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692E2-0B75-47AC-928D-95A698C1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sharper view of what is being decided, who owns it, and why it matters.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aim is not more discussion. It is better decision quality.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B0821-FC84-41BB-8111-F05ADF69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543D62-0230-4A43-ADDE-9E23623E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Recoverable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CB1D0-E4A3-48F1-8E33-233BDEB2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 better ability to reconstruct the rationale, evidence, and change history behind important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That makes the organization easier to explain and defend.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1AF533-112A-4174-BF18-3DE0A70C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848100"/>
            <a:ext cx="4495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DE9F3-65BD-4219-B7E7-4185777B1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95750"/>
            <a:ext cx="3962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Stronger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0E3FFA-74E5-4995-AD5D-51445BA8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876800"/>
            <a:ext cx="396240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Clearer ownership across teams, systems, suppliers, automation, and 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Confidence becomes easier to preserve when responsibility stays visible.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AACD84-C0FD-4F22-90D8-FF8AE291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1153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The outcome is practical: more confidence, less drift, and a better basis for action.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45454ab504245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71362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ingapore-bg">
            <a:extLst xmlns:a="http://schemas.openxmlformats.org/drawingml/2006/main">
              <a:ext uri="{FF2B5EF4-FFF2-40B4-BE49-F238E27FC236}">
                <a16:creationId xmlns:a16="http://schemas.microsoft.com/office/drawing/2014/main" id="{95377C22-EA3E-4403-8E96-334FEF25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0">
            <a:solidFill>
              <a:srgbClr val="F5F6FA"/>
            </a:solidFill>
          </a:ln>
        </p:spPr>
      </p:sp>
      <p:sp>
        <p:nvSpPr>
          <p:cNvPr id="2" name="singapore-brand">
            <a:extLst xmlns:a="http://schemas.openxmlformats.org/drawingml/2006/main">
              <a:ext uri="{FF2B5EF4-FFF2-40B4-BE49-F238E27FC236}">
                <a16:creationId xmlns:a16="http://schemas.microsoft.com/office/drawing/2014/main" id="{AE326208-0C5D-41FB-9D97-0840AE33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8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</a:t>
            </a:r>
          </a:p>
        </p:txBody>
      </p:sp>
      <p:sp>
        <p:nvSpPr>
          <p:cNvPr id="3" name="singapore-meta">
            <a:extLst xmlns:a="http://schemas.openxmlformats.org/drawingml/2006/main">
              <a:ext uri="{FF2B5EF4-FFF2-40B4-BE49-F238E27FC236}">
                <a16:creationId xmlns:a16="http://schemas.microsoft.com/office/drawing/2014/main" id="{75EF84A3-345F-4E67-BCBB-D94AB116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0" y="514350"/>
            <a:ext cx="1790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SINGAPORE / APAC</a:t>
            </a:r>
          </a:p>
        </p:txBody>
      </p:sp>
      <p:sp>
        <p:nvSpPr>
          <p:cNvPr id="4" name="singapore-rule-top">
            <a:extLst xmlns:a="http://schemas.openxmlformats.org/drawingml/2006/main">
              <a:ext uri="{FF2B5EF4-FFF2-40B4-BE49-F238E27FC236}">
                <a16:creationId xmlns:a16="http://schemas.microsoft.com/office/drawing/2014/main" id="{93F18BB9-F656-4732-A9EC-DB571BD9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028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5" name="singapore-rule-bottom">
            <a:extLst xmlns:a="http://schemas.openxmlformats.org/drawingml/2006/main">
              <a:ext uri="{FF2B5EF4-FFF2-40B4-BE49-F238E27FC236}">
                <a16:creationId xmlns:a16="http://schemas.microsoft.com/office/drawing/2014/main" id="{CDB90981-AF6F-4A77-BB91-E972305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410700"/>
            <a:ext cx="15773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6"/>
          </a:solidFill>
          <a:ln xmlns:a="http://schemas.openxmlformats.org/drawingml/2006/main" w="0">
            <a:solidFill>
              <a:srgbClr val="D9DDE6"/>
            </a:solidFill>
          </a:ln>
        </p:spPr>
      </p:sp>
      <p:sp>
        <p:nvSpPr>
          <p:cNvPr id="6" name="singapore-footer">
            <a:extLst xmlns:a="http://schemas.openxmlformats.org/drawingml/2006/main">
              <a:ext uri="{FF2B5EF4-FFF2-40B4-BE49-F238E27FC236}">
                <a16:creationId xmlns:a16="http://schemas.microsoft.com/office/drawing/2014/main" id="{35BF0542-3458-4863-AF0D-1A4E80A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95059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Singapore context: local, founder-led, APAC-aware.</a:t>
            </a:r>
          </a:p>
        </p:txBody>
      </p:sp>
      <p:sp>
        <p:nvSpPr>
          <p:cNvPr id="7" name="singapore-page">
            <a:extLst xmlns:a="http://schemas.openxmlformats.org/drawingml/2006/main">
              <a:ext uri="{FF2B5EF4-FFF2-40B4-BE49-F238E27FC236}">
                <a16:creationId xmlns:a16="http://schemas.microsoft.com/office/drawing/2014/main" id="{42A78415-F932-406B-9E91-3B3012A3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25000"/>
            <a:ext cx="76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6A6F7A"/>
                </a:solidFill>
                <a:latin typeface="Aptos Mono"/>
                <a:ea typeface="Aptos Mono"/>
                <a:cs typeface="Aptos Mono"/>
              </a:rPr>
              <a:t>18 / 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ACF68-6E29-4E2F-996A-A4E779E2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C60C6"/>
                </a:solidFill>
                <a:latin typeface="Aptos Mono"/>
                <a:ea typeface="Aptos Mono"/>
                <a:cs typeface="Aptos Mono"/>
              </a:rPr>
              <a:t>SINGAPORE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D6364-D6AC-4532-A0D0-EFA81F7A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1239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49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Built for Singapore conversations, with APAC leadership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E4FFF-45D9-4079-AA16-1610A62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7524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22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ShiftBy is positioned for Singapore-based leaders and partner conversations where AI, governance, knowledge, and execution intersect.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C084F-B287-4BBA-A21B-A0E00EF4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C60C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37E410-BA6B-41C0-B8FB-7F496ED2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Singapore-based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CA357-1A1F-4F37-9BBA-AFB7957F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Founder-led advisory work rooted in Singapore and relevant for local enterprise conversations.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7E7F-BCDF-491A-B853-246D277B7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E7544-130F-451B-B27C-34658212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APAC leadership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986E9-2CC9-425F-96A7-4B0C7CE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Useful for regional operating environments where execution, governance, and knowledge move across teams.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E7F0C-9AB8-4A9F-8CEE-72D54A0C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34000"/>
            <a:ext cx="4381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E4FCAA-714F-4364-9B17-AE5DBD7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5581650"/>
            <a:ext cx="3848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225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Local contact signal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35A223-D673-47FF-8C7E-230F40CA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62700"/>
            <a:ext cx="38481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Vision Exchange, 2 Venture Drive, #19-18, Singapore 608526.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Ubuntu"/>
                <a:ea typeface="Ubuntu"/>
                <a:cs typeface="Ubuntu"/>
              </a:defRPr>
            </a:pPr>
            <a:r>
              <a:rPr sz="1650" b="0">
                <a:solidFill>
                  <a:srgbClr val="5D6470"/>
                </a:solidFill>
                <a:latin typeface="Ubuntu"/>
                <a:ea typeface="Ubuntu"/>
                <a:cs typeface="Ubuntu"/>
              </a:rPr>
              <a:t>anandakrishnam@shiftby.sg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47CAC-C88E-40D6-ABD4-5D7480E6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3248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D0F12"/>
                </a:solidFill>
                <a:latin typeface="Ubuntu"/>
                <a:ea typeface="Ubuntu"/>
                <a:cs typeface="Ubuntu"/>
              </a:defRPr>
            </a:pPr>
            <a:r>
              <a:rPr sz="1500" b="1">
                <a:solidFill>
                  <a:srgbClr val="0D0F12"/>
                </a:solidFill>
                <a:latin typeface="Ubuntu"/>
                <a:ea typeface="Ubuntu"/>
                <a:cs typeface="Ubuntu"/>
              </a:rPr>
              <a:t>ShiftBy Pte. Ltd.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06B453-23DD-4741-BA87-3F719CFD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8648700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6A6F7A"/>
                </a:solidFill>
                <a:latin typeface="Ubuntu"/>
                <a:ea typeface="Ubuntu"/>
                <a:cs typeface="Ubuntu"/>
              </a:defRPr>
            </a:pPr>
            <a:r>
              <a:rPr sz="1350" b="0">
                <a:solidFill>
                  <a:srgbClr val="6A6F7A"/>
                </a:solidFill>
                <a:latin typeface="Ubuntu"/>
                <a:ea typeface="Ubuntu"/>
                <a:cs typeface="Ubuntu"/>
              </a:rPr>
              <a:t>For partner sharing in Singapore and the region.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861a3844a4910"/>
          <a:stretch xmlns:a="http://schemas.openxmlformats.org/drawingml/2006/main"/>
        </p:blipFill>
        <p:spPr>
          <a:xfrm xmlns:a="http://schemas.openxmlformats.org/drawingml/2006/main">
            <a:off x="1257300" y="457200"/>
            <a:ext cx="323850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54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2026-06-15T03:18:37.4150000Z</dcterms:created>
  <dcterms:modified xsi:type="dcterms:W3CDTF">2026-06-15T03:18:37.4150000Z</dcterms:modified>
</coreProperties>
</file>