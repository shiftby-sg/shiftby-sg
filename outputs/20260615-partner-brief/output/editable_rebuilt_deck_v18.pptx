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af44f0c48448ed" /><Relationship Type="http://schemas.openxmlformats.org/officeDocument/2006/relationships/extended-properties" Target="/docProps/app.xml" Id="R3ac3c59acff64199" /><Relationship Type="http://schemas.openxmlformats.org/officeDocument/2006/relationships/officeDocument" Target="/ppt/presentation.xml" Id="Rbdbc778a71ea45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f25c55ff77402f"/>
  </p:sldMasterIdLst>
  <p:notesMasterIdLst>
    <p:notesMasterId xmlns:r="http://schemas.openxmlformats.org/officeDocument/2006/relationships" r:id="Rea045c40e9c74fe8"/>
  </p:notesMasterIdLst>
  <p:sldIdLst>
    <p:sldId xmlns:r="http://schemas.openxmlformats.org/officeDocument/2006/relationships" id="256" r:id="Re2838366174f41b0"/>
    <p:sldId xmlns:r="http://schemas.openxmlformats.org/officeDocument/2006/relationships" id="257" r:id="R852c7aa2b0e740f2"/>
    <p:sldId xmlns:r="http://schemas.openxmlformats.org/officeDocument/2006/relationships" id="258" r:id="Rea38c705bf484412"/>
    <p:sldId xmlns:r="http://schemas.openxmlformats.org/officeDocument/2006/relationships" id="259" r:id="R47cda3dabf8a4ce6"/>
    <p:sldId xmlns:r="http://schemas.openxmlformats.org/officeDocument/2006/relationships" id="260" r:id="R3e61f578455745ad"/>
    <p:sldId xmlns:r="http://schemas.openxmlformats.org/officeDocument/2006/relationships" id="261" r:id="R400d356de2214357"/>
    <p:sldId xmlns:r="http://schemas.openxmlformats.org/officeDocument/2006/relationships" id="262" r:id="R3a72c40a86024d9d"/>
    <p:sldId xmlns:r="http://schemas.openxmlformats.org/officeDocument/2006/relationships" id="263" r:id="R094dd6151e634454"/>
    <p:sldId xmlns:r="http://schemas.openxmlformats.org/officeDocument/2006/relationships" id="264" r:id="R2eeecb5a055c4032"/>
    <p:sldId xmlns:r="http://schemas.openxmlformats.org/officeDocument/2006/relationships" id="265" r:id="R95bf82d53063484a"/>
    <p:sldId xmlns:r="http://schemas.openxmlformats.org/officeDocument/2006/relationships" id="266" r:id="R68d644e4c0b9446d"/>
    <p:sldId xmlns:r="http://schemas.openxmlformats.org/officeDocument/2006/relationships" id="267" r:id="R950d9dd860394346"/>
    <p:sldId xmlns:r="http://schemas.openxmlformats.org/officeDocument/2006/relationships" id="268" r:id="R7f023263b5af4cb1"/>
    <p:sldId xmlns:r="http://schemas.openxmlformats.org/officeDocument/2006/relationships" id="269" r:id="Rf1d2694b584442dd"/>
    <p:sldId xmlns:r="http://schemas.openxmlformats.org/officeDocument/2006/relationships" id="270" r:id="Rf3b458a9746b4137"/>
    <p:sldId xmlns:r="http://schemas.openxmlformats.org/officeDocument/2006/relationships" id="271" r:id="R532abd0cc9634c97"/>
    <p:sldId xmlns:r="http://schemas.openxmlformats.org/officeDocument/2006/relationships" id="272" r:id="Rb7baaa750fe54405"/>
    <p:sldId xmlns:r="http://schemas.openxmlformats.org/officeDocument/2006/relationships" id="273" r:id="R1fce01844280463a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737d7453a14d2d" /><Relationship Type="http://schemas.openxmlformats.org/officeDocument/2006/relationships/slideMaster" Target="/ppt/slideMasters/slideMaster1.xml" Id="Ra0f25c55ff77402f" /><Relationship Type="http://schemas.openxmlformats.org/officeDocument/2006/relationships/notesMaster" Target="/ppt/notesMasters/notesMaster1.xml" Id="Rea045c40e9c74fe8" /><Relationship Type="http://schemas.openxmlformats.org/officeDocument/2006/relationships/presProps" Target="/ppt/presProps.xml" Id="R32509be7650946ff" /><Relationship Type="http://schemas.openxmlformats.org/officeDocument/2006/relationships/tableStyles" Target="/ppt/tableStyles.xml" Id="Rd6657e3a2b2b41f9" /><Relationship Type="http://schemas.openxmlformats.org/officeDocument/2006/relationships/slide" Target="/ppt/slides/slide1.xml" Id="Re2838366174f41b0" /><Relationship Type="http://schemas.openxmlformats.org/officeDocument/2006/relationships/slide" Target="/ppt/slides/slide2.xml" Id="R852c7aa2b0e740f2" /><Relationship Type="http://schemas.openxmlformats.org/officeDocument/2006/relationships/slide" Target="/ppt/slides/slide3.xml" Id="Rea38c705bf484412" /><Relationship Type="http://schemas.openxmlformats.org/officeDocument/2006/relationships/slide" Target="/ppt/slides/slide4.xml" Id="R47cda3dabf8a4ce6" /><Relationship Type="http://schemas.openxmlformats.org/officeDocument/2006/relationships/slide" Target="/ppt/slides/slide5.xml" Id="R3e61f578455745ad" /><Relationship Type="http://schemas.openxmlformats.org/officeDocument/2006/relationships/slide" Target="/ppt/slides/slide6.xml" Id="R400d356de2214357" /><Relationship Type="http://schemas.openxmlformats.org/officeDocument/2006/relationships/slide" Target="/ppt/slides/slide7.xml" Id="R3a72c40a86024d9d" /><Relationship Type="http://schemas.openxmlformats.org/officeDocument/2006/relationships/slide" Target="/ppt/slides/slide8.xml" Id="R094dd6151e634454" /><Relationship Type="http://schemas.openxmlformats.org/officeDocument/2006/relationships/slide" Target="/ppt/slides/slide9.xml" Id="R2eeecb5a055c4032" /><Relationship Type="http://schemas.openxmlformats.org/officeDocument/2006/relationships/slide" Target="/ppt/slides/slide10.xml" Id="R95bf82d53063484a" /><Relationship Type="http://schemas.openxmlformats.org/officeDocument/2006/relationships/slide" Target="/ppt/slides/slide11.xml" Id="R68d644e4c0b9446d" /><Relationship Type="http://schemas.openxmlformats.org/officeDocument/2006/relationships/slide" Target="/ppt/slides/slide12.xml" Id="R950d9dd860394346" /><Relationship Type="http://schemas.openxmlformats.org/officeDocument/2006/relationships/slide" Target="/ppt/slides/slide13.xml" Id="R7f023263b5af4cb1" /><Relationship Type="http://schemas.openxmlformats.org/officeDocument/2006/relationships/slide" Target="/ppt/slides/slide14.xml" Id="Rf1d2694b584442dd" /><Relationship Type="http://schemas.openxmlformats.org/officeDocument/2006/relationships/slide" Target="/ppt/slides/slide15.xml" Id="Rf3b458a9746b4137" /><Relationship Type="http://schemas.openxmlformats.org/officeDocument/2006/relationships/slide" Target="/ppt/slides/slide16.xml" Id="R532abd0cc9634c97" /><Relationship Type="http://schemas.openxmlformats.org/officeDocument/2006/relationships/slide" Target="/ppt/slides/slide17.xml" Id="Rb7baaa750fe54405" /><Relationship Type="http://schemas.openxmlformats.org/officeDocument/2006/relationships/slide" Target="/ppt/slides/slide18.xml" Id="R1fce0184428046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1293a75e9847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d4b7494772479e" /><Relationship Type="http://schemas.openxmlformats.org/officeDocument/2006/relationships/notesMaster" Target="/ppt/notesMasters/notesMaster1.xml" Id="R3289137d886944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e0b96ad1fb4661" /><Relationship Type="http://schemas.openxmlformats.org/officeDocument/2006/relationships/notesMaster" Target="/ppt/notesMasters/notesMaster1.xml" Id="R5508e452af4743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95d879c93641d6" /><Relationship Type="http://schemas.openxmlformats.org/officeDocument/2006/relationships/notesMaster" Target="/ppt/notesMasters/notesMaster1.xml" Id="R4849e661963442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2fad6e6b0b40f0" /><Relationship Type="http://schemas.openxmlformats.org/officeDocument/2006/relationships/notesMaster" Target="/ppt/notesMasters/notesMaster1.xml" Id="R3b93fc89530344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0cf25f898d4b70" /><Relationship Type="http://schemas.openxmlformats.org/officeDocument/2006/relationships/notesMaster" Target="/ppt/notesMasters/notesMaster1.xml" Id="Rd94c2d9401934d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5bf89e11c84efe" /><Relationship Type="http://schemas.openxmlformats.org/officeDocument/2006/relationships/notesMaster" Target="/ppt/notesMasters/notesMaster1.xml" Id="Rbb91eb587a1f4d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7608f7d01644d3" /><Relationship Type="http://schemas.openxmlformats.org/officeDocument/2006/relationships/notesMaster" Target="/ppt/notesMasters/notesMaster1.xml" Id="R7d5e459b3ee547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64d438fadb4049" /><Relationship Type="http://schemas.openxmlformats.org/officeDocument/2006/relationships/notesMaster" Target="/ppt/notesMasters/notesMaster1.xml" Id="R1c981e77b21a46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ca28306f30f4f5b" /><Relationship Type="http://schemas.openxmlformats.org/officeDocument/2006/relationships/notesMaster" Target="/ppt/notesMasters/notesMaster1.xml" Id="Rb9af8f63a58f4e0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32fd1d77c5d4014" /><Relationship Type="http://schemas.openxmlformats.org/officeDocument/2006/relationships/notesMaster" Target="/ppt/notesMasters/notesMaster1.xml" Id="Rdfd21520d7a84a2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6201648760e4a8d" /><Relationship Type="http://schemas.openxmlformats.org/officeDocument/2006/relationships/notesMaster" Target="/ppt/notesMasters/notesMaster1.xml" Id="R3a0f08ecc9d9482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061f249e7404f5f" /><Relationship Type="http://schemas.openxmlformats.org/officeDocument/2006/relationships/notesMaster" Target="/ppt/notesMasters/notesMaster1.xml" Id="R9cb482769bb545f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7072ac527a14a4e" /><Relationship Type="http://schemas.openxmlformats.org/officeDocument/2006/relationships/notesMaster" Target="/ppt/notesMasters/notesMaster1.xml" Id="R9f4920b2dfb5480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bfe57c975a3402f" /><Relationship Type="http://schemas.openxmlformats.org/officeDocument/2006/relationships/notesMaster" Target="/ppt/notesMasters/notesMaster1.xml" Id="R04ce43c58ee14c4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4f9834b4e2345f1" /><Relationship Type="http://schemas.openxmlformats.org/officeDocument/2006/relationships/notesMaster" Target="/ppt/notesMasters/notesMaster1.xml" Id="R66d8687b7b45495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1100e0286e643b2" /><Relationship Type="http://schemas.openxmlformats.org/officeDocument/2006/relationships/notesMaster" Target="/ppt/notesMasters/notesMaster1.xml" Id="Ra85fcf5bc3794d3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54b2778992b47ae" /><Relationship Type="http://schemas.openxmlformats.org/officeDocument/2006/relationships/notesMaster" Target="/ppt/notesMasters/notesMaster1.xml" Id="R2b57ad817fcb4c3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134dd07b96044e2" /><Relationship Type="http://schemas.openxmlformats.org/officeDocument/2006/relationships/notesMaster" Target="/ppt/notesMasters/notesMaster1.xml" Id="Rfbc8102ad6fa47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a5362c4a9f4c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e881ee9084432e" /><Relationship Type="http://schemas.openxmlformats.org/officeDocument/2006/relationships/slideLayout" Target="/ppt/slideLayouts/slideLayout1.xml" Id="Rb33363fc7f0344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3363fc7f0344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7f74c27fec445a" /><Relationship Type="http://schemas.openxmlformats.org/officeDocument/2006/relationships/notesSlide" Target="/ppt/notesSlides/notesSlide1.xml" Id="R0bf04cdc845b47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c5780437b4043" /><Relationship Type="http://schemas.openxmlformats.org/officeDocument/2006/relationships/notesSlide" Target="/ppt/notesSlides/notesSlide2.xml" Id="Rf6b097c1d34a49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e22b3bb33448e" /><Relationship Type="http://schemas.openxmlformats.org/officeDocument/2006/relationships/notesSlide" Target="/ppt/notesSlides/notesSlide3.xml" Id="R2678e690db1d4f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5b94c984504462" /><Relationship Type="http://schemas.openxmlformats.org/officeDocument/2006/relationships/notesSlide" Target="/ppt/notesSlides/notesSlide4.xml" Id="R2e0e30044e7a41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6597e82a524199" /><Relationship Type="http://schemas.openxmlformats.org/officeDocument/2006/relationships/notesSlide" Target="/ppt/notesSlides/notesSlide5.xml" Id="Rea8772e10b7b46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735724a0ff4a98" /><Relationship Type="http://schemas.openxmlformats.org/officeDocument/2006/relationships/notesSlide" Target="/ppt/notesSlides/notesSlide6.xml" Id="R07eff2b6abb74e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4f52bad6c438c" /><Relationship Type="http://schemas.openxmlformats.org/officeDocument/2006/relationships/notesSlide" Target="/ppt/notesSlides/notesSlide7.xml" Id="R45eb4ea106834c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d8a311ac7542b9" /><Relationship Type="http://schemas.openxmlformats.org/officeDocument/2006/relationships/notesSlide" Target="/ppt/notesSlides/notesSlide8.xml" Id="R63835f7a2c684aa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6f8517f26440de" /><Relationship Type="http://schemas.openxmlformats.org/officeDocument/2006/relationships/notesSlide" Target="/ppt/notesSlides/notesSlide9.xml" Id="Rc37ea7107e2d498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98f136ae341a4" /><Relationship Type="http://schemas.openxmlformats.org/officeDocument/2006/relationships/notesSlide" Target="/ppt/notesSlides/notesSlide10.xml" Id="R831b3325e492493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3b868f3691474e" /><Relationship Type="http://schemas.openxmlformats.org/officeDocument/2006/relationships/notesSlide" Target="/ppt/notesSlides/notesSlide11.xml" Id="R3351de91157d424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4094f8e31544b4" /><Relationship Type="http://schemas.openxmlformats.org/officeDocument/2006/relationships/notesSlide" Target="/ppt/notesSlides/notesSlide12.xml" Id="R537a6fedb6f54e7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0d0e1872f1430b" /><Relationship Type="http://schemas.openxmlformats.org/officeDocument/2006/relationships/notesSlide" Target="/ppt/notesSlides/notesSlide13.xml" Id="R745179938a2c4a6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40a7561824af0" /><Relationship Type="http://schemas.openxmlformats.org/officeDocument/2006/relationships/notesSlide" Target="/ppt/notesSlides/notesSlide14.xml" Id="Rd8d49a861d80438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97756b5cb148d4" /><Relationship Type="http://schemas.openxmlformats.org/officeDocument/2006/relationships/notesSlide" Target="/ppt/notesSlides/notesSlide15.xml" Id="R5096c85db29544b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e1c3a51cd94f97" /><Relationship Type="http://schemas.openxmlformats.org/officeDocument/2006/relationships/notesSlide" Target="/ppt/notesSlides/notesSlide16.xml" Id="R611b0171172d477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8279fe9a7d47bd" /><Relationship Type="http://schemas.openxmlformats.org/officeDocument/2006/relationships/notesSlide" Target="/ppt/notesSlides/notesSlide17.xml" Id="R649c018aa898452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304628d5c14b1d" /><Relationship Type="http://schemas.openxmlformats.org/officeDocument/2006/relationships/notesSlide" Target="/ppt/notesSlides/notesSlide18.xml" Id="R17a62d43ec1448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1009B3-F88D-4BFC-86E4-EA51004B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649A02-B86B-4645-87F5-743B077B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10E6D-90AC-4199-BA6D-1D1E1E8F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25DACE-9839-4BAC-8522-2B6720A4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B61940-9D5F-4AB4-8712-7ABF1A07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4F3859-AD18-488C-9235-CA29B3A1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PARTNER BRIEFING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C21225-03BF-43A7-8F2D-B867A820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2ECBCE-1394-4236-A1A4-DBA873F0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63DDE7-C9C3-4F75-8092-9E404CFF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66875"/>
            <a:ext cx="9334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preserves 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6A76F0-DB95-4092-A574-0C2C73CF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14875"/>
            <a:ext cx="685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AI advisory, coaching, and thought leadership for organizations navigating AI, governance, knowledge, and transformation.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9063FB-458C-47F1-AB67-F58CCFB6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286000"/>
            <a:ext cx="5334000" cy="5334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0">
            <a:solidFill>
              <a:srgbClr val="EAEA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CC31C2-7B6D-4549-870F-E3E2DAF4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3810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1B5813-ADB8-4C93-8912-8D1132FB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0D2CF2-48F3-460A-BBEB-F781CAA7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A trusted partner's guide to when ShiftBy can help.</a:t>
            </a:r>
          </a:p>
        </p:txBody>
      </p:sp>
      <p:sp>
        <p:nvSpPr>
          <p:cNvPr id="15" name="pager-pill">
            <a:extLst xmlns:a="http://schemas.openxmlformats.org/drawingml/2006/main">
              <a:ext uri="{FF2B5EF4-FFF2-40B4-BE49-F238E27FC236}">
                <a16:creationId xmlns:a16="http://schemas.microsoft.com/office/drawing/2014/main" id="{19813337-1026-4A25-8AA8-9F2B683E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B10747-8D99-43CD-A87D-70CEB046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DE2FE0-00A6-424A-96B7-8F60DE2D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80D6E3-C20A-4DC5-9403-65884C12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064ADE-0066-4396-8C0E-AB07C0EE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01 / 14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3D5509-336A-49B6-B425-2BFDCC5E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0488341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B01835-749F-4073-8E8A-69435C8D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07F331-B135-4A52-9ABF-F56D92CC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8D4DFE-EBF5-42B0-AEC1-D8B2162A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CE11A7-882B-4129-AF0B-ED1F1EE6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EB00F3-578C-4855-B87D-53695917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3569A9-C3CB-40E4-AC20-E4B60F29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WHY SHIFTBY EXISTS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C88FF1-7F04-44EE-AC76-0128CA8A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6F8991-2D76-4C85-B7D4-B01BAD3A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76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CORE OBSERVATION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F14131-67FD-4208-8CE6-8394A88A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14800"/>
            <a:ext cx="5334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preserve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records.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They lose operating context.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7F48F0-85BB-4B26-958C-7050790A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343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exists to help leaders preserve the rationale behind execution.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8B5C7C-8581-4CF3-9478-26E748FA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95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EEAAEF-6F90-46C1-84A3-6D814801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decision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FC1DA0-CC91-4847-B512-929C3F7C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9243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rationale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8E2C32-8465-4BCE-A510-182C63FB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76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0C845D-7EFC-423D-8FB8-4A3E208A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054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process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D021FF-82FB-43B1-AADD-900BB913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30542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context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D030BE-285A-4E73-AD12-12E801A6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579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AF6A90-D916-4968-B26B-597D74C9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6865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system survives.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42CCD5-0BDC-45AB-AB59-F07A5CCC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865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knowledge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CA42E2-2A8A-4B52-84C0-D1AD8168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8390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1F2AB4-D700-4F52-B363-F2FAE04C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FCFA25-6642-4E49-A612-07233CAB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exists to help understanding remain available when execution changes.</a:t>
            </a:r>
          </a:p>
        </p:txBody>
      </p:sp>
      <p:sp>
        <p:nvSpPr>
          <p:cNvPr id="23" name="pager-pill">
            <a:extLst xmlns:a="http://schemas.openxmlformats.org/drawingml/2006/main">
              <a:ext uri="{FF2B5EF4-FFF2-40B4-BE49-F238E27FC236}">
                <a16:creationId xmlns:a16="http://schemas.microsoft.com/office/drawing/2014/main" id="{99C90A0D-6B9D-4A1B-9042-C491B72A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918FBC-5AF5-45DA-88B2-6237A6C8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DD628E-C296-43ED-B588-1BC1FA0A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46A167-C6EB-4AD6-800F-76A198CF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805CE0-65B1-4B34-895E-D4A4B628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02 / 14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12D41C-3947-4C6E-9828-6BED0A0C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5995852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E286A6-2CA8-4500-9EC1-E31ED30C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35E30C-006D-4D84-9D2B-FE68F1FF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07B057-CD26-4520-808B-68925631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6684F-B9D6-4FD7-A81E-B8DF8948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F97D5C-91EE-4615-A4D1-091ADCEB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39E016-549D-4CE3-96F3-16BFEA18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PARTNER VALUE 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FE29E3-0589-4743-89E8-3C7A64D9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148FEE-6A80-4A35-BA24-8E80FE40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ORGANIZATIONS ENGAGE SHIFTBY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39DACF-3B5F-42D3-8C6A-B015D43E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Value, risk, and trust are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increasingly connected.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C7FE1A-9201-48A8-9218-6A5AC2B7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D660F4-974D-4B05-841A-C370E4B1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CREATE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0F4E4F-CDA3-47D6-BDA7-07AF20E0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Clarify where AI can create meaningful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C14A51-B1BD-41EA-ADE4-AB3F6DC4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Prioritize AI opportunities and investments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C4A91A-ADEE-4951-A32A-827D32D6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decision quality and visibility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9855C8-4AE4-4945-9DB1-D9D87F9D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Accelerate responsible AI adoption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F410AD-8941-4FC7-8881-F3192A2D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organizational effectiveness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C8D702-6616-4D3F-AAA1-85853A84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A8F9E4-FBD8-4102-BC57-9E70C4DE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69AD87-7229-4446-B3F5-94B7A505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Strengthen governance and oversight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2ACA46-EDA0-4A22-9E47-C7185AA4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audit readiness and assurance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4D8C6A-31CA-40BA-B4BF-965CA703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Address AI security and privacy concerns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83574B-6DE1-4778-9072-CE32CD69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accountability and traceability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87AA7B-31E3-42AF-ACFD-32F1E6AA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visibility of AI-related risks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67A7C2-C5FB-4604-8141-BF87ABC9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4B8E50-8124-482F-A958-1B2ACFA5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B5CB85-8236-4514-958E-B645D140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Preserve organizational knowledge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B36AC8-C95C-4DE3-8EB2-197F40B8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explainability of important decisions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0C19D3-A9CA-4140-B17D-70526A79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Retain rationale as systems evolve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7EB306-56E8-4191-8B68-52B12D2A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accountability as execution changes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20D04C-3728-413C-BA12-F4604A8B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Increase confidence in AI-enabled operations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E381DC-F4A5-4608-B3B9-B4870675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001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BB0E84-658E-4B61-A579-0EA597A0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343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helps organizations navigate all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three.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B87FD1-B9FC-43C5-B8F1-D6F36727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A489BB-A7B7-4E99-9704-71DDC5C1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A partner should be able to connect ShiftBy to value creation, risk reduction, and trust preservation.</a:t>
            </a:r>
          </a:p>
        </p:txBody>
      </p:sp>
      <p:sp>
        <p:nvSpPr>
          <p:cNvPr id="35" name="pager-pill">
            <a:extLst xmlns:a="http://schemas.openxmlformats.org/drawingml/2006/main">
              <a:ext uri="{FF2B5EF4-FFF2-40B4-BE49-F238E27FC236}">
                <a16:creationId xmlns:a16="http://schemas.microsoft.com/office/drawing/2014/main" id="{528D84DE-F74F-46D3-B62B-B28BF24E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35D68F-5D01-446E-8E79-169DD3B6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126011-1525-48C9-B11D-99F7538F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41E42C7-6D1B-44CF-9193-B9173311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1485B1-0E34-476F-8ACE-E3FBAF29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03 / 14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899DBA-AB46-4EEC-92D1-DC41B2D4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9743720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2AC157-5291-4088-AD72-D7DF1B00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47637A-AE2E-4401-A9ED-3620CAB2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AE3B3A-66B9-40AA-978D-5D0C48F9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CFA6BD-C19F-473B-8026-1E32CF1F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69338C-73EF-45AC-BE0B-0C581B96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38451-5E3A-46D6-8853-DF00F7D6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INDUSTRY RECOGNITION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818268-0E18-4427-B74F-5D0483A1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8ADF4E-6F96-47B0-B8E7-78F63346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INDUSTRIES WHERE SIMILAR CONVERSATIONS FREQUENTLY ARISE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51EA00-F0D8-4A51-9641-C0DF7CCB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Different industries. Similar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challenges around 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64E391-7CB6-491E-9150-7DCEC7FD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39FA55-4889-431E-952C-32C1A2DC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Pharmaceuticals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4A6C9A-8D2C-42D2-BEBB-8FCFAB5D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DEC4CD-3AA2-4F22-A4EC-19FF87AF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Consumer Health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22C457-D3E6-413E-8251-D696F122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D0BCC3-5148-466A-8F23-D38040BB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Medical Technology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8DE435-304C-4A0A-B123-A897C039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57D23C-FEED-4AD0-B2D1-69447DCC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AFCA39-47A1-4A51-AE3D-324BB814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D53B5F-B175-48F2-9B2E-CDCA2602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 &amp; Logistics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B84B71-2261-412A-A39B-9263B37D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0EE2DC-0FE1-4233-B0AD-5D17B654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A2EA5E-5260-4C3E-A92F-31996AD9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95AF8B-93E7-4798-B078-180E0157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Professional Services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FFAAE6-9611-43FD-8E07-3AB4ECCD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19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092829-270B-4C9B-A985-D5D39A5E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1437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Different industries.</a:t>
            </a:r>
          </a:p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Similar challenges around change, knowledge,</a:t>
            </a:r>
          </a:p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accountability, and confidence.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0A405D-9A53-4638-99F7-8F277D60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2E6194-82E7-47E6-BCE7-10B9826B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Use this slide to help partners recognize familiar industry contexts.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9F7E41B5-B549-459D-AB16-C570641D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22795E-5C90-4A3E-814E-FEB18894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1882D3-B5D0-4502-967E-9B96B5BE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0F15A4-0C93-4585-A4CA-F129B992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CF8E60-1352-4633-8A47-0BFF89BB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04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294100-F537-46A3-9E90-B716689A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955806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404DB3-5875-4177-884C-9E2757F5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51B22-6FC1-46A6-99E0-8AFF372C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A4D49A-E6D7-4744-8D8F-986E078F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ABDCB4-B11D-4939-8885-C0DF9FDA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FE22DE-60F1-4E04-8BFC-A5F79C17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06ADEB-AB3B-40BA-A115-84BFE963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ORGANIZATIONAL RECOGNITION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760D58-91C4-471B-B2A4-FFBEDEEB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F82797-2C7E-4AC6-9D0E-EF70E156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BUSINESS FUNCTIONS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9BDA37-E6E9-41DE-AB5F-60CF323C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 conversations often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start where responsibility,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change, and control meet.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987897-2C2E-4718-A630-F6549EFD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611D06-686A-4B5A-A8E7-EAC4A1A7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Leadership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77A5E1-DB03-427A-AE3B-2A22BDA5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3DC88D-86C7-4A83-9FAC-CCA0C769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Research &amp; Development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1A1617-C75F-4CF6-A22D-B1B14C2A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9E225E-A840-4115-B723-CFF1D0A4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692D2C-5A28-452C-B419-244044D4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D57F81-5A5C-4E84-9BD6-E882E279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2620A6-E381-4A6F-98B9-DC8F964C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A13998-35C8-410E-A194-07DCFE77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Quality &amp; Compliance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875DE7-7675-4881-A936-EEF05A18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8B8F34-F4F0-4973-84BB-7137EB56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Procurement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3EFFFF-69FE-4B28-BA5A-B2FFB180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E01BCA-D358-43C8-A126-4E66E678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599FD8-CE68-458F-BD3A-DB7B8BD4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14D30C-5300-4CFF-B2A4-6260E598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&amp;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E162D4-A07C-48BA-BB4C-D17B0332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72ECE1-A2C2-472F-B533-925E5772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Enterprise Architecture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2A1F31-9EB7-4BD0-BEDD-702F1972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2C2278-4B83-4A1E-B173-9989700A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Risk &amp; Governance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45FBB2-F439-42E8-9748-767AB6C9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737AF6-7900-495D-AEE0-8576C355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Internal Audit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D97B28-E9E9-4EB0-9A94-80521317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8EBC32-C81D-48AB-9DD4-977A6A32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 Offices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7BC69D-47E8-46C4-95C9-46EFB5A2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572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EACBC6-1961-41B5-8808-3256839B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7439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Many functions inherit AI-enabled change</a:t>
            </a:r>
          </a:p>
          <a:p xmlns:a="http://schemas.openxmlformats.org/drawingml/2006/main">
            <a:pPr algn="l">
              <a:defRPr sz="19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before they own 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BFE833-0A53-405A-A63C-F1FCDCD1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48F5F7-B522-4ED0-88F4-9BC6425F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Many functions inherit AI-enabled change before they own it.</a:t>
            </a:r>
          </a:p>
        </p:txBody>
      </p:sp>
      <p:sp>
        <p:nvSpPr>
          <p:cNvPr id="38" name="pager-pill">
            <a:extLst xmlns:a="http://schemas.openxmlformats.org/drawingml/2006/main">
              <a:ext uri="{FF2B5EF4-FFF2-40B4-BE49-F238E27FC236}">
                <a16:creationId xmlns:a16="http://schemas.microsoft.com/office/drawing/2014/main" id="{0F8EECFD-F248-4493-9CE8-5EADB33A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5E3EEA-9638-4D44-AAB4-7032B6C7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4E4641-AA57-4802-9E43-41D35344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C4BE70-2178-4321-A607-C7A012A4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4307D4E-4548-4519-B1D6-814FBEA9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05 / 14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FBF293C-6DEF-44CF-8D26-4041D816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5230470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B6C09A-4BB8-4DC2-B737-E2EFED91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59AC74-17B0-4A29-9E77-758A629A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B29987-019E-485E-A9CC-C7A7C675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D8F0C-6F4A-4EE0-8B06-4167E7BB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CB3FC-8966-4CED-AB47-1DCB84BB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D1A9EB-3DEC-4016-8C65-6B211794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TRIGGERS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07CB88-3BF8-496B-BBF2-9B221CE6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64263D-A195-4987-9BCC-29E2CFEA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TYPICAL SITUATIONS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B81B77-8C41-47F7-B498-33C734AB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8477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When you hear this,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there may be a ShiftBy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conversation.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847BF-C5C5-4038-886D-55220008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F9DC59-CAE1-4CE2-89BC-2D56A76F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1ABCFC-EE22-4CA1-9897-8C35D96A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14950"/>
            <a:ext cx="26574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exploring AI but do not know where to start.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7193B5-A10C-4C1E-A876-26871035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67BC9B-299C-4A12-8D0A-47A853CF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BF225A-C4A6-46B8-A6F9-9E5E0360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314950"/>
            <a:ext cx="26574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have many AI ideas but cannot prioritize.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60F1BF-F079-4766-990F-6CA7E56A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BA2B9D-F335-45A7-8763-EF37EC8C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9B3534-D917-45E4-9EAD-554A7ADB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314950"/>
            <a:ext cx="26574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need governance, audit readiness, and oversight.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3B2021-D01A-46FA-A2CB-8462E14E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14688F-5C73-4DF9-8803-C8590B5E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9C0F55-6849-46DB-8D91-41C06841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5314950"/>
            <a:ext cx="26574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introducing AI agents into operational workflows.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DF16EB-7C59-4FA2-A388-20B3E2B1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7E7240-D12A-4178-86D3-ACE26567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B1298B-5295-4633-A8F1-E046567F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5314950"/>
            <a:ext cx="26574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concerned about losing critical knowledge.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8F4650-4421-4729-94F4-B2E9C458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0008B2-AC47-4B58-A05F-3F457261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This is the partner's recognition slide: listen for uncertainty, prioritization, trust, operations, and knowledge loss.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5732DBEF-8AF2-4031-832D-BCD0A518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A0AFD4-1177-43F4-BD96-0F1F0036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DBCD36-CC96-4412-80AE-C99D0294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FBD78E-D65B-4F3B-9317-6C73A0C9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0F408A-112A-46BC-81B0-CB0FC6A1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06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8D7AE9-F042-4FFC-A9F0-44109673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5833319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E42D6E-B0B9-46C2-99AE-F4DED65A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432F7D-F99A-49CF-A888-56AFF9E6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3D747B-13A5-43FD-8709-871462A5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0E5A5F-6CBF-4509-8D17-4CF9AEF4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E5B9DF-3651-4745-BED8-9BF60E4F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43C5D0-353B-4932-B29D-FF9212DF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CONVERSATION DOMAIN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2709CA-41FF-4DB5-888E-4E9DFB42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6DAB84-7359-450C-9C83-9BB4EF20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564D2A-4155-4CA6-8413-DEE6E721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PREPARING FOR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F3FAB3-4C87-43B7-AAF1-2118E53F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Readiness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&amp; Enablement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94531F-360E-4E88-903A-EFCA810D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14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UNCERTAINTY BEFORE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MAJOR AI DECISIONS.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5548BB-3536-4BAF-9E3E-20ABC6F9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61925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9FE8C7-204F-4C62-95F5-A3F0A82F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3429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4239E2-8168-4A5D-98A8-31A48C98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0C8B49-14E1-4F25-AD93-103CD2C9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workshops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294276-F557-4BD3-9DB1-05956C30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78227A-D14A-4762-B1A4-B438B97E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literacy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20A367-DE7F-49A3-9786-8F691840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016319-9B28-4F38-94B1-C31BD0FC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readiness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5E976D-5B5F-47FD-AD1E-F750D70F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A334BE-20BF-4099-AA21-1C6DE1D1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 readiness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AA8DFE-2910-4184-B114-5A28F8D7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04BC82-17B8-40AE-8962-2B1C4BD6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 readiness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657E79-FAE0-4D08-9439-20C26D16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2F4FD5-CC51-47DB-BBEC-A0BF069F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Workforce readiness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125A56-232A-4CD3-B9CB-D0EC5122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457950"/>
            <a:ext cx="771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E8040C-66BA-41DD-9FDB-6B028652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7818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know AI matters.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harder question is whether their data, knowledge,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people, governance, and operating model are ready.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5A55C2-910B-4A42-9F9A-850EA0EE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5E1D65-22AA-43EF-98BB-6AD01FE8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Map situations to conversation domain.</a:t>
            </a:r>
          </a:p>
        </p:txBody>
      </p:sp>
      <p:sp>
        <p:nvSpPr>
          <p:cNvPr id="30" name="pager-pill">
            <a:extLst xmlns:a="http://schemas.openxmlformats.org/drawingml/2006/main">
              <a:ext uri="{FF2B5EF4-FFF2-40B4-BE49-F238E27FC236}">
                <a16:creationId xmlns:a16="http://schemas.microsoft.com/office/drawing/2014/main" id="{A4050051-ADB4-4303-A227-2BFE75BC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C1E195-5733-4058-9EE9-7B7907B0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520DE0-000A-4D38-831C-6841CD71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A3F761-0475-4D99-9F0B-349DE8A4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DBEC2D-85F7-4A94-BA79-E7A85DC4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07 / 14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DB606A-497D-49BA-81F4-58948B79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6643721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7AB337-D47F-41FD-BDEE-2B1B9765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AD22B-6A72-421E-8ED7-C3E9C3C5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339991-92D2-4877-9BAB-F62DCE03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350BF0-985C-4634-AE61-B3FDD8B6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D7EDBF-5067-462B-BB21-8C691BE8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D3D171-30D7-43C6-9E4A-03784F1C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BUSINESS VALUE CONVERSATION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BAD724-A953-4B68-805D-2856B639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4D825C-5373-4A8E-81B7-57D343E0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E2BCDA-1143-494E-BAD9-ED2C76FF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CHOOSING WHERE TO 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AFC037-7165-4D6F-AB89-82564E50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666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Adoption &amp;</a:t>
            </a:r>
          </a:p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F75C6F-1418-4E3A-97DD-28B73252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TURN AI INTEREST INTO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FOCUSED BUSINESS VALUE.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113ABA-0B78-4D6F-9C3A-39F5BC68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FC10DA-5EFE-448E-995F-BFBDEB5F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6FD11B-9DF2-4B64-9837-4A5EC9B8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67000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544B76-4C55-49E1-AA1B-9683C09B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952875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53CB2E-9661-4679-BC01-F24353CB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238750"/>
            <a:ext cx="385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043216-5BAA-497B-AE19-1D137AB5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238750"/>
            <a:ext cx="385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C5AD1F-ED7D-48D7-A7F7-D08D5F76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Opportunity assessment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D198B6-1E1B-43CE-A1A0-A579729B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Use-case prioritization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69D68D-07E2-4026-A069-317E05C5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19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Business process analysis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DBBCC5-5505-4370-8E08-06DC3E23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419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roadmaps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5E92D9-91FF-4F66-8834-6F0F6FF8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5816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Operating model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considerations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EC3519-9CFB-40ED-AC47-B3C6618D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7056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A1106A-2CCF-4899-8486-7BEBF0FE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99135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have more AI ideas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than they can realistically pursue.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challenge is determining where value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may emerge, what should be prioritized,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where ownership should remain visible.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416B1B-5A6B-4549-91EF-A2942EAB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7044E2-4BAA-4A67-A716-642AD96F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Organizations often have more AI ideas than they can realistically pursue.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B21F99E7-177C-41FC-B329-F59B53B5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0D4046-2F71-43A0-9C5C-E5A9BC1E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92A099-8BB1-4857-829A-D77472AE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1D26C5-0E6A-4D22-85DB-A2C60BEF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9A9BA7-D045-4C4C-BBE3-C386C1A6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08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3F96D0-DD9A-4087-88F4-5B22C1B7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6341401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C7FBE6-EB42-41D6-8005-7D08D472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C6760C-E516-4C35-A3DF-A78C4676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F56F39-8116-4CE8-8B59-8B71EF20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E5E4D-9E17-4372-BBED-17BEBB84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23DFFB-9B62-4947-9C15-ACD021FC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92DFD5-A220-4582-B9B2-FF5EC845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TRUST AND OVERSIGHT CONVERSATION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689585-9247-4272-9FD1-978F50C8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CDB668-B00E-4793-B6AC-0363AFED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54009D-267B-4B1A-B52F-65DD18CD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PRESERVING TRUST AS EXECUTION CHANGES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2B4BC8-0EE0-48B5-A8EF-FE620775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Governance,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Safety &amp; Resilience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0BCEC7-936F-4BAD-BEA4-227EBD1F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 WHILE REDUCING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OPERATIONAL AND GOVERNANCE RISK.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69603F-6748-44E4-877E-67749A85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1141FB-27D2-47CE-961C-ECEF81E1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083DDA-CA38-4C91-8118-941DA24A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47500C-4965-4674-91E0-86F66045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Responsible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2591F3-3BFA-4C42-8577-5CC23C06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65BA57-899B-4F95-B4EB-DF01CF83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7A1BBF-6A0C-4599-8D32-5F05C869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CBE828-66B4-4518-ABA6-DCF6EB10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risk management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864578-3254-4126-9113-5FA521C1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3D72C7-0CB9-4C96-9FC5-F8E076A3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security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2462B0-02AE-4049-96F8-CDD2980F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A438A8-7A01-4467-B718-F04ECF32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safety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C48D23-399C-4358-833F-CCE4D49E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3EFA5E-8AAF-459F-BA96-D70A1284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privacy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75F150-46A2-4657-85F6-A3884AC1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81FB7F-FF7A-49C5-808C-C8A17CBB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assurance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940F53-FF60-4811-89BF-FA9E6B36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0A9021-6EC4-4833-95AC-FB9C006F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Audit readiness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26AB1A-8069-47CC-B6FE-9E210DC2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81750"/>
            <a:ext cx="385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8CCC83-6B4F-4E8F-9647-9A4771D8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724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Third-party AI risk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B5ADAA-ECAA-49D9-AF7B-2E61C903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83907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3563FB-19D2-4824-9B58-59D390B3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962900"/>
            <a:ext cx="781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adoption grows, organizations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increasingly need decisions that can be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explained, reviewed, governed, and defended.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2E9556-1367-48F9-924A-075B067C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175B06-5826-4D30-B734-7D70CB32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Trust and oversight conversation.</a:t>
            </a:r>
          </a:p>
        </p:txBody>
      </p:sp>
      <p:sp>
        <p:nvSpPr>
          <p:cNvPr id="36" name="pager-pill">
            <a:extLst xmlns:a="http://schemas.openxmlformats.org/drawingml/2006/main">
              <a:ext uri="{FF2B5EF4-FFF2-40B4-BE49-F238E27FC236}">
                <a16:creationId xmlns:a16="http://schemas.microsoft.com/office/drawing/2014/main" id="{77641FD3-D202-4F9E-B699-8CC87F6E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5DFD3F-285C-4F6D-A363-FAAB9F7C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8F13A4-FA3F-46EE-8F0F-F9021B83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21DE72-5E1E-4A17-9940-208CAEA4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847E92-0C33-4A8B-9012-6191C891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09 / 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FBFD437-5FC0-4982-8557-8370C0A8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4656486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F94810-8813-4979-994B-73D65FCC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D30088-4169-4769-862E-E7A046F6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4F0FAC-EAE0-4D50-9FF7-3DF976F1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EAF8B4-984F-4E53-900C-07DB3569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7A8C61-3083-409B-A4E6-1CB98099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52B3B7-B096-4C47-9CF9-B5210E04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FUTURE-STATE 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764F74-3685-433C-9EEF-FD9C93B4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2DB957-75E8-4BAF-90BE-E734BE52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762AB3-5D4E-42A9-BED2-0BF32F9F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IMPROVING WORK WITHOUT LOSING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BDF221-07FE-4C5E-B06F-BBA2E7F5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&amp;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Intelligent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B2B9B3-A7C1-4C16-962C-1BA1A0F3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67375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IMPROVE WORK WITHOUT LOSING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 OR CONTEXT.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7BF5AF-9E7E-4104-AF0E-C5CAC8B4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025529-E8BC-4BD9-89E1-0DCC17F4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18B629-6EBF-4A0E-BE7F-A8A9045F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DB2735-2BD7-4379-9BA9-DE7D56F9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CF1A2E-4B5A-42C3-B5E6-27C65957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241119-DB8C-422B-BA04-126648A8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 collaboration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EB708A-30BD-4277-8F6E-6DF79AC2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058991-8924-41CA-B1B7-5831E97B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Knowledge-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connected workflows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14103C-AF2E-4292-B556-18128884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9B039B-8693-4D40-BAF3-694A1FD8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Traceability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D36C3C-2AF8-40A6-80AC-7AE99433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701BD8-6C0B-4B2F-A396-BE2F1B6E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Governed artifact generation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F9BBB3-ADCF-4D01-9633-F419FC65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6103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45ABBA-A767-4821-B32A-07057343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915150"/>
            <a:ext cx="752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becomes part of operational</a:t>
            </a:r>
          </a:p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execution, understanding, traceability,</a:t>
            </a:r>
          </a:p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ownership must remain visible.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A44036-F9C0-4EE6-A1E2-2396F4BB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6FD3D7-D820-40AE-8103-0F2ABCF0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Future-state operational conversation.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52413D40-071D-47F0-B47F-A5B6CF7B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7A62AF-809E-462B-A23F-EE86C2CD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9C4B91-E04F-49CB-8899-E4EBC3F4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85008A-621B-4E0E-9E02-4351A242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F98A95-D4F9-470D-964F-D28BF84A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6A564C-C9E4-4E02-8F13-C56FA14E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6209966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6136DC-8442-4E64-83D7-C1F64431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00814D-08AB-4CBD-A278-EBC0C0CC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E82F57-4A07-47C4-8BA4-67238913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A7B633-64A1-4B27-90F6-D06661D0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B4E584-D1C9-4475-8CE7-8FA10D23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EBC9D9-4B10-4A09-8E38-42ADBBB5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DIFFERENTIATION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C85E8E-AA0E-42F5-B240-36813093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2821A7-0576-49FD-ADA0-BA1F0F6C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A78234-5E7C-460C-A4DC-E02825C9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66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1BA7D5-BCE6-4A6A-B3F9-CF176900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SHIFTBY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0E9C9F-BFE3-42D7-B5A9-0BEC2C0F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7810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rarely need</a:t>
            </a:r>
          </a:p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more technology.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C7C56C-B039-4272-968A-5920E940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9334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They lose clarity when decisions, knowledge, ownership, and</a:t>
            </a:r>
          </a:p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accountability become harder to preserve.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BD9560-67F3-445C-8961-B01A5011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helps leaders preserve understanding as execution changes.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DDAC12-8B28-45EE-87FB-00CDA3C5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B5705D-0241-4B18-804C-51CAA8F9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6DF3F3-8E2F-41FF-A256-2F50322F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572125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 Krishna Marri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1A3C97-F54D-4C8A-A8E0-928CF38F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28637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1CF03E-0035-409E-AACD-EF55A739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143625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Founder, ShiftBy | IAPP Certified AI Governance Professional (AIGP)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631543-1C01-4977-87CE-03F18E67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7056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Pte. Ltd.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05224D-F7E7-40A0-86F7-3F53BCB9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72390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https://www.shiftby.sg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D46F09-CAD8-4627-BD80-336FDFAC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77914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linkedin.com/in/anandakrishnam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E45488-ED5E-4DE0-AAE8-C6B195E1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8343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anandakrishnam@shiftby.sg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D1DFC0-A8B6-4B7F-8404-E2C121EF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9E74C0-95DE-44E9-B814-081C5411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Differentiation.</a:t>
            </a:r>
          </a:p>
        </p:txBody>
      </p:sp>
      <p:sp>
        <p:nvSpPr>
          <p:cNvPr id="25" name="pager-pill">
            <a:extLst xmlns:a="http://schemas.openxmlformats.org/drawingml/2006/main">
              <a:ext uri="{FF2B5EF4-FFF2-40B4-BE49-F238E27FC236}">
                <a16:creationId xmlns:a16="http://schemas.microsoft.com/office/drawing/2014/main" id="{B922095C-55A6-4D0E-9F5B-96AF9311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6D6B19-0269-44DA-8B78-37468FA6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D8A684-4D8A-48D9-A416-B4687DB1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CBD77A-FECD-4548-A571-4AE6BC1E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1090F4-5E04-4EE2-B48B-F67B6622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6BE30C-C3C2-4C9D-AC7B-B63A8EF5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0584272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C44BE3-F872-46FF-905D-DA90DFED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831AE9-4FF8-434F-B49E-B70A75BC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0DDEBD-2886-4E4D-AD07-E0A3D6FA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77CC04-3421-4870-9723-624FE814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D158D6-086A-4247-B13E-1778DFD6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9A95DD-D03D-44D7-BAED-2B6496BD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CAPABILITY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142705-6D24-450F-8384-690BF3BD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7A94D7-D88D-4DB2-996E-3508F108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THE SHIFTBY CAPABILITY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0FDEED-2EA5-4D6F-B633-2F04BEA1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76400"/>
            <a:ext cx="8191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Four capabilities support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 when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18CD05-F697-4359-A0D7-7493024B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67250"/>
            <a:ext cx="3952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DF4B3A-0E7C-41DB-AC73-7176DC28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47687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Decision Traceability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97BD41-3376-4B2A-BE7C-65AD366A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80085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Rationale remains visible.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AF692D-47AA-42FF-8386-5C47B871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667250"/>
            <a:ext cx="3952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117F2D-96DE-49C4-B8D5-078F3761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47687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Organizational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4951A5-D1F7-47E3-9ECA-30BAB8F6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680085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Meaning survives change.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F8031A-A31F-4FB9-8693-10639C21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67250"/>
            <a:ext cx="3952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4C0322-0A85-4FBA-8B9C-7049F1FD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47687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2C3C67-7EBC-4AF9-988D-551B69E3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80085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Responsibility stays legible.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D81270-3817-40AA-8A96-2648B609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667250"/>
            <a:ext cx="3952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BE8D59-8A79-454E-8DAA-2D6F3339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547687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Adaptive Execution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C9660E-5401-4D9E-A96C-A59064D8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680085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Change remains coherent.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DD9836-331C-4399-8E95-C12A6849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F4C84D-0CCB-4170-9C61-CFEF1771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Reveal underlying capability architecture. No deep dive.</a:t>
            </a:r>
          </a:p>
        </p:txBody>
      </p:sp>
      <p:sp>
        <p:nvSpPr>
          <p:cNvPr id="24" name="pager-pill">
            <a:extLst xmlns:a="http://schemas.openxmlformats.org/drawingml/2006/main">
              <a:ext uri="{FF2B5EF4-FFF2-40B4-BE49-F238E27FC236}">
                <a16:creationId xmlns:a16="http://schemas.microsoft.com/office/drawing/2014/main" id="{4B13DB23-F34F-4C75-B1C2-E045B472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7C2B2B-DE29-4E60-A910-F6299F31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5532FB-541C-4F25-8ED8-98AF6287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69B85D-D2AC-4101-982C-1D9F36C5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952C51-D9AC-40AA-AE29-0CB3FFB8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12 /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4CB299-0685-44A3-A5BE-D08DC2D1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1452080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CEAFB9-7501-49BB-B7FF-6643E147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1FBB23-BAAF-485E-BF8A-461A818F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203493-EF12-4681-9CCA-76EAA806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606386-C1A5-4C6F-8FFC-E69BF79A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CA699E-0532-4655-BAC4-F9BEE057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49EE72-13E4-4C6F-85C8-BC364A91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MOMENT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15E140-DAB6-43BD-B41A-683AAC77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670601-CB06-4951-A1AA-29F6ED32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3F35CA-D612-4E57-A99A-EDE3D724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INTRODUCE SHIFTBY WHEN...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D524CD-2A40-436A-8259-82E80503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4476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needs to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D2DFEA-EE53-4431-A0FD-4088642E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96100"/>
            <a:ext cx="4286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 partner does not need to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diagnose the work. They only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 to recognize the moment.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0FB74C-238E-4529-A114-57A9F395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765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A82F08-DA42-4294-8D3D-0B31962A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242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EC161B-278F-4D98-B534-78503ED3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956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9204F2-0552-47D2-9B37-145A2C6F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575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 new AI initiative needs a clear starting point.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39C519-FAA8-4B89-8FDE-7FA82BDC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767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5FCD3A-A421-453E-A88C-95824B80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048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E5E40C-2186-431E-948A-F036AC5F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1002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ideas exist, but prioritization is unclear.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4982C2-0BBC-4702-A297-B39F6332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6292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0CA4D0-2948-423D-AA4E-6FBF282C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006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B4578E-EF73-4EA9-BFCA-72A08719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625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Governance, auditability, or ownership is missing.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7BF857-61BA-450F-9F87-186398D0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781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2A0A7A-5BBE-48AA-BBE6-F97A8C82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63531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B4C1CC-58D9-47E1-80D0-1867EB11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31507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are moving into live workflows.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3DB96B-00AD-4036-99F4-CFAFE0AC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79343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C07E1A-6CB5-46DE-BE19-134D72C2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7505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A25B77-DDE6-44AD-BDF1-53524570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74676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Critical knowledge is at risk of being lost.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35F38C-49AF-4C57-8611-0A03E053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E8D370-D764-412F-A20C-79AAF6CC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Most important referral slide.</a:t>
            </a:r>
          </a:p>
        </p:txBody>
      </p:sp>
      <p:sp>
        <p:nvSpPr>
          <p:cNvPr id="30" name="pager-pill">
            <a:extLst xmlns:a="http://schemas.openxmlformats.org/drawingml/2006/main">
              <a:ext uri="{FF2B5EF4-FFF2-40B4-BE49-F238E27FC236}">
                <a16:creationId xmlns:a16="http://schemas.microsoft.com/office/drawing/2014/main" id="{DCA5EF72-5224-4B18-9F48-88AD1BD9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FFF9B6-EEB8-4C42-82C1-C53B9047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1AFB18-5358-40DD-B46B-04731902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A93F04-C604-44B7-BB0C-1C7FA257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B45D26-D6A3-49A5-AF81-2978001B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13 / 14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AE2409-D068-4717-9D9F-7B4C6EA4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449902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1A5419-CB9C-48AF-B7DC-594B3CD3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C03B1-89F7-4EF2-A59A-B3DD4797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9BC7C0-693B-4717-A31A-B0D2DEAD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06BA31-C839-4A12-8F82-F767CE0D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8B8F74-9975-4B1C-8D2C-342B694A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31DCE7-EC57-4F2E-87B1-6AB6D835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CONTACT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8CE650-8F13-4FD7-8F4B-BBAE4BD0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2C2BFF-EED0-4DF4-8FDC-66BCA4D8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C965AA-216E-443C-86A4-84822C7F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83E599-CDAE-45E5-A75A-3233BEEB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MAKE AN INTRODUCTION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6769B9-8CED-4BB3-BE98-3F1C937B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6191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changes.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preserves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D38EDE-F2E4-4D0F-A887-FE20B4A1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628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Introduce ShiftBy when understanding</a:t>
            </a:r>
          </a:p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needs to survive change.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8D0D21-193A-4534-9BC6-1CF6CDA0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0ED7B6-F3BD-44E5-80A0-7F660A1D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1FC4D9-B82D-4307-9FCE-36CF16AB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387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4668A9-D4E5-470F-A640-89A194C2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5721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 Krishna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40C7A3-727F-4D5D-B2A5-512D6B10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Founder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13FF33-F873-4F48-AA53-6FB0745A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724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Pte. Ltd.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78A779-FC0B-489A-91E2-349C8C66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286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https://www.shiftby.sg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A62608-9F2B-46F3-BE9C-DFD0ED5F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8390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linkedin.com/in/anandakrishnam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4A2487-4ADA-42CB-BF57-AA296B42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3915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anandakrishnam@shiftby.sg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314C76-EE59-4418-A8D4-BA5B819E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8151BC-C128-4B13-AB91-AA89EE6B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SHIFTBY_PARTNER_BRIEF_V1A_OPENDESIGN_IMPLEMENTATION_PASS</a:t>
            </a:r>
          </a:p>
        </p:txBody>
      </p:sp>
      <p:sp>
        <p:nvSpPr>
          <p:cNvPr id="24" name="pager-pill">
            <a:extLst xmlns:a="http://schemas.openxmlformats.org/drawingml/2006/main">
              <a:ext uri="{FF2B5EF4-FFF2-40B4-BE49-F238E27FC236}">
                <a16:creationId xmlns:a16="http://schemas.microsoft.com/office/drawing/2014/main" id="{EDEEBACD-CF0F-4060-8A20-E759F751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67428B-000D-4D5C-A62A-01AE9C2C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0ECF26-D923-4EAA-91BD-FBD74396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BC7DBD-9044-4382-A1CC-D819DB72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03326E-9B4E-4128-A68E-87FB043C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14 /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1B9684-7853-481A-BCB4-BFCFCD1C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60254086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4C2667-AA37-480D-9C45-199917EE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365092-D5D8-467F-93E4-1BA1F911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E0E880-7162-4A38-B3CD-43A93530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E0CB2B-AB58-498F-BB9A-9A4CD8A3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F2B4BD-B5D4-4D19-9D91-CD8F5D11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D29CE1-1AEB-4DCB-9717-1518DE4F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9B627C-E31F-4960-9B75-F9D7C17F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3517532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097AF9-CC29-42D0-90ED-84554AC2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E44F1D-2088-47FA-A60B-881967EB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E2C36-BF93-428B-AE01-6FBE1892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8E05BB-D1C7-44C3-9889-56971EFE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A9C29-9405-4193-B864-D08E3CB7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7F3F4F-1508-4668-A464-3B6C64D0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82C16B-7A06-40E2-A8DC-958D8932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6822726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437765-DBBF-43D5-A8FF-1730EFB8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33D72D-604F-476F-BCF3-DCB25014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5EB90D-7C6E-41E9-8673-867257C1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5B2FBF-0946-432D-B507-41B93D06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2883C4-16DE-418F-A82D-C88B55A0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8FC5B3-3233-4695-A2F5-81CE5C4D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52AB45-7A80-4519-A6B5-AB8133D0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2114343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8A883A-BB47-4A18-B2BF-653973C1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7E4AFE-D080-48A3-8CDB-F64DA6F2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35DD0-2E09-4C24-8A62-FD51C67E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DB7012-0BAA-4E9C-A4FE-2D657773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BC4E9E-B737-497B-AD8D-230B09DD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F97FBE-19BF-47DE-B876-8F4C502F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B85B02-842F-4644-A5B4-33E5999E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781121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2026-06-15T06:26:02.0140000Z</dcterms:created>
  <dcterms:modified xsi:type="dcterms:W3CDTF">2026-06-15T06:26:02.0140000Z</dcterms:modified>
</coreProperties>
</file>