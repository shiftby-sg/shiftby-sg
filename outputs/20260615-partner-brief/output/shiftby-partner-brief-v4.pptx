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ae7c6b912ea40aa" /><Relationship Type="http://schemas.openxmlformats.org/officeDocument/2006/relationships/extended-properties" Target="/docProps/app.xml" Id="R15ba8abaa0024446" /><Relationship Type="http://schemas.openxmlformats.org/officeDocument/2006/relationships/officeDocument" Target="/ppt/presentation.xml" Id="R8b8a9ab9f006426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ea0bc2379bc4fcb"/>
  </p:sldMasterIdLst>
  <p:notesMasterIdLst>
    <p:notesMasterId xmlns:r="http://schemas.openxmlformats.org/officeDocument/2006/relationships" r:id="R67ece2c6d2ca4296"/>
  </p:notesMasterIdLst>
  <p:sldIdLst>
    <p:sldId xmlns:r="http://schemas.openxmlformats.org/officeDocument/2006/relationships" id="256" r:id="R012045ae026e4d73"/>
    <p:sldId xmlns:r="http://schemas.openxmlformats.org/officeDocument/2006/relationships" id="257" r:id="R33ae8a8b058c49eb"/>
    <p:sldId xmlns:r="http://schemas.openxmlformats.org/officeDocument/2006/relationships" id="258" r:id="R8e27433d93d249fc"/>
    <p:sldId xmlns:r="http://schemas.openxmlformats.org/officeDocument/2006/relationships" id="259" r:id="Rec8aea5a1a3346d7"/>
    <p:sldId xmlns:r="http://schemas.openxmlformats.org/officeDocument/2006/relationships" id="260" r:id="R743916118c054305"/>
    <p:sldId xmlns:r="http://schemas.openxmlformats.org/officeDocument/2006/relationships" id="261" r:id="R58ab1950359e40c5"/>
    <p:sldId xmlns:r="http://schemas.openxmlformats.org/officeDocument/2006/relationships" id="262" r:id="R60dae3ae39c741fc"/>
    <p:sldId xmlns:r="http://schemas.openxmlformats.org/officeDocument/2006/relationships" id="263" r:id="R05e3b73d37d84d5d"/>
    <p:sldId xmlns:r="http://schemas.openxmlformats.org/officeDocument/2006/relationships" id="264" r:id="Rb4996650c71c472d"/>
    <p:sldId xmlns:r="http://schemas.openxmlformats.org/officeDocument/2006/relationships" id="265" r:id="Rfb86dcd7d9d448de"/>
    <p:sldId xmlns:r="http://schemas.openxmlformats.org/officeDocument/2006/relationships" id="266" r:id="R97ba6bc981524f66"/>
    <p:sldId xmlns:r="http://schemas.openxmlformats.org/officeDocument/2006/relationships" id="267" r:id="R0a5de012af5a4714"/>
    <p:sldId xmlns:r="http://schemas.openxmlformats.org/officeDocument/2006/relationships" id="268" r:id="Re74a55db7d99422d"/>
    <p:sldId xmlns:r="http://schemas.openxmlformats.org/officeDocument/2006/relationships" id="269" r:id="R85c3e824c2af4f4c"/>
    <p:sldId xmlns:r="http://schemas.openxmlformats.org/officeDocument/2006/relationships" id="270" r:id="R783479587b1f46fd"/>
    <p:sldId xmlns:r="http://schemas.openxmlformats.org/officeDocument/2006/relationships" id="271" r:id="R67a51221f7db4519"/>
    <p:sldId xmlns:r="http://schemas.openxmlformats.org/officeDocument/2006/relationships" id="272" r:id="R4ddd588933cf4ad3"/>
    <p:sldId xmlns:r="http://schemas.openxmlformats.org/officeDocument/2006/relationships" id="273" r:id="Rb822f322f9cc493f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be7d87d75024853" /><Relationship Type="http://schemas.openxmlformats.org/officeDocument/2006/relationships/slideMaster" Target="/ppt/slideMasters/slideMaster1.xml" Id="Reea0bc2379bc4fcb" /><Relationship Type="http://schemas.openxmlformats.org/officeDocument/2006/relationships/notesMaster" Target="/ppt/notesMasters/notesMaster1.xml" Id="R67ece2c6d2ca4296" /><Relationship Type="http://schemas.openxmlformats.org/officeDocument/2006/relationships/presProps" Target="/ppt/presProps.xml" Id="R59ca6da3a2e54a13" /><Relationship Type="http://schemas.openxmlformats.org/officeDocument/2006/relationships/viewProps" Target="/ppt/viewProps.xml" Id="Re3bfca5bb3c94efd" /><Relationship Type="http://schemas.openxmlformats.org/officeDocument/2006/relationships/tableStyles" Target="/ppt/tableStyles.xml" Id="R0516f4923e5d4f2c" /><Relationship Type="http://schemas.openxmlformats.org/officeDocument/2006/relationships/slide" Target="/ppt/slides/slide1.xml" Id="R012045ae026e4d73" /><Relationship Type="http://schemas.openxmlformats.org/officeDocument/2006/relationships/slide" Target="/ppt/slides/slide2.xml" Id="R33ae8a8b058c49eb" /><Relationship Type="http://schemas.openxmlformats.org/officeDocument/2006/relationships/slide" Target="/ppt/slides/slide3.xml" Id="R8e27433d93d249fc" /><Relationship Type="http://schemas.openxmlformats.org/officeDocument/2006/relationships/slide" Target="/ppt/slides/slide4.xml" Id="Rec8aea5a1a3346d7" /><Relationship Type="http://schemas.openxmlformats.org/officeDocument/2006/relationships/slide" Target="/ppt/slides/slide5.xml" Id="R743916118c054305" /><Relationship Type="http://schemas.openxmlformats.org/officeDocument/2006/relationships/slide" Target="/ppt/slides/slide6.xml" Id="R58ab1950359e40c5" /><Relationship Type="http://schemas.openxmlformats.org/officeDocument/2006/relationships/slide" Target="/ppt/slides/slide7.xml" Id="R60dae3ae39c741fc" /><Relationship Type="http://schemas.openxmlformats.org/officeDocument/2006/relationships/slide" Target="/ppt/slides/slide8.xml" Id="R05e3b73d37d84d5d" /><Relationship Type="http://schemas.openxmlformats.org/officeDocument/2006/relationships/slide" Target="/ppt/slides/slide9.xml" Id="Rb4996650c71c472d" /><Relationship Type="http://schemas.openxmlformats.org/officeDocument/2006/relationships/slide" Target="/ppt/slides/slide10.xml" Id="Rfb86dcd7d9d448de" /><Relationship Type="http://schemas.openxmlformats.org/officeDocument/2006/relationships/slide" Target="/ppt/slides/slide11.xml" Id="R97ba6bc981524f66" /><Relationship Type="http://schemas.openxmlformats.org/officeDocument/2006/relationships/slide" Target="/ppt/slides/slide12.xml" Id="R0a5de012af5a4714" /><Relationship Type="http://schemas.openxmlformats.org/officeDocument/2006/relationships/slide" Target="/ppt/slides/slide13.xml" Id="Re74a55db7d99422d" /><Relationship Type="http://schemas.openxmlformats.org/officeDocument/2006/relationships/slide" Target="/ppt/slides/slide14.xml" Id="R85c3e824c2af4f4c" /><Relationship Type="http://schemas.openxmlformats.org/officeDocument/2006/relationships/slide" Target="/ppt/slides/slide15.xml" Id="R783479587b1f46fd" /><Relationship Type="http://schemas.openxmlformats.org/officeDocument/2006/relationships/slide" Target="/ppt/slides/slide16.xml" Id="R67a51221f7db4519" /><Relationship Type="http://schemas.openxmlformats.org/officeDocument/2006/relationships/slide" Target="/ppt/slides/slide17.xml" Id="R4ddd588933cf4ad3" /><Relationship Type="http://schemas.openxmlformats.org/officeDocument/2006/relationships/slide" Target="/ppt/slides/slide18.xml" Id="Rb822f322f9cc49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25e69d8145843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85cd3219cce42ab" /><Relationship Type="http://schemas.openxmlformats.org/officeDocument/2006/relationships/notesMaster" Target="/ppt/notesMasters/notesMaster1.xml" Id="R194c8d02c3ab415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7f45f9cc78b4232" /><Relationship Type="http://schemas.openxmlformats.org/officeDocument/2006/relationships/notesMaster" Target="/ppt/notesMasters/notesMaster1.xml" Id="R86cb780db785478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6478a898c0e4299" /><Relationship Type="http://schemas.openxmlformats.org/officeDocument/2006/relationships/notesMaster" Target="/ppt/notesMasters/notesMaster1.xml" Id="R0b4bbf0f4b6f48f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a682c2f750c4d85" /><Relationship Type="http://schemas.openxmlformats.org/officeDocument/2006/relationships/notesMaster" Target="/ppt/notesMasters/notesMaster1.xml" Id="Rdcc180d1f91449c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9271afa96924ce2" /><Relationship Type="http://schemas.openxmlformats.org/officeDocument/2006/relationships/notesMaster" Target="/ppt/notesMasters/notesMaster1.xml" Id="R3c9b090abc7f4a9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825226531044569" /><Relationship Type="http://schemas.openxmlformats.org/officeDocument/2006/relationships/notesMaster" Target="/ppt/notesMasters/notesMaster1.xml" Id="Rd7d2d858b245432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aee0c66e35d4f07" /><Relationship Type="http://schemas.openxmlformats.org/officeDocument/2006/relationships/notesMaster" Target="/ppt/notesMasters/notesMaster1.xml" Id="Rb610466e0cac4fc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4848afa98174bac" /><Relationship Type="http://schemas.openxmlformats.org/officeDocument/2006/relationships/notesMaster" Target="/ppt/notesMasters/notesMaster1.xml" Id="R3d4a3564237e410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39352c25ae342e1" /><Relationship Type="http://schemas.openxmlformats.org/officeDocument/2006/relationships/notesMaster" Target="/ppt/notesMasters/notesMaster1.xml" Id="R682fa3d779944a6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6015455ec154ac7" /><Relationship Type="http://schemas.openxmlformats.org/officeDocument/2006/relationships/notesMaster" Target="/ppt/notesMasters/notesMaster1.xml" Id="R6886a4d332b0435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59cef5259b247fd" /><Relationship Type="http://schemas.openxmlformats.org/officeDocument/2006/relationships/notesMaster" Target="/ppt/notesMasters/notesMaster1.xml" Id="R8caafe9598c3492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28038e86a254cbe" /><Relationship Type="http://schemas.openxmlformats.org/officeDocument/2006/relationships/notesMaster" Target="/ppt/notesMasters/notesMaster1.xml" Id="Ra08b03d51e2f4d4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90a3815bd1045a4" /><Relationship Type="http://schemas.openxmlformats.org/officeDocument/2006/relationships/notesMaster" Target="/ppt/notesMasters/notesMaster1.xml" Id="R7f74d04625174ff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8cf67ffaf5c40d0" /><Relationship Type="http://schemas.openxmlformats.org/officeDocument/2006/relationships/notesMaster" Target="/ppt/notesMasters/notesMaster1.xml" Id="Rda033bfc98624ed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f54977eff0542cf" /><Relationship Type="http://schemas.openxmlformats.org/officeDocument/2006/relationships/notesMaster" Target="/ppt/notesMasters/notesMaster1.xml" Id="Rc0909cf29df0470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0ccdad2ff054c19" /><Relationship Type="http://schemas.openxmlformats.org/officeDocument/2006/relationships/notesMaster" Target="/ppt/notesMasters/notesMaster1.xml" Id="R8f6281517c3243b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10c7bb664d74da2" /><Relationship Type="http://schemas.openxmlformats.org/officeDocument/2006/relationships/notesMaster" Target="/ppt/notesMasters/notesMaster1.xml" Id="R0834f6cea1aa4f7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c97bc69fe9a4d15" /><Relationship Type="http://schemas.openxmlformats.org/officeDocument/2006/relationships/notesMaster" Target="/ppt/notesMasters/notesMaster1.xml" Id="R2d7d78f557ca4ea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c4fc69ee564d7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727cc46e0514e49" /><Relationship Type="http://schemas.openxmlformats.org/officeDocument/2006/relationships/slideLayout" Target="/ppt/slideLayouts/slideLayout1.xml" Id="Re68fd0bbf3844b5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68fd0bbf3844b5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40cb6d01b44b9f" /><Relationship Type="http://schemas.openxmlformats.org/officeDocument/2006/relationships/image" Target="/ppt/media/image.png" Id="Rdf3c8b8e76414f29" /><Relationship Type="http://schemas.openxmlformats.org/officeDocument/2006/relationships/notesSlide" Target="/ppt/notesSlides/notesSlide1.xml" Id="R4a8ece384bac412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00c07413984ed1" /><Relationship Type="http://schemas.openxmlformats.org/officeDocument/2006/relationships/image" Target="/ppt/media/image2.png" Id="Rf751bf6644224b8a" /><Relationship Type="http://schemas.openxmlformats.org/officeDocument/2006/relationships/notesSlide" Target="/ppt/notesSlides/notesSlide2.xml" Id="R64ecfd00286d489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4da0c579f44dbe" /><Relationship Type="http://schemas.openxmlformats.org/officeDocument/2006/relationships/image" Target="/ppt/media/image3.png" Id="Rc79ba766bea14652" /><Relationship Type="http://schemas.openxmlformats.org/officeDocument/2006/relationships/notesSlide" Target="/ppt/notesSlides/notesSlide3.xml" Id="R2a59013f1be14d5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579ddc7fb94945" /><Relationship Type="http://schemas.openxmlformats.org/officeDocument/2006/relationships/image" Target="/ppt/media/image4.png" Id="R3e1baa049c0e46d0" /><Relationship Type="http://schemas.openxmlformats.org/officeDocument/2006/relationships/notesSlide" Target="/ppt/notesSlides/notesSlide4.xml" Id="Rc7710a987df74c0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444f87d81e4444" /><Relationship Type="http://schemas.openxmlformats.org/officeDocument/2006/relationships/image" Target="/ppt/media/image5.png" Id="R85593b261a2d446f" /><Relationship Type="http://schemas.openxmlformats.org/officeDocument/2006/relationships/notesSlide" Target="/ppt/notesSlides/notesSlide5.xml" Id="R6224957dcf5d44a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862a79461b42c6" /><Relationship Type="http://schemas.openxmlformats.org/officeDocument/2006/relationships/image" Target="/ppt/media/image6.png" Id="Rc04d63d999c842e7" /><Relationship Type="http://schemas.openxmlformats.org/officeDocument/2006/relationships/notesSlide" Target="/ppt/notesSlides/notesSlide6.xml" Id="Rc8fb98e587d84de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5c8cdccb7c4187" /><Relationship Type="http://schemas.openxmlformats.org/officeDocument/2006/relationships/image" Target="/ppt/media/image7.png" Id="Raedaf3a5927f424b" /><Relationship Type="http://schemas.openxmlformats.org/officeDocument/2006/relationships/notesSlide" Target="/ppt/notesSlides/notesSlide7.xml" Id="R9025b622ee2445e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5227f912d24187" /><Relationship Type="http://schemas.openxmlformats.org/officeDocument/2006/relationships/image" Target="/ppt/media/image8.png" Id="Rf34e2332aa7446e8" /><Relationship Type="http://schemas.openxmlformats.org/officeDocument/2006/relationships/notesSlide" Target="/ppt/notesSlides/notesSlide8.xml" Id="R3fb744f166564ac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362fe0895248e0" /><Relationship Type="http://schemas.openxmlformats.org/officeDocument/2006/relationships/image" Target="/ppt/media/image9.png" Id="R278ef782e3e141d5" /><Relationship Type="http://schemas.openxmlformats.org/officeDocument/2006/relationships/notesSlide" Target="/ppt/notesSlides/notesSlide9.xml" Id="R090b12335fb74bf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d39adebc264409" /><Relationship Type="http://schemas.openxmlformats.org/officeDocument/2006/relationships/image" Target="/ppt/media/image10.png" Id="R6a7878ae68ec4b3b" /><Relationship Type="http://schemas.openxmlformats.org/officeDocument/2006/relationships/notesSlide" Target="/ppt/notesSlides/notesSlide10.xml" Id="Rb94bc2b8ca6b44e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558da991e94c77" /><Relationship Type="http://schemas.openxmlformats.org/officeDocument/2006/relationships/image" Target="/ppt/media/image11.png" Id="R9426948d62814911" /><Relationship Type="http://schemas.openxmlformats.org/officeDocument/2006/relationships/notesSlide" Target="/ppt/notesSlides/notesSlide11.xml" Id="R253d6b5dca814af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6c1a247f934006" /><Relationship Type="http://schemas.openxmlformats.org/officeDocument/2006/relationships/image" Target="/ppt/media/image12.png" Id="R5349f0bf5e1144f8" /><Relationship Type="http://schemas.openxmlformats.org/officeDocument/2006/relationships/notesSlide" Target="/ppt/notesSlides/notesSlide12.xml" Id="R60558b012e99476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fbaa7fca3048b6" /><Relationship Type="http://schemas.openxmlformats.org/officeDocument/2006/relationships/image" Target="/ppt/media/image13.png" Id="R67d446cb3b024edd" /><Relationship Type="http://schemas.openxmlformats.org/officeDocument/2006/relationships/notesSlide" Target="/ppt/notesSlides/notesSlide13.xml" Id="Rc329c3f313cc41f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68792208ee454a" /><Relationship Type="http://schemas.openxmlformats.org/officeDocument/2006/relationships/image" Target="/ppt/media/image14.png" Id="R31009be35f4748ed" /><Relationship Type="http://schemas.openxmlformats.org/officeDocument/2006/relationships/notesSlide" Target="/ppt/notesSlides/notesSlide14.xml" Id="R4d8dcbe61b5647e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cd88c4e39f4c1d" /><Relationship Type="http://schemas.openxmlformats.org/officeDocument/2006/relationships/image" Target="/ppt/media/image15.png" Id="R70413a24e5184c06" /><Relationship Type="http://schemas.openxmlformats.org/officeDocument/2006/relationships/notesSlide" Target="/ppt/notesSlides/notesSlide15.xml" Id="Rdb21f4c864e049e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d752cc064341f4" /><Relationship Type="http://schemas.openxmlformats.org/officeDocument/2006/relationships/image" Target="/ppt/media/image16.png" Id="R8942311a7280431e" /><Relationship Type="http://schemas.openxmlformats.org/officeDocument/2006/relationships/notesSlide" Target="/ppt/notesSlides/notesSlide16.xml" Id="R0044f9a7149b43e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46f084660c421c" /><Relationship Type="http://schemas.openxmlformats.org/officeDocument/2006/relationships/image" Target="/ppt/media/image17.png" Id="Re69baec44fa648b8" /><Relationship Type="http://schemas.openxmlformats.org/officeDocument/2006/relationships/notesSlide" Target="/ppt/notesSlides/notesSlide17.xml" Id="Ra22e1581037a455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af64c645044f59" /><Relationship Type="http://schemas.openxmlformats.org/officeDocument/2006/relationships/image" Target="/ppt/media/image18.png" Id="R7c54acdaad4c48cc" /><Relationship Type="http://schemas.openxmlformats.org/officeDocument/2006/relationships/notesSlide" Target="/ppt/notesSlides/notesSlide18.xml" Id="R410715706fc84ef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3c8b8e76414f2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92676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51bf6644224b8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78597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9ba766bea1465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48739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1baa049c0e46d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73111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593b261a2d446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1708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4d63d999c842e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35675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daf3a5927f424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7350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4e2332aa7446e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90533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8ef782e3e141d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33106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7878ae68ec4b3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45062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26948d6281491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04162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49f0bf5e1144f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72610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d446cb3b024ed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46820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009be35f4748e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45818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ositioning-bg">
            <a:extLst xmlns:a="http://schemas.openxmlformats.org/drawingml/2006/main">
              <a:ext uri="{FF2B5EF4-FFF2-40B4-BE49-F238E27FC236}">
                <a16:creationId xmlns:a16="http://schemas.microsoft.com/office/drawing/2014/main" id="{DF13A666-59D2-4E3F-BB55-670C2C659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A"/>
          </a:solidFill>
          <a:ln xmlns:a="http://schemas.openxmlformats.org/drawingml/2006/main" w="0">
            <a:solidFill>
              <a:srgbClr val="F5F6FA"/>
            </a:solidFill>
          </a:ln>
        </p:spPr>
      </p:sp>
      <p:sp>
        <p:nvSpPr>
          <p:cNvPr id="2" name="positioning-brand">
            <a:extLst xmlns:a="http://schemas.openxmlformats.org/drawingml/2006/main">
              <a:ext uri="{FF2B5EF4-FFF2-40B4-BE49-F238E27FC236}">
                <a16:creationId xmlns:a16="http://schemas.microsoft.com/office/drawing/2014/main" id="{4A5A36E2-049B-4BB4-8DC5-833CF8232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953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180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SHIFTBY</a:t>
            </a:r>
          </a:p>
        </p:txBody>
      </p:sp>
      <p:sp>
        <p:nvSpPr>
          <p:cNvPr id="3" name="positioning-meta">
            <a:extLst xmlns:a="http://schemas.openxmlformats.org/drawingml/2006/main">
              <a:ext uri="{FF2B5EF4-FFF2-40B4-BE49-F238E27FC236}">
                <a16:creationId xmlns:a16="http://schemas.microsoft.com/office/drawing/2014/main" id="{A50E4129-F4E1-45B7-891C-C18D82488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514350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A6F7A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6A6F7A"/>
                </a:solidFill>
                <a:latin typeface="Aptos Mono"/>
                <a:ea typeface="Aptos Mono"/>
                <a:cs typeface="Aptos Mono"/>
              </a:rPr>
              <a:t>POSITIONING</a:t>
            </a:r>
          </a:p>
        </p:txBody>
      </p:sp>
      <p:sp>
        <p:nvSpPr>
          <p:cNvPr id="4" name="positioning-rule-top">
            <a:extLst xmlns:a="http://schemas.openxmlformats.org/drawingml/2006/main">
              <a:ext uri="{FF2B5EF4-FFF2-40B4-BE49-F238E27FC236}">
                <a16:creationId xmlns:a16="http://schemas.microsoft.com/office/drawing/2014/main" id="{047FEBBA-E3E4-424D-A72E-8A1ADAEA3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028700"/>
            <a:ext cx="1577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6"/>
          </a:solidFill>
          <a:ln xmlns:a="http://schemas.openxmlformats.org/drawingml/2006/main" w="0">
            <a:solidFill>
              <a:srgbClr val="D9DDE6"/>
            </a:solidFill>
          </a:ln>
        </p:spPr>
      </p:sp>
      <p:sp>
        <p:nvSpPr>
          <p:cNvPr id="5" name="positioning-rule-bottom">
            <a:extLst xmlns:a="http://schemas.openxmlformats.org/drawingml/2006/main">
              <a:ext uri="{FF2B5EF4-FFF2-40B4-BE49-F238E27FC236}">
                <a16:creationId xmlns:a16="http://schemas.microsoft.com/office/drawing/2014/main" id="{EA7039CE-B074-4D68-AB03-9F0CB1A05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9410700"/>
            <a:ext cx="1577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6"/>
          </a:solidFill>
          <a:ln xmlns:a="http://schemas.openxmlformats.org/drawingml/2006/main" w="0">
            <a:solidFill>
              <a:srgbClr val="D9DDE6"/>
            </a:solidFill>
          </a:ln>
        </p:spPr>
      </p:sp>
      <p:sp>
        <p:nvSpPr>
          <p:cNvPr id="6" name="positioning-footer">
            <a:extLst xmlns:a="http://schemas.openxmlformats.org/drawingml/2006/main">
              <a:ext uri="{FF2B5EF4-FFF2-40B4-BE49-F238E27FC236}">
                <a16:creationId xmlns:a16="http://schemas.microsoft.com/office/drawing/2014/main" id="{5D82AAC3-DE32-4CCC-86A1-C5C23021D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9505950"/>
            <a:ext cx="857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A6F7A"/>
                </a:solidFill>
                <a:latin typeface="Ubuntu"/>
                <a:ea typeface="Ubuntu"/>
                <a:cs typeface="Ubuntu"/>
              </a:defRPr>
            </a:pPr>
            <a:r>
              <a:rPr sz="1350" b="0">
                <a:solidFill>
                  <a:srgbClr val="6A6F7A"/>
                </a:solidFill>
                <a:latin typeface="Ubuntu"/>
                <a:ea typeface="Ubuntu"/>
                <a:cs typeface="Ubuntu"/>
              </a:rPr>
              <a:t>Partner talk track: make the value easy to repeat.</a:t>
            </a:r>
          </a:p>
        </p:txBody>
      </p:sp>
      <p:sp>
        <p:nvSpPr>
          <p:cNvPr id="7" name="positioning-page">
            <a:extLst xmlns:a="http://schemas.openxmlformats.org/drawingml/2006/main">
              <a:ext uri="{FF2B5EF4-FFF2-40B4-BE49-F238E27FC236}">
                <a16:creationId xmlns:a16="http://schemas.microsoft.com/office/drawing/2014/main" id="{1007DDC8-9B3B-4F84-96F2-1CB20557C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952500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6A6F7A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6A6F7A"/>
                </a:solidFill>
                <a:latin typeface="Aptos Mono"/>
                <a:ea typeface="Aptos Mono"/>
                <a:cs typeface="Aptos Mono"/>
              </a:rPr>
              <a:t>15 / 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A0DC7C-B707-49BC-B43A-4F071F2AF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7907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C60C6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5C60C6"/>
                </a:solidFill>
                <a:latin typeface="Aptos Mono"/>
                <a:ea typeface="Aptos Mono"/>
                <a:cs typeface="Aptos Mono"/>
              </a:rPr>
              <a:t>POSITIONING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CB8847-0DED-4CFF-92D6-5891ED8FC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90750"/>
            <a:ext cx="9906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495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How partners should position ShiftBy in 20 seconds.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AB638E-D59F-47EB-87D7-81F145716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43400"/>
            <a:ext cx="7239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22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ShiftBy is a Singapore-based, founder-led advisory practice. It helps leaders preserve understanding when execution becomes distributed across people, systems, suppliers, automation, and AI.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3B7E91-DEF5-4A4B-85EA-718A0C8E1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095500"/>
            <a:ext cx="615315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C60C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8670CB-3373-474E-A3A4-8076CC686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343150"/>
            <a:ext cx="5619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225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Say this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E654B1-8007-4519-9448-8B6D09BCE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124200"/>
            <a:ext cx="561975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ShiftBy helps leaders preserve understanding when execution changes.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It is most useful when decisions, knowledge, ownership, and accountability become harder to keep connected.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A5D60B-4035-438A-90B6-B319DF75D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6477000"/>
            <a:ext cx="61531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AB2233-51E0-4723-B352-354FB9702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7246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C60C6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5C60C6"/>
                </a:solidFill>
                <a:latin typeface="Aptos Mono"/>
                <a:ea typeface="Aptos Mono"/>
                <a:cs typeface="Aptos Mono"/>
              </a:rPr>
              <a:t>Best used when a customer says: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C632BC-7DC2-4992-9606-0134EDBCD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7086600"/>
            <a:ext cx="5334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1800" b="0">
                <a:solidFill>
                  <a:srgbClr val="0D0F12"/>
                </a:solidFill>
                <a:latin typeface="Ubuntu"/>
                <a:ea typeface="Ubuntu"/>
                <a:cs typeface="Ubuntu"/>
              </a:rPr>
              <a:t>AI adoption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1800" b="0">
                <a:solidFill>
                  <a:srgbClr val="0D0F12"/>
                </a:solidFill>
                <a:latin typeface="Ubuntu"/>
                <a:ea typeface="Ubuntu"/>
                <a:cs typeface="Ubuntu"/>
              </a:rPr>
              <a:t>Governance and assurance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1800" b="0">
                <a:solidFill>
                  <a:srgbClr val="0D0F12"/>
                </a:solidFill>
                <a:latin typeface="Ubuntu"/>
                <a:ea typeface="Ubuntu"/>
                <a:cs typeface="Ubuntu"/>
              </a:rPr>
              <a:t>Knowledge loss and drift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413a24e5184c06"/>
          <a:stretch xmlns:a="http://schemas.openxmlformats.org/drawingml/2006/main"/>
        </p:blipFill>
        <p:spPr>
          <a:xfrm xmlns:a="http://schemas.openxmlformats.org/drawingml/2006/main">
            <a:off x="1257300" y="457200"/>
            <a:ext cx="323850" cy="323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246378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ngagement-bg">
            <a:extLst xmlns:a="http://schemas.openxmlformats.org/drawingml/2006/main">
              <a:ext uri="{FF2B5EF4-FFF2-40B4-BE49-F238E27FC236}">
                <a16:creationId xmlns:a16="http://schemas.microsoft.com/office/drawing/2014/main" id="{09B9FDBC-7ABA-460C-B812-CA39806FF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A"/>
          </a:solidFill>
          <a:ln xmlns:a="http://schemas.openxmlformats.org/drawingml/2006/main" w="0">
            <a:solidFill>
              <a:srgbClr val="F5F6FA"/>
            </a:solidFill>
          </a:ln>
        </p:spPr>
      </p:sp>
      <p:sp>
        <p:nvSpPr>
          <p:cNvPr id="2" name="engagement-brand">
            <a:extLst xmlns:a="http://schemas.openxmlformats.org/drawingml/2006/main">
              <a:ext uri="{FF2B5EF4-FFF2-40B4-BE49-F238E27FC236}">
                <a16:creationId xmlns:a16="http://schemas.microsoft.com/office/drawing/2014/main" id="{932BD54F-BCBA-4608-BCC6-A49CC939D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953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180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SHIFTBY</a:t>
            </a:r>
          </a:p>
        </p:txBody>
      </p:sp>
      <p:sp>
        <p:nvSpPr>
          <p:cNvPr id="3" name="engagement-meta">
            <a:extLst xmlns:a="http://schemas.openxmlformats.org/drawingml/2006/main">
              <a:ext uri="{FF2B5EF4-FFF2-40B4-BE49-F238E27FC236}">
                <a16:creationId xmlns:a16="http://schemas.microsoft.com/office/drawing/2014/main" id="{F3E1627C-E83D-42FC-9B67-1AA187CA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514350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A6F7A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6A6F7A"/>
                </a:solidFill>
                <a:latin typeface="Aptos Mono"/>
                <a:ea typeface="Aptos Mono"/>
                <a:cs typeface="Aptos Mono"/>
              </a:rPr>
              <a:t>ENGAGEMENT MODEL</a:t>
            </a:r>
          </a:p>
        </p:txBody>
      </p:sp>
      <p:sp>
        <p:nvSpPr>
          <p:cNvPr id="4" name="engagement-rule-top">
            <a:extLst xmlns:a="http://schemas.openxmlformats.org/drawingml/2006/main">
              <a:ext uri="{FF2B5EF4-FFF2-40B4-BE49-F238E27FC236}">
                <a16:creationId xmlns:a16="http://schemas.microsoft.com/office/drawing/2014/main" id="{5E7E7170-4BD5-481F-9B86-DCD540AF1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028700"/>
            <a:ext cx="1577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6"/>
          </a:solidFill>
          <a:ln xmlns:a="http://schemas.openxmlformats.org/drawingml/2006/main" w="0">
            <a:solidFill>
              <a:srgbClr val="D9DDE6"/>
            </a:solidFill>
          </a:ln>
        </p:spPr>
      </p:sp>
      <p:sp>
        <p:nvSpPr>
          <p:cNvPr id="5" name="engagement-rule-bottom">
            <a:extLst xmlns:a="http://schemas.openxmlformats.org/drawingml/2006/main">
              <a:ext uri="{FF2B5EF4-FFF2-40B4-BE49-F238E27FC236}">
                <a16:creationId xmlns:a16="http://schemas.microsoft.com/office/drawing/2014/main" id="{AC37E46F-09FD-46E5-8288-2862246F6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9410700"/>
            <a:ext cx="1577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6"/>
          </a:solidFill>
          <a:ln xmlns:a="http://schemas.openxmlformats.org/drawingml/2006/main" w="0">
            <a:solidFill>
              <a:srgbClr val="D9DDE6"/>
            </a:solidFill>
          </a:ln>
        </p:spPr>
      </p:sp>
      <p:sp>
        <p:nvSpPr>
          <p:cNvPr id="6" name="engagement-footer">
            <a:extLst xmlns:a="http://schemas.openxmlformats.org/drawingml/2006/main">
              <a:ext uri="{FF2B5EF4-FFF2-40B4-BE49-F238E27FC236}">
                <a16:creationId xmlns:a16="http://schemas.microsoft.com/office/drawing/2014/main" id="{8BCA3B96-9C00-45AD-953F-19CEA0264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9505950"/>
            <a:ext cx="857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A6F7A"/>
                </a:solidFill>
                <a:latin typeface="Ubuntu"/>
                <a:ea typeface="Ubuntu"/>
                <a:cs typeface="Ubuntu"/>
              </a:defRPr>
            </a:pPr>
            <a:r>
              <a:rPr sz="1350" b="0">
                <a:solidFill>
                  <a:srgbClr val="6A6F7A"/>
                </a:solidFill>
                <a:latin typeface="Ubuntu"/>
                <a:ea typeface="Ubuntu"/>
                <a:cs typeface="Ubuntu"/>
              </a:rPr>
              <a:t>Commercial clarity: how ShiftBy typically engages.</a:t>
            </a:r>
          </a:p>
        </p:txBody>
      </p:sp>
      <p:sp>
        <p:nvSpPr>
          <p:cNvPr id="7" name="engagement-page">
            <a:extLst xmlns:a="http://schemas.openxmlformats.org/drawingml/2006/main">
              <a:ext uri="{FF2B5EF4-FFF2-40B4-BE49-F238E27FC236}">
                <a16:creationId xmlns:a16="http://schemas.microsoft.com/office/drawing/2014/main" id="{4DA8E5DC-5E6B-47FD-8AF0-2B3E1FB26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952500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6A6F7A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6A6F7A"/>
                </a:solidFill>
                <a:latin typeface="Aptos Mono"/>
                <a:ea typeface="Aptos Mono"/>
                <a:cs typeface="Aptos Mono"/>
              </a:rPr>
              <a:t>16 / 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D0D80D-8E6B-4BA9-9766-E00A0C7E1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79070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C60C6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5C60C6"/>
                </a:solidFill>
                <a:latin typeface="Aptos Mono"/>
                <a:ea typeface="Aptos Mono"/>
                <a:cs typeface="Aptos Mono"/>
              </a:rPr>
              <a:t>ENGAGEMENT 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BF5EE0-76A5-41E6-B427-847A60EAE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907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525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525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How ShiftBy engages.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450F39-6419-4197-A4F2-6403C7E5C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48050"/>
            <a:ext cx="5905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22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The work usually starts with a focused advisory conversation, then expands only where the organization needs more clarity, confidence, and action.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1835C3-C3FB-4B78-B712-98E3009BB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48250"/>
            <a:ext cx="35433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889730-0C34-4613-8694-EA73D9609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95900"/>
            <a:ext cx="3009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225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Advisory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23917D-12E8-4F25-B547-1A82A38CB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076950"/>
            <a:ext cx="30099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Clarify direction, decisions, and priorities before work broadens.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3D4DE0-E7AB-46DF-BF5F-C4799D1E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048250"/>
            <a:ext cx="35433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9B379B-7928-416C-8D71-29E514178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295900"/>
            <a:ext cx="3009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225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Workshops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132D33-7578-49C6-850B-97BAB215D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076950"/>
            <a:ext cx="30099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Align leadership teams around the challenge and the next move.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D5AC62-6BD3-4FD1-A969-1AD5660B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048250"/>
            <a:ext cx="35433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82EB59-FF83-4137-9577-3EDBD40FB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295900"/>
            <a:ext cx="3009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225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Capability mapping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04F4F4-BF5C-4D62-84B4-74A54D481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076950"/>
            <a:ext cx="30099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Map traceability, memory, accountability, and execution into a working picture.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BF1081-82A1-4E19-9BA1-744677D70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7300" y="5048250"/>
            <a:ext cx="35433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943E07-B9E4-4302-AF01-90F992D1C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5295900"/>
            <a:ext cx="3009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225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Ongoing support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CFB601-7AAA-48CA-B94B-DF59041F7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6076950"/>
            <a:ext cx="30099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Stay with the work as priorities, risks, and decisions continue to change.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41D38D-AD89-4A2E-9076-EA38E6617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001000"/>
            <a:ext cx="9715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22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Start small. Move fast. Deepen only where the organization needs it.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42311a7280431e"/>
          <a:stretch xmlns:a="http://schemas.openxmlformats.org/drawingml/2006/main"/>
        </p:blipFill>
        <p:spPr>
          <a:xfrm xmlns:a="http://schemas.openxmlformats.org/drawingml/2006/main">
            <a:off x="1257300" y="457200"/>
            <a:ext cx="323850" cy="323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13886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outcomes-bg">
            <a:extLst xmlns:a="http://schemas.openxmlformats.org/drawingml/2006/main">
              <a:ext uri="{FF2B5EF4-FFF2-40B4-BE49-F238E27FC236}">
                <a16:creationId xmlns:a16="http://schemas.microsoft.com/office/drawing/2014/main" id="{C54103BC-6F1B-4928-B7E8-00E5DB15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A"/>
          </a:solidFill>
          <a:ln xmlns:a="http://schemas.openxmlformats.org/drawingml/2006/main" w="0">
            <a:solidFill>
              <a:srgbClr val="F5F6FA"/>
            </a:solidFill>
          </a:ln>
        </p:spPr>
      </p:sp>
      <p:sp>
        <p:nvSpPr>
          <p:cNvPr id="2" name="outcomes-brand">
            <a:extLst xmlns:a="http://schemas.openxmlformats.org/drawingml/2006/main">
              <a:ext uri="{FF2B5EF4-FFF2-40B4-BE49-F238E27FC236}">
                <a16:creationId xmlns:a16="http://schemas.microsoft.com/office/drawing/2014/main" id="{406AFCA3-2CAE-4005-82BF-CC71F4194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953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180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SHIFTBY</a:t>
            </a:r>
          </a:p>
        </p:txBody>
      </p:sp>
      <p:sp>
        <p:nvSpPr>
          <p:cNvPr id="3" name="outcomes-meta">
            <a:extLst xmlns:a="http://schemas.openxmlformats.org/drawingml/2006/main">
              <a:ext uri="{FF2B5EF4-FFF2-40B4-BE49-F238E27FC236}">
                <a16:creationId xmlns:a16="http://schemas.microsoft.com/office/drawing/2014/main" id="{691E8795-E07F-4662-B6E9-7E799A153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514350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A6F7A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6A6F7A"/>
                </a:solidFill>
                <a:latin typeface="Aptos Mono"/>
                <a:ea typeface="Aptos Mono"/>
                <a:cs typeface="Aptos Mono"/>
              </a:rPr>
              <a:t>TYPICAL OUTCOMES</a:t>
            </a:r>
          </a:p>
        </p:txBody>
      </p:sp>
      <p:sp>
        <p:nvSpPr>
          <p:cNvPr id="4" name="outcomes-rule-top">
            <a:extLst xmlns:a="http://schemas.openxmlformats.org/drawingml/2006/main">
              <a:ext uri="{FF2B5EF4-FFF2-40B4-BE49-F238E27FC236}">
                <a16:creationId xmlns:a16="http://schemas.microsoft.com/office/drawing/2014/main" id="{A2A419A4-9125-422F-B235-4B135FEBD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028700"/>
            <a:ext cx="1577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6"/>
          </a:solidFill>
          <a:ln xmlns:a="http://schemas.openxmlformats.org/drawingml/2006/main" w="0">
            <a:solidFill>
              <a:srgbClr val="D9DDE6"/>
            </a:solidFill>
          </a:ln>
        </p:spPr>
      </p:sp>
      <p:sp>
        <p:nvSpPr>
          <p:cNvPr id="5" name="outcomes-rule-bottom">
            <a:extLst xmlns:a="http://schemas.openxmlformats.org/drawingml/2006/main">
              <a:ext uri="{FF2B5EF4-FFF2-40B4-BE49-F238E27FC236}">
                <a16:creationId xmlns:a16="http://schemas.microsoft.com/office/drawing/2014/main" id="{CC359807-860F-498A-B30A-B547CDF8C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9410700"/>
            <a:ext cx="1577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6"/>
          </a:solidFill>
          <a:ln xmlns:a="http://schemas.openxmlformats.org/drawingml/2006/main" w="0">
            <a:solidFill>
              <a:srgbClr val="D9DDE6"/>
            </a:solidFill>
          </a:ln>
        </p:spPr>
      </p:sp>
      <p:sp>
        <p:nvSpPr>
          <p:cNvPr id="6" name="outcomes-footer">
            <a:extLst xmlns:a="http://schemas.openxmlformats.org/drawingml/2006/main">
              <a:ext uri="{FF2B5EF4-FFF2-40B4-BE49-F238E27FC236}">
                <a16:creationId xmlns:a16="http://schemas.microsoft.com/office/drawing/2014/main" id="{10C24AA5-7D57-4314-BBF6-5D938A27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9505950"/>
            <a:ext cx="857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A6F7A"/>
                </a:solidFill>
                <a:latin typeface="Ubuntu"/>
                <a:ea typeface="Ubuntu"/>
                <a:cs typeface="Ubuntu"/>
              </a:defRPr>
            </a:pPr>
            <a:r>
              <a:rPr sz="1350" b="0">
                <a:solidFill>
                  <a:srgbClr val="6A6F7A"/>
                </a:solidFill>
                <a:latin typeface="Ubuntu"/>
                <a:ea typeface="Ubuntu"/>
                <a:cs typeface="Ubuntu"/>
              </a:rPr>
              <a:t>Commercial value: what the engagement should leave behind.</a:t>
            </a:r>
          </a:p>
        </p:txBody>
      </p:sp>
      <p:sp>
        <p:nvSpPr>
          <p:cNvPr id="7" name="outcomes-page">
            <a:extLst xmlns:a="http://schemas.openxmlformats.org/drawingml/2006/main">
              <a:ext uri="{FF2B5EF4-FFF2-40B4-BE49-F238E27FC236}">
                <a16:creationId xmlns:a16="http://schemas.microsoft.com/office/drawing/2014/main" id="{4B921704-8FA7-4199-8F77-7F0FB0608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952500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6A6F7A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6A6F7A"/>
                </a:solidFill>
                <a:latin typeface="Aptos Mono"/>
                <a:ea typeface="Aptos Mono"/>
                <a:cs typeface="Aptos Mono"/>
              </a:rPr>
              <a:t>17 / 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03D9F6-3CAE-4F03-8946-CCD624DB0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790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C60C6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5C60C6"/>
                </a:solidFill>
                <a:latin typeface="Aptos Mono"/>
                <a:ea typeface="Aptos Mono"/>
                <a:cs typeface="Aptos Mono"/>
              </a:rPr>
              <a:t>OUTCOMES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5185EA-A497-4D6B-B374-C62C62F39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90750"/>
            <a:ext cx="9334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570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570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What a good engagement should leave behind.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61159F-8DAB-4F54-A734-E4BD5A897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48100"/>
            <a:ext cx="4495800" cy="384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38E42F-B5C6-42EE-BE35-6F530A142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95750"/>
            <a:ext cx="3962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225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Clearer decisions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3692E2-0B75-47AC-928D-95A698C16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76800"/>
            <a:ext cx="3962400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A sharper view of what is being decided, who owns it, and why it matters.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The aim is not more discussion. It is better decision quality.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2B0821-FC84-41BB-8111-F05ADF69F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848100"/>
            <a:ext cx="4495800" cy="384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C60C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543D62-0230-4A43-ADDE-9E23623EF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095750"/>
            <a:ext cx="3962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225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Recoverable context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ECB1D0-E4A3-48F1-8E33-233BDEB2B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876800"/>
            <a:ext cx="3962400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A better ability to reconstruct the rationale, evidence, and change history behind important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That makes the organization easier to explain and defend.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1AF533-112A-4174-BF18-3DE0A70C3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3848100"/>
            <a:ext cx="4495800" cy="384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2DE9F3-65BD-4219-B7E7-4185777B1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0" y="4095750"/>
            <a:ext cx="3962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225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Stronger accountability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0E3FFA-74E5-4995-AD5D-51445BA8F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0" y="4876800"/>
            <a:ext cx="3962400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Clearer ownership across teams, systems, suppliers, automation, and AI.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Confidence becomes easier to preserve when responsibility stays visible.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AACD84-C0FD-4F22-90D8-FF8AE2914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11530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22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The outcome is practical: more confidence, less drift, and a better basis for action.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9baec44fa648b8"/>
          <a:stretch xmlns:a="http://schemas.openxmlformats.org/drawingml/2006/main"/>
        </p:blipFill>
        <p:spPr>
          <a:xfrm xmlns:a="http://schemas.openxmlformats.org/drawingml/2006/main">
            <a:off x="1257300" y="457200"/>
            <a:ext cx="323850" cy="323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713628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ingapore-bg">
            <a:extLst xmlns:a="http://schemas.openxmlformats.org/drawingml/2006/main">
              <a:ext uri="{FF2B5EF4-FFF2-40B4-BE49-F238E27FC236}">
                <a16:creationId xmlns:a16="http://schemas.microsoft.com/office/drawing/2014/main" id="{95377C22-EA3E-4403-8E96-334FEF250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A"/>
          </a:solidFill>
          <a:ln xmlns:a="http://schemas.openxmlformats.org/drawingml/2006/main" w="0">
            <a:solidFill>
              <a:srgbClr val="F5F6FA"/>
            </a:solidFill>
          </a:ln>
        </p:spPr>
      </p:sp>
      <p:sp>
        <p:nvSpPr>
          <p:cNvPr id="2" name="singapore-brand">
            <a:extLst xmlns:a="http://schemas.openxmlformats.org/drawingml/2006/main">
              <a:ext uri="{FF2B5EF4-FFF2-40B4-BE49-F238E27FC236}">
                <a16:creationId xmlns:a16="http://schemas.microsoft.com/office/drawing/2014/main" id="{AE326208-0C5D-41FB-9D97-0840AE330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953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180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SHIFTBY</a:t>
            </a:r>
          </a:p>
        </p:txBody>
      </p:sp>
      <p:sp>
        <p:nvSpPr>
          <p:cNvPr id="3" name="singapore-meta">
            <a:extLst xmlns:a="http://schemas.openxmlformats.org/drawingml/2006/main">
              <a:ext uri="{FF2B5EF4-FFF2-40B4-BE49-F238E27FC236}">
                <a16:creationId xmlns:a16="http://schemas.microsoft.com/office/drawing/2014/main" id="{75EF84A3-345F-4E67-BCBB-D94AB116C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514350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A6F7A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6A6F7A"/>
                </a:solidFill>
                <a:latin typeface="Aptos Mono"/>
                <a:ea typeface="Aptos Mono"/>
                <a:cs typeface="Aptos Mono"/>
              </a:rPr>
              <a:t>SINGAPORE / APAC</a:t>
            </a:r>
          </a:p>
        </p:txBody>
      </p:sp>
      <p:sp>
        <p:nvSpPr>
          <p:cNvPr id="4" name="singapore-rule-top">
            <a:extLst xmlns:a="http://schemas.openxmlformats.org/drawingml/2006/main">
              <a:ext uri="{FF2B5EF4-FFF2-40B4-BE49-F238E27FC236}">
                <a16:creationId xmlns:a16="http://schemas.microsoft.com/office/drawing/2014/main" id="{93F18BB9-F656-4732-A9EC-DB571BD9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028700"/>
            <a:ext cx="1577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6"/>
          </a:solidFill>
          <a:ln xmlns:a="http://schemas.openxmlformats.org/drawingml/2006/main" w="0">
            <a:solidFill>
              <a:srgbClr val="D9DDE6"/>
            </a:solidFill>
          </a:ln>
        </p:spPr>
      </p:sp>
      <p:sp>
        <p:nvSpPr>
          <p:cNvPr id="5" name="singapore-rule-bottom">
            <a:extLst xmlns:a="http://schemas.openxmlformats.org/drawingml/2006/main">
              <a:ext uri="{FF2B5EF4-FFF2-40B4-BE49-F238E27FC236}">
                <a16:creationId xmlns:a16="http://schemas.microsoft.com/office/drawing/2014/main" id="{CDB90981-AF6F-4A77-BB91-E972305A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9410700"/>
            <a:ext cx="1577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6"/>
          </a:solidFill>
          <a:ln xmlns:a="http://schemas.openxmlformats.org/drawingml/2006/main" w="0">
            <a:solidFill>
              <a:srgbClr val="D9DDE6"/>
            </a:solidFill>
          </a:ln>
        </p:spPr>
      </p:sp>
      <p:sp>
        <p:nvSpPr>
          <p:cNvPr id="6" name="singapore-footer">
            <a:extLst xmlns:a="http://schemas.openxmlformats.org/drawingml/2006/main">
              <a:ext uri="{FF2B5EF4-FFF2-40B4-BE49-F238E27FC236}">
                <a16:creationId xmlns:a16="http://schemas.microsoft.com/office/drawing/2014/main" id="{35BF0542-3458-4863-AF0D-1A4E80A90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9505950"/>
            <a:ext cx="857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A6F7A"/>
                </a:solidFill>
                <a:latin typeface="Ubuntu"/>
                <a:ea typeface="Ubuntu"/>
                <a:cs typeface="Ubuntu"/>
              </a:defRPr>
            </a:pPr>
            <a:r>
              <a:rPr sz="1350" b="0">
                <a:solidFill>
                  <a:srgbClr val="6A6F7A"/>
                </a:solidFill>
                <a:latin typeface="Ubuntu"/>
                <a:ea typeface="Ubuntu"/>
                <a:cs typeface="Ubuntu"/>
              </a:rPr>
              <a:t>Singapore context: local, founder-led, APAC-aware.</a:t>
            </a:r>
          </a:p>
        </p:txBody>
      </p:sp>
      <p:sp>
        <p:nvSpPr>
          <p:cNvPr id="7" name="singapore-page">
            <a:extLst xmlns:a="http://schemas.openxmlformats.org/drawingml/2006/main">
              <a:ext uri="{FF2B5EF4-FFF2-40B4-BE49-F238E27FC236}">
                <a16:creationId xmlns:a16="http://schemas.microsoft.com/office/drawing/2014/main" id="{42A78415-F932-406B-9E91-3B3012A30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952500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6A6F7A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6A6F7A"/>
                </a:solidFill>
                <a:latin typeface="Aptos Mono"/>
                <a:ea typeface="Aptos Mono"/>
                <a:cs typeface="Aptos Mono"/>
              </a:rPr>
              <a:t>18 / 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9ACF68-6E29-4E2F-996A-A4E779E2A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7907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C60C6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5C60C6"/>
                </a:solidFill>
                <a:latin typeface="Aptos Mono"/>
                <a:ea typeface="Aptos Mono"/>
                <a:cs typeface="Aptos Mono"/>
              </a:rPr>
              <a:t>SINGAPORE 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3D6364-D6AC-4532-A0D0-EFA81F7A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90750"/>
            <a:ext cx="11239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495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Built for Singapore conversations, with APAC leadership context.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EE4FFF-45D9-4079-AA16-1610A6242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38550"/>
            <a:ext cx="75247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22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ShiftBy is positioned for Singapore-based leaders and partner conversations where AI, governance, knowledge, and execution intersect.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BC084F-B287-4BBA-A21B-A0E00EF48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334000"/>
            <a:ext cx="4381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C60C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37E410-BA6B-41C0-B8FB-7F496ED2B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81650"/>
            <a:ext cx="3848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225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Singapore-based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ACA357-1A1F-4F37-9BBA-AFB7957F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362700"/>
            <a:ext cx="38481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Founder-led advisory work rooted in Singapore and relevant for local enterprise conversations.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517E7F-BCDF-491A-B853-246D277B7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334000"/>
            <a:ext cx="4381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BE7544-130F-451B-B27C-346582120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581650"/>
            <a:ext cx="3848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225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APAC leadership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4986E9-2CC9-425F-96A7-4B0C7CED5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6362700"/>
            <a:ext cx="38481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Useful for regional operating environments where execution, governance, and knowledge move across teams.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AE7F0C-9AB8-4A9F-8CEE-72D54A0C1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34000"/>
            <a:ext cx="4381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E4FCAA-714F-4364-9B17-AE5DBD701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581650"/>
            <a:ext cx="3848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225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Local contact signal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35A223-D673-47FF-8C7E-230F40CA8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62700"/>
            <a:ext cx="38481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Vision Exchange, 2 Venture Drive, #19-18, Singapore 608526.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anandakrishnam@shiftby.sg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C47CAC-C88E-40D6-ABD4-5D7480E6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324850"/>
            <a:ext cx="361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150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ShiftBy Pte. Ltd.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06B453-23DD-4741-BA87-3F719CFD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6487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A6F7A"/>
                </a:solidFill>
                <a:latin typeface="Ubuntu"/>
                <a:ea typeface="Ubuntu"/>
                <a:cs typeface="Ubuntu"/>
              </a:defRPr>
            </a:pPr>
            <a:r>
              <a:rPr sz="1350" b="0">
                <a:solidFill>
                  <a:srgbClr val="6A6F7A"/>
                </a:solidFill>
                <a:latin typeface="Ubuntu"/>
                <a:ea typeface="Ubuntu"/>
                <a:cs typeface="Ubuntu"/>
              </a:rPr>
              <a:t>For partner sharing in Singapore and the region.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54acdaad4c48cc"/>
          <a:stretch xmlns:a="http://schemas.openxmlformats.org/drawingml/2006/main"/>
        </p:blipFill>
        <p:spPr>
          <a:xfrm xmlns:a="http://schemas.openxmlformats.org/drawingml/2006/main">
            <a:off x="1257300" y="457200"/>
            <a:ext cx="323850" cy="323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548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2026-06-15T03:08:13.4160000Z</dcterms:created>
  <dcterms:modified xsi:type="dcterms:W3CDTF">2026-06-15T03:08:13.4160000Z</dcterms:modified>
</coreProperties>
</file>