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b69b892b7c0485d" /><Relationship Type="http://schemas.openxmlformats.org/officeDocument/2006/relationships/extended-properties" Target="/docProps/app.xml" Id="R4132760bff824fc6" /><Relationship Type="http://schemas.openxmlformats.org/officeDocument/2006/relationships/officeDocument" Target="/ppt/presentation.xml" Id="Rf6e3a438077e44e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33c18d43ff149c4"/>
  </p:sldMasterIdLst>
  <p:notesMasterIdLst>
    <p:notesMasterId xmlns:r="http://schemas.openxmlformats.org/officeDocument/2006/relationships" r:id="R9dab06d187844798"/>
  </p:notesMasterIdLst>
  <p:sldIdLst>
    <p:sldId xmlns:r="http://schemas.openxmlformats.org/officeDocument/2006/relationships" id="256" r:id="Rc0e17853809d40e1"/>
    <p:sldId xmlns:r="http://schemas.openxmlformats.org/officeDocument/2006/relationships" id="257" r:id="R07abf69edfcd4b78"/>
    <p:sldId xmlns:r="http://schemas.openxmlformats.org/officeDocument/2006/relationships" id="258" r:id="R7db123857a114409"/>
    <p:sldId xmlns:r="http://schemas.openxmlformats.org/officeDocument/2006/relationships" id="259" r:id="R83b79238fc4c49fb"/>
    <p:sldId xmlns:r="http://schemas.openxmlformats.org/officeDocument/2006/relationships" id="260" r:id="R614d929ca2e242ea"/>
    <p:sldId xmlns:r="http://schemas.openxmlformats.org/officeDocument/2006/relationships" id="261" r:id="Rd72d547f8a4f4408"/>
    <p:sldId xmlns:r="http://schemas.openxmlformats.org/officeDocument/2006/relationships" id="262" r:id="Rb045434078324c65"/>
    <p:sldId xmlns:r="http://schemas.openxmlformats.org/officeDocument/2006/relationships" id="263" r:id="R69824919c7204611"/>
    <p:sldId xmlns:r="http://schemas.openxmlformats.org/officeDocument/2006/relationships" id="264" r:id="R70f3732af7be4a87"/>
    <p:sldId xmlns:r="http://schemas.openxmlformats.org/officeDocument/2006/relationships" id="265" r:id="R3d84c80b9b0e4f70"/>
    <p:sldId xmlns:r="http://schemas.openxmlformats.org/officeDocument/2006/relationships" id="266" r:id="R20ccdda820b4432c"/>
    <p:sldId xmlns:r="http://schemas.openxmlformats.org/officeDocument/2006/relationships" id="267" r:id="R5d711a5bb3dc4a91"/>
    <p:sldId xmlns:r="http://schemas.openxmlformats.org/officeDocument/2006/relationships" id="268" r:id="R705c7ce52d054164"/>
    <p:sldId xmlns:r="http://schemas.openxmlformats.org/officeDocument/2006/relationships" id="269" r:id="R4a0eddffb6a1471b"/>
    <p:sldId xmlns:r="http://schemas.openxmlformats.org/officeDocument/2006/relationships" id="270" r:id="Rb551102814804c1a"/>
    <p:sldId xmlns:r="http://schemas.openxmlformats.org/officeDocument/2006/relationships" id="271" r:id="Ra23ac8c9bd22496e"/>
    <p:sldId xmlns:r="http://schemas.openxmlformats.org/officeDocument/2006/relationships" id="272" r:id="R2f4a5f8166b84b4d"/>
    <p:sldId xmlns:r="http://schemas.openxmlformats.org/officeDocument/2006/relationships" id="273" r:id="R0768440de8aa4768"/>
  </p:sldIdLst>
  <p:sldSz cx="18288000" cy="10287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6332d326f0f4693" /><Relationship Type="http://schemas.openxmlformats.org/officeDocument/2006/relationships/slideMaster" Target="/ppt/slideMasters/slideMaster1.xml" Id="R833c18d43ff149c4" /><Relationship Type="http://schemas.openxmlformats.org/officeDocument/2006/relationships/notesMaster" Target="/ppt/notesMasters/notesMaster1.xml" Id="R9dab06d187844798" /><Relationship Type="http://schemas.openxmlformats.org/officeDocument/2006/relationships/presProps" Target="/ppt/presProps.xml" Id="Rd3f88470ab61454a" /><Relationship Type="http://schemas.openxmlformats.org/officeDocument/2006/relationships/viewProps" Target="/ppt/viewProps.xml" Id="R1503e0b6dc2849fd" /><Relationship Type="http://schemas.openxmlformats.org/officeDocument/2006/relationships/tableStyles" Target="/ppt/tableStyles.xml" Id="Rd073493182324fd9" /><Relationship Type="http://schemas.openxmlformats.org/officeDocument/2006/relationships/slide" Target="/ppt/slides/slide1.xml" Id="Rc0e17853809d40e1" /><Relationship Type="http://schemas.openxmlformats.org/officeDocument/2006/relationships/slide" Target="/ppt/slides/slide2.xml" Id="R07abf69edfcd4b78" /><Relationship Type="http://schemas.openxmlformats.org/officeDocument/2006/relationships/slide" Target="/ppt/slides/slide3.xml" Id="R7db123857a114409" /><Relationship Type="http://schemas.openxmlformats.org/officeDocument/2006/relationships/slide" Target="/ppt/slides/slide4.xml" Id="R83b79238fc4c49fb" /><Relationship Type="http://schemas.openxmlformats.org/officeDocument/2006/relationships/slide" Target="/ppt/slides/slide5.xml" Id="R614d929ca2e242ea" /><Relationship Type="http://schemas.openxmlformats.org/officeDocument/2006/relationships/slide" Target="/ppt/slides/slide6.xml" Id="Rd72d547f8a4f4408" /><Relationship Type="http://schemas.openxmlformats.org/officeDocument/2006/relationships/slide" Target="/ppt/slides/slide7.xml" Id="Rb045434078324c65" /><Relationship Type="http://schemas.openxmlformats.org/officeDocument/2006/relationships/slide" Target="/ppt/slides/slide8.xml" Id="R69824919c7204611" /><Relationship Type="http://schemas.openxmlformats.org/officeDocument/2006/relationships/slide" Target="/ppt/slides/slide9.xml" Id="R70f3732af7be4a87" /><Relationship Type="http://schemas.openxmlformats.org/officeDocument/2006/relationships/slide" Target="/ppt/slides/slide10.xml" Id="R3d84c80b9b0e4f70" /><Relationship Type="http://schemas.openxmlformats.org/officeDocument/2006/relationships/slide" Target="/ppt/slides/slide11.xml" Id="R20ccdda820b4432c" /><Relationship Type="http://schemas.openxmlformats.org/officeDocument/2006/relationships/slide" Target="/ppt/slides/slide12.xml" Id="R5d711a5bb3dc4a91" /><Relationship Type="http://schemas.openxmlformats.org/officeDocument/2006/relationships/slide" Target="/ppt/slides/slide13.xml" Id="R705c7ce52d054164" /><Relationship Type="http://schemas.openxmlformats.org/officeDocument/2006/relationships/slide" Target="/ppt/slides/slide14.xml" Id="R4a0eddffb6a1471b" /><Relationship Type="http://schemas.openxmlformats.org/officeDocument/2006/relationships/slide" Target="/ppt/slides/slide15.xml" Id="Rb551102814804c1a" /><Relationship Type="http://schemas.openxmlformats.org/officeDocument/2006/relationships/slide" Target="/ppt/slides/slide16.xml" Id="Ra23ac8c9bd22496e" /><Relationship Type="http://schemas.openxmlformats.org/officeDocument/2006/relationships/slide" Target="/ppt/slides/slide17.xml" Id="R2f4a5f8166b84b4d" /><Relationship Type="http://schemas.openxmlformats.org/officeDocument/2006/relationships/slide" Target="/ppt/slides/slide18.xml" Id="R0768440de8aa476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dd146d6d60547f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cd7bb8de67f43b7" /><Relationship Type="http://schemas.openxmlformats.org/officeDocument/2006/relationships/notesMaster" Target="/ppt/notesMasters/notesMaster1.xml" Id="R836d170fe3af41c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8715c30b2094bd4" /><Relationship Type="http://schemas.openxmlformats.org/officeDocument/2006/relationships/notesMaster" Target="/ppt/notesMasters/notesMaster1.xml" Id="Rbb5fc469610d425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41fe71e04984702" /><Relationship Type="http://schemas.openxmlformats.org/officeDocument/2006/relationships/notesMaster" Target="/ppt/notesMasters/notesMaster1.xml" Id="R3b84cc2b99f1483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6a83366554d4b99" /><Relationship Type="http://schemas.openxmlformats.org/officeDocument/2006/relationships/notesMaster" Target="/ppt/notesMasters/notesMaster1.xml" Id="Re8e9751a79e14c5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709428825d844a5" /><Relationship Type="http://schemas.openxmlformats.org/officeDocument/2006/relationships/notesMaster" Target="/ppt/notesMasters/notesMaster1.xml" Id="R20de6dc1a8a740f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39b466d01dd4006" /><Relationship Type="http://schemas.openxmlformats.org/officeDocument/2006/relationships/notesMaster" Target="/ppt/notesMasters/notesMaster1.xml" Id="Rdbc8c7fe83524d0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b734af53dbb4cfa" /><Relationship Type="http://schemas.openxmlformats.org/officeDocument/2006/relationships/notesMaster" Target="/ppt/notesMasters/notesMaster1.xml" Id="R44484efb5057490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242ebb8f59a4e22" /><Relationship Type="http://schemas.openxmlformats.org/officeDocument/2006/relationships/notesMaster" Target="/ppt/notesMasters/notesMaster1.xml" Id="Rf6983855c398457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97bf4f951074d03" /><Relationship Type="http://schemas.openxmlformats.org/officeDocument/2006/relationships/notesMaster" Target="/ppt/notesMasters/notesMaster1.xml" Id="Rbad347f34d594e5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7ef56b35a154a1a" /><Relationship Type="http://schemas.openxmlformats.org/officeDocument/2006/relationships/notesMaster" Target="/ppt/notesMasters/notesMaster1.xml" Id="R0fb9281355434f9a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9aeb147feb644bae" /><Relationship Type="http://schemas.openxmlformats.org/officeDocument/2006/relationships/notesMaster" Target="/ppt/notesMasters/notesMaster1.xml" Id="R93e6eda435f144e0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788ee5db3c08413b" /><Relationship Type="http://schemas.openxmlformats.org/officeDocument/2006/relationships/notesMaster" Target="/ppt/notesMasters/notesMaster1.xml" Id="R1bc2a63115204bd8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201d6416d59c4f1f" /><Relationship Type="http://schemas.openxmlformats.org/officeDocument/2006/relationships/notesMaster" Target="/ppt/notesMasters/notesMaster1.xml" Id="R054d84f94b024172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fdc1751e61a94f4f" /><Relationship Type="http://schemas.openxmlformats.org/officeDocument/2006/relationships/notesMaster" Target="/ppt/notesMasters/notesMaster1.xml" Id="R45daa4a67cde4e5d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de530c3599174be4" /><Relationship Type="http://schemas.openxmlformats.org/officeDocument/2006/relationships/notesMaster" Target="/ppt/notesMasters/notesMaster1.xml" Id="R390b179bbfa74aa3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3b4a744e50b2455e" /><Relationship Type="http://schemas.openxmlformats.org/officeDocument/2006/relationships/notesMaster" Target="/ppt/notesMasters/notesMaster1.xml" Id="Rf3422b0005684c24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8a3153d3b9234d42" /><Relationship Type="http://schemas.openxmlformats.org/officeDocument/2006/relationships/notesMaster" Target="/ppt/notesMasters/notesMaster1.xml" Id="Rb0b58338703340e4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30d8e769bc8e418b" /><Relationship Type="http://schemas.openxmlformats.org/officeDocument/2006/relationships/notesMaster" Target="/ppt/notesMasters/notesMaster1.xml" Id="R1cb16d772fef481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4283045f933458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f83a283ac4f4447" /><Relationship Type="http://schemas.openxmlformats.org/officeDocument/2006/relationships/slideLayout" Target="/ppt/slideLayouts/slideLayout1.xml" Id="Rde7bbf9b7dd8443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e7bbf9b7dd8443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81460372c0413f" /><Relationship Type="http://schemas.openxmlformats.org/officeDocument/2006/relationships/image" Target="/ppt/media/image.png" Id="R960382a6e3ab4478" /><Relationship Type="http://schemas.openxmlformats.org/officeDocument/2006/relationships/notesSlide" Target="/ppt/notesSlides/notesSlide1.xml" Id="R836cbf518bde48b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9df6d3c0f24021" /><Relationship Type="http://schemas.openxmlformats.org/officeDocument/2006/relationships/image" Target="/ppt/media/image2.png" Id="R7c15729ff3e144f5" /><Relationship Type="http://schemas.openxmlformats.org/officeDocument/2006/relationships/notesSlide" Target="/ppt/notesSlides/notesSlide2.xml" Id="R00aa08125a454f8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84b283d5fb4a3b" /><Relationship Type="http://schemas.openxmlformats.org/officeDocument/2006/relationships/image" Target="/ppt/media/image3.png" Id="R130b0c9876a84178" /><Relationship Type="http://schemas.openxmlformats.org/officeDocument/2006/relationships/notesSlide" Target="/ppt/notesSlides/notesSlide3.xml" Id="R8752ff02e8f84ef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86d1d2b8a145b7" /><Relationship Type="http://schemas.openxmlformats.org/officeDocument/2006/relationships/image" Target="/ppt/media/image4.png" Id="Rb530f47c2ff84a6a" /><Relationship Type="http://schemas.openxmlformats.org/officeDocument/2006/relationships/notesSlide" Target="/ppt/notesSlides/notesSlide4.xml" Id="R6bacd30aa76843b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d4511a30524715" /><Relationship Type="http://schemas.openxmlformats.org/officeDocument/2006/relationships/image" Target="/ppt/media/image5.png" Id="R0944a13dd39541d6" /><Relationship Type="http://schemas.openxmlformats.org/officeDocument/2006/relationships/notesSlide" Target="/ppt/notesSlides/notesSlide5.xml" Id="R7f17f3dc6233474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260904d07d4020" /><Relationship Type="http://schemas.openxmlformats.org/officeDocument/2006/relationships/image" Target="/ppt/media/image6.png" Id="Rde253c190c9146db" /><Relationship Type="http://schemas.openxmlformats.org/officeDocument/2006/relationships/notesSlide" Target="/ppt/notesSlides/notesSlide6.xml" Id="Ra010596184cc498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cb455f8b6e479c" /><Relationship Type="http://schemas.openxmlformats.org/officeDocument/2006/relationships/image" Target="/ppt/media/image7.png" Id="Rdf9ff48ea1404e08" /><Relationship Type="http://schemas.openxmlformats.org/officeDocument/2006/relationships/notesSlide" Target="/ppt/notesSlides/notesSlide7.xml" Id="Rdd3bbc2ef88747f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dd3e09b1314aa5" /><Relationship Type="http://schemas.openxmlformats.org/officeDocument/2006/relationships/image" Target="/ppt/media/image8.png" Id="R3775fe8c32974091" /><Relationship Type="http://schemas.openxmlformats.org/officeDocument/2006/relationships/notesSlide" Target="/ppt/notesSlides/notesSlide8.xml" Id="R19cb67d3a52f469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2e24117daa4098" /><Relationship Type="http://schemas.openxmlformats.org/officeDocument/2006/relationships/image" Target="/ppt/media/image9.png" Id="R226a34934912425f" /><Relationship Type="http://schemas.openxmlformats.org/officeDocument/2006/relationships/notesSlide" Target="/ppt/notesSlides/notesSlide9.xml" Id="R0f4d1b15a97c48a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d37b4f16ba4cfb" /><Relationship Type="http://schemas.openxmlformats.org/officeDocument/2006/relationships/image" Target="/ppt/media/image10.png" Id="Rdf21a0bc57ac447e" /><Relationship Type="http://schemas.openxmlformats.org/officeDocument/2006/relationships/notesSlide" Target="/ppt/notesSlides/notesSlide10.xml" Id="R48da5c1d48454206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6284ff61734ccc" /><Relationship Type="http://schemas.openxmlformats.org/officeDocument/2006/relationships/image" Target="/ppt/media/image11.png" Id="R03ee81ea886642a3" /><Relationship Type="http://schemas.openxmlformats.org/officeDocument/2006/relationships/notesSlide" Target="/ppt/notesSlides/notesSlide11.xml" Id="R391de7e4dc624fe2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37430d30374795" /><Relationship Type="http://schemas.openxmlformats.org/officeDocument/2006/relationships/image" Target="/ppt/media/image12.png" Id="R72ab12c0a66c44fc" /><Relationship Type="http://schemas.openxmlformats.org/officeDocument/2006/relationships/notesSlide" Target="/ppt/notesSlides/notesSlide12.xml" Id="R5692217712b04e8e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f9af2403364fee" /><Relationship Type="http://schemas.openxmlformats.org/officeDocument/2006/relationships/image" Target="/ppt/media/image13.png" Id="R853728adafcc4896" /><Relationship Type="http://schemas.openxmlformats.org/officeDocument/2006/relationships/notesSlide" Target="/ppt/notesSlides/notesSlide13.xml" Id="Rc0cf356dca7f430a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bac1f78ed2472f" /><Relationship Type="http://schemas.openxmlformats.org/officeDocument/2006/relationships/image" Target="/ppt/media/image14.png" Id="R1d9a0431e201469e" /><Relationship Type="http://schemas.openxmlformats.org/officeDocument/2006/relationships/notesSlide" Target="/ppt/notesSlides/notesSlide14.xml" Id="Raedf337f6567473f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a56dc700dc4b36" /><Relationship Type="http://schemas.openxmlformats.org/officeDocument/2006/relationships/image" Target="/ppt/media/image15.png" Id="Ra3327798c0ea4bd1" /><Relationship Type="http://schemas.openxmlformats.org/officeDocument/2006/relationships/notesSlide" Target="/ppt/notesSlides/notesSlide15.xml" Id="Rfe134639ee064b3c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5ca92616b2466b" /><Relationship Type="http://schemas.openxmlformats.org/officeDocument/2006/relationships/image" Target="/ppt/media/image16.png" Id="R1b5385c146a8441e" /><Relationship Type="http://schemas.openxmlformats.org/officeDocument/2006/relationships/notesSlide" Target="/ppt/notesSlides/notesSlide16.xml" Id="R432b2daabbb54761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b3ce83c6de41ba" /><Relationship Type="http://schemas.openxmlformats.org/officeDocument/2006/relationships/image" Target="/ppt/media/image17.png" Id="R8e83479cf49a444d" /><Relationship Type="http://schemas.openxmlformats.org/officeDocument/2006/relationships/notesSlide" Target="/ppt/notesSlides/notesSlide17.xml" Id="R70aed4f7afc64d64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a513692ff04feb" /><Relationship Type="http://schemas.openxmlformats.org/officeDocument/2006/relationships/image" Target="/ppt/media/image18.png" Id="R66d52df4fe5f49d7" /><Relationship Type="http://schemas.openxmlformats.org/officeDocument/2006/relationships/notesSlide" Target="/ppt/notesSlides/notesSlide18.xml" Id="Rcec77e74561f4111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60382a6e3ab4478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4926765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c15729ff3e144f5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2785973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30b0c9876a84178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9487398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530f47c2ff84a6a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0731117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944a13dd39541d6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217082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e253c190c9146db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7356755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f9ff48ea1404e08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073501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775fe8c32974091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5905334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26a34934912425f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2331064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f21a0bc57ac447e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5450627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3ee81ea886642a3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6041620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2ab12c0a66c44fc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4726108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53728adafcc4896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8468206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d9a0431e201469e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1458180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positioning-bg">
            <a:extLst xmlns:a="http://schemas.openxmlformats.org/drawingml/2006/main">
              <a:ext uri="{FF2B5EF4-FFF2-40B4-BE49-F238E27FC236}">
                <a16:creationId xmlns:a16="http://schemas.microsoft.com/office/drawing/2014/main" id="{DF13A666-59D2-4E3F-BB55-670C2C659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A"/>
          </a:solidFill>
          <a:ln xmlns:a="http://schemas.openxmlformats.org/drawingml/2006/main" w="0">
            <a:solidFill>
              <a:srgbClr val="F5F6FA"/>
            </a:solidFill>
          </a:ln>
        </p:spPr>
      </p:sp>
      <p:sp>
        <p:nvSpPr>
          <p:cNvPr id="2" name="positioning-brand">
            <a:extLst xmlns:a="http://schemas.openxmlformats.org/drawingml/2006/main">
              <a:ext uri="{FF2B5EF4-FFF2-40B4-BE49-F238E27FC236}">
                <a16:creationId xmlns:a16="http://schemas.microsoft.com/office/drawing/2014/main" id="{4A5A36E2-049B-4BB4-8DC5-833CF8232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495300"/>
            <a:ext cx="1809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D0F12"/>
                </a:solidFill>
                <a:latin typeface="Ubuntu"/>
                <a:ea typeface="Ubuntu"/>
                <a:cs typeface="Ubuntu"/>
              </a:defRPr>
            </a:pPr>
            <a:r>
              <a:rPr sz="1800" b="1">
                <a:solidFill>
                  <a:srgbClr val="0D0F12"/>
                </a:solidFill>
                <a:latin typeface="Ubuntu"/>
                <a:ea typeface="Ubuntu"/>
                <a:cs typeface="Ubuntu"/>
              </a:rPr>
              <a:t>SHIFTBY</a:t>
            </a:r>
          </a:p>
        </p:txBody>
      </p:sp>
      <p:sp>
        <p:nvSpPr>
          <p:cNvPr id="3" name="positioning-meta">
            <a:extLst xmlns:a="http://schemas.openxmlformats.org/drawingml/2006/main">
              <a:ext uri="{FF2B5EF4-FFF2-40B4-BE49-F238E27FC236}">
                <a16:creationId xmlns:a16="http://schemas.microsoft.com/office/drawing/2014/main" id="{A50E4129-F4E1-45B7-891C-C18D82488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0" y="514350"/>
            <a:ext cx="1790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A6F7A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6A6F7A"/>
                </a:solidFill>
                <a:latin typeface="Aptos Mono"/>
                <a:ea typeface="Aptos Mono"/>
                <a:cs typeface="Aptos Mono"/>
              </a:rPr>
              <a:t>POSITIONING</a:t>
            </a:r>
          </a:p>
        </p:txBody>
      </p:sp>
      <p:sp>
        <p:nvSpPr>
          <p:cNvPr id="4" name="positioning-rule-top">
            <a:extLst xmlns:a="http://schemas.openxmlformats.org/drawingml/2006/main">
              <a:ext uri="{FF2B5EF4-FFF2-40B4-BE49-F238E27FC236}">
                <a16:creationId xmlns:a16="http://schemas.microsoft.com/office/drawing/2014/main" id="{047FEBBA-E3E4-424D-A72E-8A1ADAEA3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1028700"/>
            <a:ext cx="15773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DE6"/>
          </a:solidFill>
          <a:ln xmlns:a="http://schemas.openxmlformats.org/drawingml/2006/main" w="0">
            <a:solidFill>
              <a:srgbClr val="D9DDE6"/>
            </a:solidFill>
          </a:ln>
        </p:spPr>
      </p:sp>
      <p:sp>
        <p:nvSpPr>
          <p:cNvPr id="5" name="positioning-rule-bottom">
            <a:extLst xmlns:a="http://schemas.openxmlformats.org/drawingml/2006/main">
              <a:ext uri="{FF2B5EF4-FFF2-40B4-BE49-F238E27FC236}">
                <a16:creationId xmlns:a16="http://schemas.microsoft.com/office/drawing/2014/main" id="{EA7039CE-B074-4D68-AB03-9F0CB1A05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9410700"/>
            <a:ext cx="15773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DE6"/>
          </a:solidFill>
          <a:ln xmlns:a="http://schemas.openxmlformats.org/drawingml/2006/main" w="0">
            <a:solidFill>
              <a:srgbClr val="D9DDE6"/>
            </a:solidFill>
          </a:ln>
        </p:spPr>
      </p:sp>
      <p:sp>
        <p:nvSpPr>
          <p:cNvPr id="6" name="positioning-footer">
            <a:extLst xmlns:a="http://schemas.openxmlformats.org/drawingml/2006/main">
              <a:ext uri="{FF2B5EF4-FFF2-40B4-BE49-F238E27FC236}">
                <a16:creationId xmlns:a16="http://schemas.microsoft.com/office/drawing/2014/main" id="{5D82AAC3-DE32-4CCC-86A1-C5C23021D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9505950"/>
            <a:ext cx="8572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A6F7A"/>
                </a:solidFill>
                <a:latin typeface="Ubuntu"/>
                <a:ea typeface="Ubuntu"/>
                <a:cs typeface="Ubuntu"/>
              </a:defRPr>
            </a:pPr>
            <a:r>
              <a:rPr sz="1350" b="0">
                <a:solidFill>
                  <a:srgbClr val="6A6F7A"/>
                </a:solidFill>
                <a:latin typeface="Ubuntu"/>
                <a:ea typeface="Ubuntu"/>
                <a:cs typeface="Ubuntu"/>
              </a:rPr>
              <a:t>Partner talk track: make the value easy to repeat.</a:t>
            </a:r>
          </a:p>
        </p:txBody>
      </p:sp>
      <p:sp>
        <p:nvSpPr>
          <p:cNvPr id="7" name="positioning-page">
            <a:extLst xmlns:a="http://schemas.openxmlformats.org/drawingml/2006/main">
              <a:ext uri="{FF2B5EF4-FFF2-40B4-BE49-F238E27FC236}">
                <a16:creationId xmlns:a16="http://schemas.microsoft.com/office/drawing/2014/main" id="{1007DDC8-9B3B-4F84-96F2-1CB20557C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87750" y="9525000"/>
            <a:ext cx="762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6A6F7A"/>
                </a:solidFill>
                <a:latin typeface="Aptos Mono"/>
                <a:ea typeface="Aptos Mono"/>
                <a:cs typeface="Aptos Mono"/>
              </a:defRPr>
            </a:pPr>
            <a:r>
              <a:rPr sz="1350" b="1">
                <a:solidFill>
                  <a:srgbClr val="6A6F7A"/>
                </a:solidFill>
                <a:latin typeface="Aptos Mono"/>
                <a:ea typeface="Aptos Mono"/>
                <a:cs typeface="Aptos Mono"/>
              </a:rPr>
              <a:t>15 / 18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AA0DC7C-B707-49BC-B43A-4F071F2AF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1790700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C60C6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5C60C6"/>
                </a:solidFill>
                <a:latin typeface="Aptos Mono"/>
                <a:ea typeface="Aptos Mono"/>
                <a:cs typeface="Aptos Mono"/>
              </a:rPr>
              <a:t>POSITIONING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5CB8847-0DED-4CFF-92D6-5891ED8FC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190750"/>
            <a:ext cx="99060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950" b="1">
                <a:solidFill>
                  <a:srgbClr val="0D0F12"/>
                </a:solidFill>
                <a:latin typeface="Ubuntu"/>
                <a:ea typeface="Ubuntu"/>
                <a:cs typeface="Ubuntu"/>
              </a:defRPr>
            </a:pPr>
            <a:r>
              <a:rPr sz="4950" b="1">
                <a:solidFill>
                  <a:srgbClr val="0D0F12"/>
                </a:solidFill>
                <a:latin typeface="Ubuntu"/>
                <a:ea typeface="Ubuntu"/>
                <a:cs typeface="Ubuntu"/>
              </a:rPr>
              <a:t>How partners should position ShiftBy in 20 seconds.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5AB638E-D59F-47EB-87D7-81F145716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343400"/>
            <a:ext cx="72390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5D6470"/>
                </a:solidFill>
                <a:latin typeface="Ubuntu"/>
                <a:ea typeface="Ubuntu"/>
                <a:cs typeface="Ubuntu"/>
              </a:defRPr>
            </a:pPr>
            <a:r>
              <a:rPr sz="2250" b="0">
                <a:solidFill>
                  <a:srgbClr val="5D6470"/>
                </a:solidFill>
                <a:latin typeface="Ubuntu"/>
                <a:ea typeface="Ubuntu"/>
                <a:cs typeface="Ubuntu"/>
              </a:rPr>
              <a:t>ShiftBy is a Singapore-based, founder-led advisory practice. It helps leaders preserve understanding when execution becomes distributed across people, systems, suppliers, automation, and AI.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33B7E91-DEF5-4A4B-85EA-718A0C8E1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095500"/>
            <a:ext cx="6153150" cy="394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5C60C6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A8670CB-3373-474E-A3A4-8076CC686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2343150"/>
            <a:ext cx="56197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D0F12"/>
                </a:solidFill>
                <a:latin typeface="Ubuntu"/>
                <a:ea typeface="Ubuntu"/>
                <a:cs typeface="Ubuntu"/>
              </a:defRPr>
            </a:pPr>
            <a:r>
              <a:rPr sz="2250" b="1">
                <a:solidFill>
                  <a:srgbClr val="0D0F12"/>
                </a:solidFill>
                <a:latin typeface="Ubuntu"/>
                <a:ea typeface="Ubuntu"/>
                <a:cs typeface="Ubuntu"/>
              </a:rPr>
              <a:t>Say this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8E654B1-8007-4519-9448-8B6D09BCE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3124200"/>
            <a:ext cx="5619750" cy="2705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470"/>
                </a:solidFill>
                <a:latin typeface="Ubuntu"/>
                <a:ea typeface="Ubuntu"/>
                <a:cs typeface="Ubuntu"/>
              </a:defRPr>
            </a:pPr>
            <a:r>
              <a:rPr sz="1650" b="0">
                <a:solidFill>
                  <a:srgbClr val="5D6470"/>
                </a:solidFill>
                <a:latin typeface="Ubuntu"/>
                <a:ea typeface="Ubuntu"/>
                <a:cs typeface="Ubuntu"/>
              </a:rPr>
              <a:t>ShiftBy helps leaders preserve understanding when execution changes.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5D6470"/>
                </a:solidFill>
                <a:latin typeface="Ubuntu"/>
                <a:ea typeface="Ubuntu"/>
                <a:cs typeface="Ubuntu"/>
              </a:defRPr>
            </a:pPr>
            <a:r>
              <a:rPr sz="1650" b="0">
                <a:solidFill>
                  <a:srgbClr val="5D6470"/>
                </a:solidFill>
                <a:latin typeface="Ubuntu"/>
                <a:ea typeface="Ubuntu"/>
                <a:cs typeface="Ubuntu"/>
              </a:rPr>
              <a:t>It is most useful when decisions, knowledge, ownership, and accountability become harder to keep connected.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CA5D60B-4035-438A-90B6-B319DF75D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6477000"/>
            <a:ext cx="615315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E6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BAB2233-51E0-4723-B352-354FB9702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6724650"/>
            <a:ext cx="2476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C60C6"/>
                </a:solidFill>
                <a:latin typeface="Aptos Mono"/>
                <a:ea typeface="Aptos Mono"/>
                <a:cs typeface="Aptos Mono"/>
              </a:defRPr>
            </a:pPr>
            <a:r>
              <a:rPr sz="1050" b="1">
                <a:solidFill>
                  <a:srgbClr val="5C60C6"/>
                </a:solidFill>
                <a:latin typeface="Aptos Mono"/>
                <a:ea typeface="Aptos Mono"/>
                <a:cs typeface="Aptos Mono"/>
              </a:rPr>
              <a:t>Best used when a customer says: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CC632BC-7DC2-4992-9606-0134EDBCD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7086600"/>
            <a:ext cx="53340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0D0F12"/>
                </a:solidFill>
                <a:latin typeface="Ubuntu"/>
                <a:ea typeface="Ubuntu"/>
                <a:cs typeface="Ubuntu"/>
              </a:defRPr>
            </a:pPr>
            <a:r>
              <a:rPr sz="1800" b="0">
                <a:solidFill>
                  <a:srgbClr val="0D0F12"/>
                </a:solidFill>
                <a:latin typeface="Ubuntu"/>
                <a:ea typeface="Ubuntu"/>
                <a:cs typeface="Ubuntu"/>
              </a:rPr>
              <a:t>AI adoption</a:t>
            </a:r>
          </a:p>
          <a:p xmlns:a="http://schemas.openxmlformats.org/drawingml/2006/main">
            <a:pPr algn="l">
              <a:defRPr sz="1800" b="0">
                <a:solidFill>
                  <a:srgbClr val="0D0F12"/>
                </a:solidFill>
                <a:latin typeface="Ubuntu"/>
                <a:ea typeface="Ubuntu"/>
                <a:cs typeface="Ubuntu"/>
              </a:defRPr>
            </a:pPr>
            <a:r>
              <a:rPr sz="1800" b="0">
                <a:solidFill>
                  <a:srgbClr val="0D0F12"/>
                </a:solidFill>
                <a:latin typeface="Ubuntu"/>
                <a:ea typeface="Ubuntu"/>
                <a:cs typeface="Ubuntu"/>
              </a:rPr>
              <a:t>Governance and assurance</a:t>
            </a:r>
          </a:p>
          <a:p xmlns:a="http://schemas.openxmlformats.org/drawingml/2006/main">
            <a:pPr algn="l">
              <a:defRPr sz="1800" b="0">
                <a:solidFill>
                  <a:srgbClr val="0D0F12"/>
                </a:solidFill>
                <a:latin typeface="Ubuntu"/>
                <a:ea typeface="Ubuntu"/>
                <a:cs typeface="Ubuntu"/>
              </a:defRPr>
            </a:pPr>
            <a:r>
              <a:rPr sz="1800" b="0">
                <a:solidFill>
                  <a:srgbClr val="0D0F12"/>
                </a:solidFill>
                <a:latin typeface="Ubuntu"/>
                <a:ea typeface="Ubuntu"/>
                <a:cs typeface="Ubuntu"/>
              </a:rPr>
              <a:t>Knowledge loss and drift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3327798c0ea4bd1"/>
          <a:stretch xmlns:a="http://schemas.openxmlformats.org/drawingml/2006/main"/>
        </p:blipFill>
        <p:spPr>
          <a:xfrm xmlns:a="http://schemas.openxmlformats.org/drawingml/2006/main">
            <a:off x="1257300" y="457200"/>
            <a:ext cx="323850" cy="3238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8246378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ngagement-bg">
            <a:extLst xmlns:a="http://schemas.openxmlformats.org/drawingml/2006/main">
              <a:ext uri="{FF2B5EF4-FFF2-40B4-BE49-F238E27FC236}">
                <a16:creationId xmlns:a16="http://schemas.microsoft.com/office/drawing/2014/main" id="{09B9FDBC-7ABA-460C-B812-CA39806FF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A"/>
          </a:solidFill>
          <a:ln xmlns:a="http://schemas.openxmlformats.org/drawingml/2006/main" w="0">
            <a:solidFill>
              <a:srgbClr val="F5F6FA"/>
            </a:solidFill>
          </a:ln>
        </p:spPr>
      </p:sp>
      <p:sp>
        <p:nvSpPr>
          <p:cNvPr id="2" name="engagement-brand">
            <a:extLst xmlns:a="http://schemas.openxmlformats.org/drawingml/2006/main">
              <a:ext uri="{FF2B5EF4-FFF2-40B4-BE49-F238E27FC236}">
                <a16:creationId xmlns:a16="http://schemas.microsoft.com/office/drawing/2014/main" id="{932BD54F-BCBA-4608-BCC6-A49CC939D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495300"/>
            <a:ext cx="1809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D0F12"/>
                </a:solidFill>
                <a:latin typeface="Ubuntu"/>
                <a:ea typeface="Ubuntu"/>
                <a:cs typeface="Ubuntu"/>
              </a:defRPr>
            </a:pPr>
            <a:r>
              <a:rPr sz="1800" b="1">
                <a:solidFill>
                  <a:srgbClr val="0D0F12"/>
                </a:solidFill>
                <a:latin typeface="Ubuntu"/>
                <a:ea typeface="Ubuntu"/>
                <a:cs typeface="Ubuntu"/>
              </a:rPr>
              <a:t>SHIFTBY</a:t>
            </a:r>
          </a:p>
        </p:txBody>
      </p:sp>
      <p:sp>
        <p:nvSpPr>
          <p:cNvPr id="3" name="engagement-meta">
            <a:extLst xmlns:a="http://schemas.openxmlformats.org/drawingml/2006/main">
              <a:ext uri="{FF2B5EF4-FFF2-40B4-BE49-F238E27FC236}">
                <a16:creationId xmlns:a16="http://schemas.microsoft.com/office/drawing/2014/main" id="{F3E1627C-E83D-42FC-9B67-1AA187CA6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0" y="514350"/>
            <a:ext cx="1790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A6F7A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6A6F7A"/>
                </a:solidFill>
                <a:latin typeface="Aptos Mono"/>
                <a:ea typeface="Aptos Mono"/>
                <a:cs typeface="Aptos Mono"/>
              </a:rPr>
              <a:t>ENGAGEMENT MODEL</a:t>
            </a:r>
          </a:p>
        </p:txBody>
      </p:sp>
      <p:sp>
        <p:nvSpPr>
          <p:cNvPr id="4" name="engagement-rule-top">
            <a:extLst xmlns:a="http://schemas.openxmlformats.org/drawingml/2006/main">
              <a:ext uri="{FF2B5EF4-FFF2-40B4-BE49-F238E27FC236}">
                <a16:creationId xmlns:a16="http://schemas.microsoft.com/office/drawing/2014/main" id="{5E7E7170-4BD5-481F-9B86-DCD540AF1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1028700"/>
            <a:ext cx="15773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DE6"/>
          </a:solidFill>
          <a:ln xmlns:a="http://schemas.openxmlformats.org/drawingml/2006/main" w="0">
            <a:solidFill>
              <a:srgbClr val="D9DDE6"/>
            </a:solidFill>
          </a:ln>
        </p:spPr>
      </p:sp>
      <p:sp>
        <p:nvSpPr>
          <p:cNvPr id="5" name="engagement-rule-bottom">
            <a:extLst xmlns:a="http://schemas.openxmlformats.org/drawingml/2006/main">
              <a:ext uri="{FF2B5EF4-FFF2-40B4-BE49-F238E27FC236}">
                <a16:creationId xmlns:a16="http://schemas.microsoft.com/office/drawing/2014/main" id="{AC37E46F-09FD-46E5-8288-2862246F6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9410700"/>
            <a:ext cx="15773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DE6"/>
          </a:solidFill>
          <a:ln xmlns:a="http://schemas.openxmlformats.org/drawingml/2006/main" w="0">
            <a:solidFill>
              <a:srgbClr val="D9DDE6"/>
            </a:solidFill>
          </a:ln>
        </p:spPr>
      </p:sp>
      <p:sp>
        <p:nvSpPr>
          <p:cNvPr id="6" name="engagement-footer">
            <a:extLst xmlns:a="http://schemas.openxmlformats.org/drawingml/2006/main">
              <a:ext uri="{FF2B5EF4-FFF2-40B4-BE49-F238E27FC236}">
                <a16:creationId xmlns:a16="http://schemas.microsoft.com/office/drawing/2014/main" id="{8BCA3B96-9C00-45AD-953F-19CEA0264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9505950"/>
            <a:ext cx="8572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A6F7A"/>
                </a:solidFill>
                <a:latin typeface="Ubuntu"/>
                <a:ea typeface="Ubuntu"/>
                <a:cs typeface="Ubuntu"/>
              </a:defRPr>
            </a:pPr>
            <a:r>
              <a:rPr sz="1350" b="0">
                <a:solidFill>
                  <a:srgbClr val="6A6F7A"/>
                </a:solidFill>
                <a:latin typeface="Ubuntu"/>
                <a:ea typeface="Ubuntu"/>
                <a:cs typeface="Ubuntu"/>
              </a:rPr>
              <a:t>Commercial clarity: how ShiftBy typically engages.</a:t>
            </a:r>
          </a:p>
        </p:txBody>
      </p:sp>
      <p:sp>
        <p:nvSpPr>
          <p:cNvPr id="7" name="engagement-page">
            <a:extLst xmlns:a="http://schemas.openxmlformats.org/drawingml/2006/main">
              <a:ext uri="{FF2B5EF4-FFF2-40B4-BE49-F238E27FC236}">
                <a16:creationId xmlns:a16="http://schemas.microsoft.com/office/drawing/2014/main" id="{4DA8E5DC-5E6B-47FD-8AF0-2B3E1FB26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87750" y="9525000"/>
            <a:ext cx="762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6A6F7A"/>
                </a:solidFill>
                <a:latin typeface="Aptos Mono"/>
                <a:ea typeface="Aptos Mono"/>
                <a:cs typeface="Aptos Mono"/>
              </a:defRPr>
            </a:pPr>
            <a:r>
              <a:rPr sz="1350" b="1">
                <a:solidFill>
                  <a:srgbClr val="6A6F7A"/>
                </a:solidFill>
                <a:latin typeface="Aptos Mono"/>
                <a:ea typeface="Aptos Mono"/>
                <a:cs typeface="Aptos Mono"/>
              </a:rPr>
              <a:t>16 / 18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7D0D80D-8E6B-4BA9-9766-E00A0C7E1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1790700"/>
            <a:ext cx="3048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C60C6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5C60C6"/>
                </a:solidFill>
                <a:latin typeface="Aptos Mono"/>
                <a:ea typeface="Aptos Mono"/>
                <a:cs typeface="Aptos Mono"/>
              </a:rPr>
              <a:t>ENGAGEMENT MODEL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FBF5EE0-76A5-41E6-B427-847A60EAE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190750"/>
            <a:ext cx="7239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0" b="1">
                <a:solidFill>
                  <a:srgbClr val="0D0F12"/>
                </a:solidFill>
                <a:latin typeface="Ubuntu"/>
                <a:ea typeface="Ubuntu"/>
                <a:cs typeface="Ubuntu"/>
              </a:defRPr>
            </a:pPr>
            <a:r>
              <a:rPr sz="5250" b="1">
                <a:solidFill>
                  <a:srgbClr val="0D0F12"/>
                </a:solidFill>
                <a:latin typeface="Ubuntu"/>
                <a:ea typeface="Ubuntu"/>
                <a:cs typeface="Ubuntu"/>
              </a:rPr>
              <a:t>How ShiftBy engages.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3450F39-6419-4197-A4F2-6403C7E5C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448050"/>
            <a:ext cx="59055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5D6470"/>
                </a:solidFill>
                <a:latin typeface="Ubuntu"/>
                <a:ea typeface="Ubuntu"/>
                <a:cs typeface="Ubuntu"/>
              </a:defRPr>
            </a:pPr>
            <a:r>
              <a:rPr sz="2250" b="0">
                <a:solidFill>
                  <a:srgbClr val="5D6470"/>
                </a:solidFill>
                <a:latin typeface="Ubuntu"/>
                <a:ea typeface="Ubuntu"/>
                <a:cs typeface="Ubuntu"/>
              </a:rPr>
              <a:t>The work usually starts with a focused advisory conversation, then expands only where the organization needs more clarity, confidence, and action.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01835C3-C3FB-4B78-B712-98E3009BB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048250"/>
            <a:ext cx="35433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E6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9889730-0C34-4613-8694-EA73D9609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295900"/>
            <a:ext cx="30099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D0F12"/>
                </a:solidFill>
                <a:latin typeface="Ubuntu"/>
                <a:ea typeface="Ubuntu"/>
                <a:cs typeface="Ubuntu"/>
              </a:defRPr>
            </a:pPr>
            <a:r>
              <a:rPr sz="2250" b="1">
                <a:solidFill>
                  <a:srgbClr val="0D0F12"/>
                </a:solidFill>
                <a:latin typeface="Ubuntu"/>
                <a:ea typeface="Ubuntu"/>
                <a:cs typeface="Ubuntu"/>
              </a:rPr>
              <a:t>Advisory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F23917D-12E8-4F25-B547-1A82A38CB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6076950"/>
            <a:ext cx="30099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470"/>
                </a:solidFill>
                <a:latin typeface="Ubuntu"/>
                <a:ea typeface="Ubuntu"/>
                <a:cs typeface="Ubuntu"/>
              </a:defRPr>
            </a:pPr>
            <a:r>
              <a:rPr sz="1650" b="0">
                <a:solidFill>
                  <a:srgbClr val="5D6470"/>
                </a:solidFill>
                <a:latin typeface="Ubuntu"/>
                <a:ea typeface="Ubuntu"/>
                <a:cs typeface="Ubuntu"/>
              </a:rPr>
              <a:t>Clarify direction, decisions, and priorities before work broadens.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83D4DE0-E7AB-46DF-BF5F-C4799D1EF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5048250"/>
            <a:ext cx="35433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E6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E9B379B-7928-416C-8D71-29E514178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5295900"/>
            <a:ext cx="30099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D0F12"/>
                </a:solidFill>
                <a:latin typeface="Ubuntu"/>
                <a:ea typeface="Ubuntu"/>
                <a:cs typeface="Ubuntu"/>
              </a:defRPr>
            </a:pPr>
            <a:r>
              <a:rPr sz="2250" b="1">
                <a:solidFill>
                  <a:srgbClr val="0D0F12"/>
                </a:solidFill>
                <a:latin typeface="Ubuntu"/>
                <a:ea typeface="Ubuntu"/>
                <a:cs typeface="Ubuntu"/>
              </a:rPr>
              <a:t>Workshops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D132D33-7578-49C6-850B-97BAB215D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6076950"/>
            <a:ext cx="30099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470"/>
                </a:solidFill>
                <a:latin typeface="Ubuntu"/>
                <a:ea typeface="Ubuntu"/>
                <a:cs typeface="Ubuntu"/>
              </a:defRPr>
            </a:pPr>
            <a:r>
              <a:rPr sz="1650" b="0">
                <a:solidFill>
                  <a:srgbClr val="5D6470"/>
                </a:solidFill>
                <a:latin typeface="Ubuntu"/>
                <a:ea typeface="Ubuntu"/>
                <a:cs typeface="Ubuntu"/>
              </a:rPr>
              <a:t>Align leadership teams around the challenge and the next move.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5D5AC62-6BD3-4FD1-A969-1AD5660BF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5048250"/>
            <a:ext cx="35433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E6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A82EB59-FF83-4137-9577-3EDBD40FB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5295900"/>
            <a:ext cx="30099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D0F12"/>
                </a:solidFill>
                <a:latin typeface="Ubuntu"/>
                <a:ea typeface="Ubuntu"/>
                <a:cs typeface="Ubuntu"/>
              </a:defRPr>
            </a:pPr>
            <a:r>
              <a:rPr sz="2250" b="1">
                <a:solidFill>
                  <a:srgbClr val="0D0F12"/>
                </a:solidFill>
                <a:latin typeface="Ubuntu"/>
                <a:ea typeface="Ubuntu"/>
                <a:cs typeface="Ubuntu"/>
              </a:rPr>
              <a:t>Capability mapping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404F4F4-BF5C-4D62-84B4-74A54D481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6076950"/>
            <a:ext cx="30099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470"/>
                </a:solidFill>
                <a:latin typeface="Ubuntu"/>
                <a:ea typeface="Ubuntu"/>
                <a:cs typeface="Ubuntu"/>
              </a:defRPr>
            </a:pPr>
            <a:r>
              <a:rPr sz="1650" b="0">
                <a:solidFill>
                  <a:srgbClr val="5D6470"/>
                </a:solidFill>
                <a:latin typeface="Ubuntu"/>
                <a:ea typeface="Ubuntu"/>
                <a:cs typeface="Ubuntu"/>
              </a:rPr>
              <a:t>Map traceability, memory, accountability, and execution into a working picture.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5BF1081-82A1-4E19-9BA1-744677D70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87300" y="5048250"/>
            <a:ext cx="35433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E6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1943E07-B9E4-4302-AF01-90F992D1C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0" y="5295900"/>
            <a:ext cx="30099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D0F12"/>
                </a:solidFill>
                <a:latin typeface="Ubuntu"/>
                <a:ea typeface="Ubuntu"/>
                <a:cs typeface="Ubuntu"/>
              </a:defRPr>
            </a:pPr>
            <a:r>
              <a:rPr sz="2250" b="1">
                <a:solidFill>
                  <a:srgbClr val="0D0F12"/>
                </a:solidFill>
                <a:latin typeface="Ubuntu"/>
                <a:ea typeface="Ubuntu"/>
                <a:cs typeface="Ubuntu"/>
              </a:rPr>
              <a:t>Ongoing support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5CFB601-7AAA-48CA-B94B-DF59041F7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0" y="6076950"/>
            <a:ext cx="30099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470"/>
                </a:solidFill>
                <a:latin typeface="Ubuntu"/>
                <a:ea typeface="Ubuntu"/>
                <a:cs typeface="Ubuntu"/>
              </a:defRPr>
            </a:pPr>
            <a:r>
              <a:rPr sz="1650" b="0">
                <a:solidFill>
                  <a:srgbClr val="5D6470"/>
                </a:solidFill>
                <a:latin typeface="Ubuntu"/>
                <a:ea typeface="Ubuntu"/>
                <a:cs typeface="Ubuntu"/>
              </a:rPr>
              <a:t>Stay with the work as priorities, risks, and decisions continue to change.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641D38D-AD89-4A2E-9076-EA38E6617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8001000"/>
            <a:ext cx="97155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5D6470"/>
                </a:solidFill>
                <a:latin typeface="Ubuntu"/>
                <a:ea typeface="Ubuntu"/>
                <a:cs typeface="Ubuntu"/>
              </a:defRPr>
            </a:pPr>
            <a:r>
              <a:rPr sz="2250" b="0">
                <a:solidFill>
                  <a:srgbClr val="5D6470"/>
                </a:solidFill>
                <a:latin typeface="Ubuntu"/>
                <a:ea typeface="Ubuntu"/>
                <a:cs typeface="Ubuntu"/>
              </a:rPr>
              <a:t>Start small. Move fast. Deepen only where the organization needs it.</a:t>
            </a:r>
          </a:p>
        </p:txBody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b5385c146a8441e"/>
          <a:stretch xmlns:a="http://schemas.openxmlformats.org/drawingml/2006/main"/>
        </p:blipFill>
        <p:spPr>
          <a:xfrm xmlns:a="http://schemas.openxmlformats.org/drawingml/2006/main">
            <a:off x="1257300" y="457200"/>
            <a:ext cx="323850" cy="3238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713886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outcomes-bg">
            <a:extLst xmlns:a="http://schemas.openxmlformats.org/drawingml/2006/main">
              <a:ext uri="{FF2B5EF4-FFF2-40B4-BE49-F238E27FC236}">
                <a16:creationId xmlns:a16="http://schemas.microsoft.com/office/drawing/2014/main" id="{C54103BC-6F1B-4928-B7E8-00E5DB159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A"/>
          </a:solidFill>
          <a:ln xmlns:a="http://schemas.openxmlformats.org/drawingml/2006/main" w="0">
            <a:solidFill>
              <a:srgbClr val="F5F6FA"/>
            </a:solidFill>
          </a:ln>
        </p:spPr>
      </p:sp>
      <p:sp>
        <p:nvSpPr>
          <p:cNvPr id="2" name="outcomes-brand">
            <a:extLst xmlns:a="http://schemas.openxmlformats.org/drawingml/2006/main">
              <a:ext uri="{FF2B5EF4-FFF2-40B4-BE49-F238E27FC236}">
                <a16:creationId xmlns:a16="http://schemas.microsoft.com/office/drawing/2014/main" id="{406AFCA3-2CAE-4005-82BF-CC71F4194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495300"/>
            <a:ext cx="1809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D0F12"/>
                </a:solidFill>
                <a:latin typeface="Ubuntu"/>
                <a:ea typeface="Ubuntu"/>
                <a:cs typeface="Ubuntu"/>
              </a:defRPr>
            </a:pPr>
            <a:r>
              <a:rPr sz="1800" b="1">
                <a:solidFill>
                  <a:srgbClr val="0D0F12"/>
                </a:solidFill>
                <a:latin typeface="Ubuntu"/>
                <a:ea typeface="Ubuntu"/>
                <a:cs typeface="Ubuntu"/>
              </a:rPr>
              <a:t>SHIFTBY</a:t>
            </a:r>
          </a:p>
        </p:txBody>
      </p:sp>
      <p:sp>
        <p:nvSpPr>
          <p:cNvPr id="3" name="outcomes-meta">
            <a:extLst xmlns:a="http://schemas.openxmlformats.org/drawingml/2006/main">
              <a:ext uri="{FF2B5EF4-FFF2-40B4-BE49-F238E27FC236}">
                <a16:creationId xmlns:a16="http://schemas.microsoft.com/office/drawing/2014/main" id="{691E8795-E07F-4662-B6E9-7E799A153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0" y="514350"/>
            <a:ext cx="1790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A6F7A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6A6F7A"/>
                </a:solidFill>
                <a:latin typeface="Aptos Mono"/>
                <a:ea typeface="Aptos Mono"/>
                <a:cs typeface="Aptos Mono"/>
              </a:rPr>
              <a:t>TYPICAL OUTCOMES</a:t>
            </a:r>
          </a:p>
        </p:txBody>
      </p:sp>
      <p:sp>
        <p:nvSpPr>
          <p:cNvPr id="4" name="outcomes-rule-top">
            <a:extLst xmlns:a="http://schemas.openxmlformats.org/drawingml/2006/main">
              <a:ext uri="{FF2B5EF4-FFF2-40B4-BE49-F238E27FC236}">
                <a16:creationId xmlns:a16="http://schemas.microsoft.com/office/drawing/2014/main" id="{A2A419A4-9125-422F-B235-4B135FEBD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1028700"/>
            <a:ext cx="15773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DE6"/>
          </a:solidFill>
          <a:ln xmlns:a="http://schemas.openxmlformats.org/drawingml/2006/main" w="0">
            <a:solidFill>
              <a:srgbClr val="D9DDE6"/>
            </a:solidFill>
          </a:ln>
        </p:spPr>
      </p:sp>
      <p:sp>
        <p:nvSpPr>
          <p:cNvPr id="5" name="outcomes-rule-bottom">
            <a:extLst xmlns:a="http://schemas.openxmlformats.org/drawingml/2006/main">
              <a:ext uri="{FF2B5EF4-FFF2-40B4-BE49-F238E27FC236}">
                <a16:creationId xmlns:a16="http://schemas.microsoft.com/office/drawing/2014/main" id="{CC359807-860F-498A-B30A-B547CDF8C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9410700"/>
            <a:ext cx="15773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DE6"/>
          </a:solidFill>
          <a:ln xmlns:a="http://schemas.openxmlformats.org/drawingml/2006/main" w="0">
            <a:solidFill>
              <a:srgbClr val="D9DDE6"/>
            </a:solidFill>
          </a:ln>
        </p:spPr>
      </p:sp>
      <p:sp>
        <p:nvSpPr>
          <p:cNvPr id="6" name="outcomes-footer">
            <a:extLst xmlns:a="http://schemas.openxmlformats.org/drawingml/2006/main">
              <a:ext uri="{FF2B5EF4-FFF2-40B4-BE49-F238E27FC236}">
                <a16:creationId xmlns:a16="http://schemas.microsoft.com/office/drawing/2014/main" id="{10C24AA5-7D57-4314-BBF6-5D938A276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9505950"/>
            <a:ext cx="8572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A6F7A"/>
                </a:solidFill>
                <a:latin typeface="Ubuntu"/>
                <a:ea typeface="Ubuntu"/>
                <a:cs typeface="Ubuntu"/>
              </a:defRPr>
            </a:pPr>
            <a:r>
              <a:rPr sz="1350" b="0">
                <a:solidFill>
                  <a:srgbClr val="6A6F7A"/>
                </a:solidFill>
                <a:latin typeface="Ubuntu"/>
                <a:ea typeface="Ubuntu"/>
                <a:cs typeface="Ubuntu"/>
              </a:rPr>
              <a:t>Commercial value: what the engagement should leave behind.</a:t>
            </a:r>
          </a:p>
        </p:txBody>
      </p:sp>
      <p:sp>
        <p:nvSpPr>
          <p:cNvPr id="7" name="outcomes-page">
            <a:extLst xmlns:a="http://schemas.openxmlformats.org/drawingml/2006/main">
              <a:ext uri="{FF2B5EF4-FFF2-40B4-BE49-F238E27FC236}">
                <a16:creationId xmlns:a16="http://schemas.microsoft.com/office/drawing/2014/main" id="{4B921704-8FA7-4199-8F77-7F0FB0608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87750" y="9525000"/>
            <a:ext cx="762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6A6F7A"/>
                </a:solidFill>
                <a:latin typeface="Aptos Mono"/>
                <a:ea typeface="Aptos Mono"/>
                <a:cs typeface="Aptos Mono"/>
              </a:defRPr>
            </a:pPr>
            <a:r>
              <a:rPr sz="1350" b="1">
                <a:solidFill>
                  <a:srgbClr val="6A6F7A"/>
                </a:solidFill>
                <a:latin typeface="Aptos Mono"/>
                <a:ea typeface="Aptos Mono"/>
                <a:cs typeface="Aptos Mono"/>
              </a:rPr>
              <a:t>17 / 18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003D9F6-3CAE-4F03-8946-CCD624DB0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179070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C60C6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5C60C6"/>
                </a:solidFill>
                <a:latin typeface="Aptos Mono"/>
                <a:ea typeface="Aptos Mono"/>
                <a:cs typeface="Aptos Mono"/>
              </a:rPr>
              <a:t>OUTCOMES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15185EA-A497-4D6B-B374-C62C62F39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190750"/>
            <a:ext cx="93345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700" b="1">
                <a:solidFill>
                  <a:srgbClr val="0D0F12"/>
                </a:solidFill>
                <a:latin typeface="Ubuntu"/>
                <a:ea typeface="Ubuntu"/>
                <a:cs typeface="Ubuntu"/>
              </a:defRPr>
            </a:pPr>
            <a:r>
              <a:rPr sz="5700" b="1">
                <a:solidFill>
                  <a:srgbClr val="0D0F12"/>
                </a:solidFill>
                <a:latin typeface="Ubuntu"/>
                <a:ea typeface="Ubuntu"/>
                <a:cs typeface="Ubuntu"/>
              </a:rPr>
              <a:t>What a good engagement should leave behind.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B61159F-8DAB-4F54-A734-E4BD5A897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848100"/>
            <a:ext cx="4495800" cy="384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E6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E38E42F-B5C6-42EE-BE35-6F530A142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095750"/>
            <a:ext cx="39624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D0F12"/>
                </a:solidFill>
                <a:latin typeface="Ubuntu"/>
                <a:ea typeface="Ubuntu"/>
                <a:cs typeface="Ubuntu"/>
              </a:defRPr>
            </a:pPr>
            <a:r>
              <a:rPr sz="2250" b="1">
                <a:solidFill>
                  <a:srgbClr val="0D0F12"/>
                </a:solidFill>
                <a:latin typeface="Ubuntu"/>
                <a:ea typeface="Ubuntu"/>
                <a:cs typeface="Ubuntu"/>
              </a:rPr>
              <a:t>Clearer decisions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23692E2-0B75-47AC-928D-95A698C16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876800"/>
            <a:ext cx="3962400" cy="2609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470"/>
                </a:solidFill>
                <a:latin typeface="Ubuntu"/>
                <a:ea typeface="Ubuntu"/>
                <a:cs typeface="Ubuntu"/>
              </a:defRPr>
            </a:pPr>
            <a:r>
              <a:rPr sz="1650" b="0">
                <a:solidFill>
                  <a:srgbClr val="5D6470"/>
                </a:solidFill>
                <a:latin typeface="Ubuntu"/>
                <a:ea typeface="Ubuntu"/>
                <a:cs typeface="Ubuntu"/>
              </a:rPr>
              <a:t>A sharper view of what is being decided, who owns it, and why it matters.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5D6470"/>
                </a:solidFill>
                <a:latin typeface="Ubuntu"/>
                <a:ea typeface="Ubuntu"/>
                <a:cs typeface="Ubuntu"/>
              </a:defRPr>
            </a:pPr>
            <a:r>
              <a:rPr sz="1650" b="0">
                <a:solidFill>
                  <a:srgbClr val="5D6470"/>
                </a:solidFill>
                <a:latin typeface="Ubuntu"/>
                <a:ea typeface="Ubuntu"/>
                <a:cs typeface="Ubuntu"/>
              </a:rPr>
              <a:t>The aim is not more discussion. It is better decision quality.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02B0821-FC84-41BB-8111-F05ADF69F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848100"/>
            <a:ext cx="4495800" cy="384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5C60C6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5543D62-0230-4A43-ADDE-9E23623EF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095750"/>
            <a:ext cx="39624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D0F12"/>
                </a:solidFill>
                <a:latin typeface="Ubuntu"/>
                <a:ea typeface="Ubuntu"/>
                <a:cs typeface="Ubuntu"/>
              </a:defRPr>
            </a:pPr>
            <a:r>
              <a:rPr sz="2250" b="1">
                <a:solidFill>
                  <a:srgbClr val="0D0F12"/>
                </a:solidFill>
                <a:latin typeface="Ubuntu"/>
                <a:ea typeface="Ubuntu"/>
                <a:cs typeface="Ubuntu"/>
              </a:rPr>
              <a:t>Recoverable context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3ECB1D0-E4A3-48F1-8E33-233BDEB2B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876800"/>
            <a:ext cx="3962400" cy="2609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470"/>
                </a:solidFill>
                <a:latin typeface="Ubuntu"/>
                <a:ea typeface="Ubuntu"/>
                <a:cs typeface="Ubuntu"/>
              </a:defRPr>
            </a:pPr>
            <a:r>
              <a:rPr sz="1650" b="0">
                <a:solidFill>
                  <a:srgbClr val="5D6470"/>
                </a:solidFill>
                <a:latin typeface="Ubuntu"/>
                <a:ea typeface="Ubuntu"/>
                <a:cs typeface="Ubuntu"/>
              </a:rPr>
              <a:t>A better ability to reconstruct the rationale, evidence, and change history behind important work.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5D6470"/>
                </a:solidFill>
                <a:latin typeface="Ubuntu"/>
                <a:ea typeface="Ubuntu"/>
                <a:cs typeface="Ubuntu"/>
              </a:defRPr>
            </a:pPr>
            <a:r>
              <a:rPr sz="1650" b="0">
                <a:solidFill>
                  <a:srgbClr val="5D6470"/>
                </a:solidFill>
                <a:latin typeface="Ubuntu"/>
                <a:ea typeface="Ubuntu"/>
                <a:cs typeface="Ubuntu"/>
              </a:rPr>
              <a:t>That makes the organization easier to explain and defend.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21AF533-112A-4174-BF18-3DE0A70C3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34900" y="3848100"/>
            <a:ext cx="4495800" cy="384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E6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A2DE9F3-65BD-4219-B7E7-4185777B1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00" y="4095750"/>
            <a:ext cx="39624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D0F12"/>
                </a:solidFill>
                <a:latin typeface="Ubuntu"/>
                <a:ea typeface="Ubuntu"/>
                <a:cs typeface="Ubuntu"/>
              </a:defRPr>
            </a:pPr>
            <a:r>
              <a:rPr sz="2250" b="1">
                <a:solidFill>
                  <a:srgbClr val="0D0F12"/>
                </a:solidFill>
                <a:latin typeface="Ubuntu"/>
                <a:ea typeface="Ubuntu"/>
                <a:cs typeface="Ubuntu"/>
              </a:rPr>
              <a:t>Stronger accountability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90E3FFA-74E5-4995-AD5D-51445BA8F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00" y="4876800"/>
            <a:ext cx="3962400" cy="2609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470"/>
                </a:solidFill>
                <a:latin typeface="Ubuntu"/>
                <a:ea typeface="Ubuntu"/>
                <a:cs typeface="Ubuntu"/>
              </a:defRPr>
            </a:pPr>
            <a:r>
              <a:rPr sz="1650" b="0">
                <a:solidFill>
                  <a:srgbClr val="5D6470"/>
                </a:solidFill>
                <a:latin typeface="Ubuntu"/>
                <a:ea typeface="Ubuntu"/>
                <a:cs typeface="Ubuntu"/>
              </a:rPr>
              <a:t>Clearer ownership across teams, systems, suppliers, automation, and AI.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5D6470"/>
                </a:solidFill>
                <a:latin typeface="Ubuntu"/>
                <a:ea typeface="Ubuntu"/>
                <a:cs typeface="Ubuntu"/>
              </a:defRPr>
            </a:pPr>
            <a:r>
              <a:rPr sz="1650" b="0">
                <a:solidFill>
                  <a:srgbClr val="5D6470"/>
                </a:solidFill>
                <a:latin typeface="Ubuntu"/>
                <a:ea typeface="Ubuntu"/>
                <a:cs typeface="Ubuntu"/>
              </a:rPr>
              <a:t>Confidence becomes easier to preserve when responsibility stays visible.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0AACD84-C0FD-4F22-90D8-FF8AE2914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8115300"/>
            <a:ext cx="9334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5D6470"/>
                </a:solidFill>
                <a:latin typeface="Ubuntu"/>
                <a:ea typeface="Ubuntu"/>
                <a:cs typeface="Ubuntu"/>
              </a:defRPr>
            </a:pPr>
            <a:r>
              <a:rPr sz="2250" b="0">
                <a:solidFill>
                  <a:srgbClr val="5D6470"/>
                </a:solidFill>
                <a:latin typeface="Ubuntu"/>
                <a:ea typeface="Ubuntu"/>
                <a:cs typeface="Ubuntu"/>
              </a:rPr>
              <a:t>The outcome is practical: more confidence, less drift, and a better basis for action.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e83479cf49a444d"/>
          <a:stretch xmlns:a="http://schemas.openxmlformats.org/drawingml/2006/main"/>
        </p:blipFill>
        <p:spPr>
          <a:xfrm xmlns:a="http://schemas.openxmlformats.org/drawingml/2006/main">
            <a:off x="1257300" y="457200"/>
            <a:ext cx="323850" cy="3238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3713628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ingapore-bg">
            <a:extLst xmlns:a="http://schemas.openxmlformats.org/drawingml/2006/main">
              <a:ext uri="{FF2B5EF4-FFF2-40B4-BE49-F238E27FC236}">
                <a16:creationId xmlns:a16="http://schemas.microsoft.com/office/drawing/2014/main" id="{95377C22-EA3E-4403-8E96-334FEF250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A"/>
          </a:solidFill>
          <a:ln xmlns:a="http://schemas.openxmlformats.org/drawingml/2006/main" w="0">
            <a:solidFill>
              <a:srgbClr val="F5F6FA"/>
            </a:solidFill>
          </a:ln>
        </p:spPr>
      </p:sp>
      <p:sp>
        <p:nvSpPr>
          <p:cNvPr id="2" name="singapore-brand">
            <a:extLst xmlns:a="http://schemas.openxmlformats.org/drawingml/2006/main">
              <a:ext uri="{FF2B5EF4-FFF2-40B4-BE49-F238E27FC236}">
                <a16:creationId xmlns:a16="http://schemas.microsoft.com/office/drawing/2014/main" id="{AE326208-0C5D-41FB-9D97-0840AE330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495300"/>
            <a:ext cx="1809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D0F12"/>
                </a:solidFill>
                <a:latin typeface="Ubuntu"/>
                <a:ea typeface="Ubuntu"/>
                <a:cs typeface="Ubuntu"/>
              </a:defRPr>
            </a:pPr>
            <a:r>
              <a:rPr sz="1800" b="1">
                <a:solidFill>
                  <a:srgbClr val="0D0F12"/>
                </a:solidFill>
                <a:latin typeface="Ubuntu"/>
                <a:ea typeface="Ubuntu"/>
                <a:cs typeface="Ubuntu"/>
              </a:rPr>
              <a:t>SHIFTBY</a:t>
            </a:r>
          </a:p>
        </p:txBody>
      </p:sp>
      <p:sp>
        <p:nvSpPr>
          <p:cNvPr id="3" name="singapore-meta">
            <a:extLst xmlns:a="http://schemas.openxmlformats.org/drawingml/2006/main">
              <a:ext uri="{FF2B5EF4-FFF2-40B4-BE49-F238E27FC236}">
                <a16:creationId xmlns:a16="http://schemas.microsoft.com/office/drawing/2014/main" id="{75EF84A3-345F-4E67-BCBB-D94AB116C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0" y="514350"/>
            <a:ext cx="1790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A6F7A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6A6F7A"/>
                </a:solidFill>
                <a:latin typeface="Aptos Mono"/>
                <a:ea typeface="Aptos Mono"/>
                <a:cs typeface="Aptos Mono"/>
              </a:rPr>
              <a:t>SINGAPORE / APAC</a:t>
            </a:r>
          </a:p>
        </p:txBody>
      </p:sp>
      <p:sp>
        <p:nvSpPr>
          <p:cNvPr id="4" name="singapore-rule-top">
            <a:extLst xmlns:a="http://schemas.openxmlformats.org/drawingml/2006/main">
              <a:ext uri="{FF2B5EF4-FFF2-40B4-BE49-F238E27FC236}">
                <a16:creationId xmlns:a16="http://schemas.microsoft.com/office/drawing/2014/main" id="{93F18BB9-F656-4732-A9EC-DB571BD90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1028700"/>
            <a:ext cx="15773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DE6"/>
          </a:solidFill>
          <a:ln xmlns:a="http://schemas.openxmlformats.org/drawingml/2006/main" w="0">
            <a:solidFill>
              <a:srgbClr val="D9DDE6"/>
            </a:solidFill>
          </a:ln>
        </p:spPr>
      </p:sp>
      <p:sp>
        <p:nvSpPr>
          <p:cNvPr id="5" name="singapore-rule-bottom">
            <a:extLst xmlns:a="http://schemas.openxmlformats.org/drawingml/2006/main">
              <a:ext uri="{FF2B5EF4-FFF2-40B4-BE49-F238E27FC236}">
                <a16:creationId xmlns:a16="http://schemas.microsoft.com/office/drawing/2014/main" id="{CDB90981-AF6F-4A77-BB91-E972305A8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9410700"/>
            <a:ext cx="15773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DE6"/>
          </a:solidFill>
          <a:ln xmlns:a="http://schemas.openxmlformats.org/drawingml/2006/main" w="0">
            <a:solidFill>
              <a:srgbClr val="D9DDE6"/>
            </a:solidFill>
          </a:ln>
        </p:spPr>
      </p:sp>
      <p:sp>
        <p:nvSpPr>
          <p:cNvPr id="6" name="singapore-footer">
            <a:extLst xmlns:a="http://schemas.openxmlformats.org/drawingml/2006/main">
              <a:ext uri="{FF2B5EF4-FFF2-40B4-BE49-F238E27FC236}">
                <a16:creationId xmlns:a16="http://schemas.microsoft.com/office/drawing/2014/main" id="{35BF0542-3458-4863-AF0D-1A4E80A90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9505950"/>
            <a:ext cx="8572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A6F7A"/>
                </a:solidFill>
                <a:latin typeface="Ubuntu"/>
                <a:ea typeface="Ubuntu"/>
                <a:cs typeface="Ubuntu"/>
              </a:defRPr>
            </a:pPr>
            <a:r>
              <a:rPr sz="1350" b="0">
                <a:solidFill>
                  <a:srgbClr val="6A6F7A"/>
                </a:solidFill>
                <a:latin typeface="Ubuntu"/>
                <a:ea typeface="Ubuntu"/>
                <a:cs typeface="Ubuntu"/>
              </a:rPr>
              <a:t>Singapore context: local, founder-led, APAC-aware.</a:t>
            </a:r>
          </a:p>
        </p:txBody>
      </p:sp>
      <p:sp>
        <p:nvSpPr>
          <p:cNvPr id="7" name="singapore-page">
            <a:extLst xmlns:a="http://schemas.openxmlformats.org/drawingml/2006/main">
              <a:ext uri="{FF2B5EF4-FFF2-40B4-BE49-F238E27FC236}">
                <a16:creationId xmlns:a16="http://schemas.microsoft.com/office/drawing/2014/main" id="{42A78415-F932-406B-9E91-3B3012A30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87750" y="9525000"/>
            <a:ext cx="762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6A6F7A"/>
                </a:solidFill>
                <a:latin typeface="Aptos Mono"/>
                <a:ea typeface="Aptos Mono"/>
                <a:cs typeface="Aptos Mono"/>
              </a:defRPr>
            </a:pPr>
            <a:r>
              <a:rPr sz="1350" b="1">
                <a:solidFill>
                  <a:srgbClr val="6A6F7A"/>
                </a:solidFill>
                <a:latin typeface="Aptos Mono"/>
                <a:ea typeface="Aptos Mono"/>
                <a:cs typeface="Aptos Mono"/>
              </a:rPr>
              <a:t>18 / 18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A9ACF68-6E29-4E2F-996A-A4E779E2A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1790700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C60C6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5C60C6"/>
                </a:solidFill>
                <a:latin typeface="Aptos Mono"/>
                <a:ea typeface="Aptos Mono"/>
                <a:cs typeface="Aptos Mono"/>
              </a:rPr>
              <a:t>SINGAPORE CONTEXT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33D6364-D6AC-4532-A0D0-EFA81F7A1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190750"/>
            <a:ext cx="112395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950" b="1">
                <a:solidFill>
                  <a:srgbClr val="0D0F12"/>
                </a:solidFill>
                <a:latin typeface="Ubuntu"/>
                <a:ea typeface="Ubuntu"/>
                <a:cs typeface="Ubuntu"/>
              </a:defRPr>
            </a:pPr>
            <a:r>
              <a:rPr sz="4950" b="1">
                <a:solidFill>
                  <a:srgbClr val="0D0F12"/>
                </a:solidFill>
                <a:latin typeface="Ubuntu"/>
                <a:ea typeface="Ubuntu"/>
                <a:cs typeface="Ubuntu"/>
              </a:rPr>
              <a:t>Built for Singapore conversations, with APAC leadership context.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BEE4FFF-45D9-4079-AA16-1610A6242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638550"/>
            <a:ext cx="752475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5D6470"/>
                </a:solidFill>
                <a:latin typeface="Ubuntu"/>
                <a:ea typeface="Ubuntu"/>
                <a:cs typeface="Ubuntu"/>
              </a:defRPr>
            </a:pPr>
            <a:r>
              <a:rPr sz="2250" b="0">
                <a:solidFill>
                  <a:srgbClr val="5D6470"/>
                </a:solidFill>
                <a:latin typeface="Ubuntu"/>
                <a:ea typeface="Ubuntu"/>
                <a:cs typeface="Ubuntu"/>
              </a:rPr>
              <a:t>ShiftBy is positioned for Singapore-based leaders and partner conversations where AI, governance, knowledge, and execution intersect.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FBC084F-B287-4BBA-A21B-A0E00EF48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334000"/>
            <a:ext cx="43815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5C60C6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337E410-BA6B-41C0-B8FB-7F496ED2B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581650"/>
            <a:ext cx="38481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D0F12"/>
                </a:solidFill>
                <a:latin typeface="Ubuntu"/>
                <a:ea typeface="Ubuntu"/>
                <a:cs typeface="Ubuntu"/>
              </a:defRPr>
            </a:pPr>
            <a:r>
              <a:rPr sz="2250" b="1">
                <a:solidFill>
                  <a:srgbClr val="0D0F12"/>
                </a:solidFill>
                <a:latin typeface="Ubuntu"/>
                <a:ea typeface="Ubuntu"/>
                <a:cs typeface="Ubuntu"/>
              </a:rPr>
              <a:t>Singapore-based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4ACA357-1A1F-4F37-9BBA-AFB7957FF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6362700"/>
            <a:ext cx="38481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470"/>
                </a:solidFill>
                <a:latin typeface="Ubuntu"/>
                <a:ea typeface="Ubuntu"/>
                <a:cs typeface="Ubuntu"/>
              </a:defRPr>
            </a:pPr>
            <a:r>
              <a:rPr sz="1650" b="0">
                <a:solidFill>
                  <a:srgbClr val="5D6470"/>
                </a:solidFill>
                <a:latin typeface="Ubuntu"/>
                <a:ea typeface="Ubuntu"/>
                <a:cs typeface="Ubuntu"/>
              </a:rPr>
              <a:t>Founder-led advisory work rooted in Singapore and relevant for local enterprise conversations.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A517E7F-BCDF-491A-B853-246D277B7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5334000"/>
            <a:ext cx="43815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E6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8BE7544-130F-451B-B27C-346582120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5581650"/>
            <a:ext cx="38481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D0F12"/>
                </a:solidFill>
                <a:latin typeface="Ubuntu"/>
                <a:ea typeface="Ubuntu"/>
                <a:cs typeface="Ubuntu"/>
              </a:defRPr>
            </a:pPr>
            <a:r>
              <a:rPr sz="2250" b="1">
                <a:solidFill>
                  <a:srgbClr val="0D0F12"/>
                </a:solidFill>
                <a:latin typeface="Ubuntu"/>
                <a:ea typeface="Ubuntu"/>
                <a:cs typeface="Ubuntu"/>
              </a:rPr>
              <a:t>APAC leadership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E4986E9-2CC9-425F-96A7-4B0C7CED5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6362700"/>
            <a:ext cx="38481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470"/>
                </a:solidFill>
                <a:latin typeface="Ubuntu"/>
                <a:ea typeface="Ubuntu"/>
                <a:cs typeface="Ubuntu"/>
              </a:defRPr>
            </a:pPr>
            <a:r>
              <a:rPr sz="1650" b="0">
                <a:solidFill>
                  <a:srgbClr val="5D6470"/>
                </a:solidFill>
                <a:latin typeface="Ubuntu"/>
                <a:ea typeface="Ubuntu"/>
                <a:cs typeface="Ubuntu"/>
              </a:rPr>
              <a:t>Useful for regional operating environments where execution, governance, and knowledge move across teams.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7AE7F0C-9AB8-4A9F-8CEE-72D54A0C1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5334000"/>
            <a:ext cx="43815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E6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9E4FCAA-714F-4364-9B17-AE5DBD701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5581650"/>
            <a:ext cx="38481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D0F12"/>
                </a:solidFill>
                <a:latin typeface="Ubuntu"/>
                <a:ea typeface="Ubuntu"/>
                <a:cs typeface="Ubuntu"/>
              </a:defRPr>
            </a:pPr>
            <a:r>
              <a:rPr sz="2250" b="1">
                <a:solidFill>
                  <a:srgbClr val="0D0F12"/>
                </a:solidFill>
                <a:latin typeface="Ubuntu"/>
                <a:ea typeface="Ubuntu"/>
                <a:cs typeface="Ubuntu"/>
              </a:rPr>
              <a:t>Local contact signal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535A223-D673-47FF-8C7E-230F40CA8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362700"/>
            <a:ext cx="38481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470"/>
                </a:solidFill>
                <a:latin typeface="Ubuntu"/>
                <a:ea typeface="Ubuntu"/>
                <a:cs typeface="Ubuntu"/>
              </a:defRPr>
            </a:pPr>
            <a:r>
              <a:rPr sz="1650" b="0">
                <a:solidFill>
                  <a:srgbClr val="5D6470"/>
                </a:solidFill>
                <a:latin typeface="Ubuntu"/>
                <a:ea typeface="Ubuntu"/>
                <a:cs typeface="Ubuntu"/>
              </a:rPr>
              <a:t>Vision Exchange, 2 Venture Drive, #19-18, Singapore 608526.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5D6470"/>
                </a:solidFill>
                <a:latin typeface="Ubuntu"/>
                <a:ea typeface="Ubuntu"/>
                <a:cs typeface="Ubuntu"/>
              </a:defRPr>
            </a:pPr>
            <a:r>
              <a:rPr sz="1650" b="0">
                <a:solidFill>
                  <a:srgbClr val="5D6470"/>
                </a:solidFill>
                <a:latin typeface="Ubuntu"/>
                <a:ea typeface="Ubuntu"/>
                <a:cs typeface="Ubuntu"/>
              </a:rPr>
              <a:t>anandakrishnam@shiftby.sg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8C47CAC-C88E-40D6-ABD4-5D7480E6D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8324850"/>
            <a:ext cx="3619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D0F12"/>
                </a:solidFill>
                <a:latin typeface="Ubuntu"/>
                <a:ea typeface="Ubuntu"/>
                <a:cs typeface="Ubuntu"/>
              </a:defRPr>
            </a:pPr>
            <a:r>
              <a:rPr sz="1500" b="1">
                <a:solidFill>
                  <a:srgbClr val="0D0F12"/>
                </a:solidFill>
                <a:latin typeface="Ubuntu"/>
                <a:ea typeface="Ubuntu"/>
                <a:cs typeface="Ubuntu"/>
              </a:rPr>
              <a:t>ShiftBy Pte. Ltd.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706B453-23DD-4741-BA87-3F719CFD2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8648700"/>
            <a:ext cx="4953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A6F7A"/>
                </a:solidFill>
                <a:latin typeface="Ubuntu"/>
                <a:ea typeface="Ubuntu"/>
                <a:cs typeface="Ubuntu"/>
              </a:defRPr>
            </a:pPr>
            <a:r>
              <a:rPr sz="1350" b="0">
                <a:solidFill>
                  <a:srgbClr val="6A6F7A"/>
                </a:solidFill>
                <a:latin typeface="Ubuntu"/>
                <a:ea typeface="Ubuntu"/>
                <a:cs typeface="Ubuntu"/>
              </a:rPr>
              <a:t>For partner sharing in Singapore and the region.</a:t>
            </a:r>
          </a:p>
        </p:txBody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6d52df4fe5f49d7"/>
          <a:stretch xmlns:a="http://schemas.openxmlformats.org/drawingml/2006/main"/>
        </p:blipFill>
        <p:spPr>
          <a:xfrm xmlns:a="http://schemas.openxmlformats.org/drawingml/2006/main">
            <a:off x="1257300" y="457200"/>
            <a:ext cx="323850" cy="3238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65489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2026-06-14T18:13:51.0470000Z</dcterms:created>
  <dcterms:modified xsi:type="dcterms:W3CDTF">2026-06-14T18:13:51.0480000Z</dcterms:modified>
</coreProperties>
</file>