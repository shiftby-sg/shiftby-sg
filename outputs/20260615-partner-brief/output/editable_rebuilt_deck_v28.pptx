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e1d40070d14b13" /><Relationship Type="http://schemas.openxmlformats.org/officeDocument/2006/relationships/extended-properties" Target="/docProps/app.xml" Id="R4f7ae387a2294c43" /><Relationship Type="http://schemas.openxmlformats.org/officeDocument/2006/relationships/officeDocument" Target="/ppt/presentation.xml" Id="Rd5518d27faaa47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b2137e283b4b25"/>
  </p:sldMasterIdLst>
  <p:notesMasterIdLst>
    <p:notesMasterId xmlns:r="http://schemas.openxmlformats.org/officeDocument/2006/relationships" r:id="Re5c11b3261ae4266"/>
  </p:notesMasterIdLst>
  <p:sldIdLst>
    <p:sldId xmlns:r="http://schemas.openxmlformats.org/officeDocument/2006/relationships" id="256" r:id="R24a0eda2c54f43c8"/>
    <p:sldId xmlns:r="http://schemas.openxmlformats.org/officeDocument/2006/relationships" id="257" r:id="R93b823c60e564715"/>
    <p:sldId xmlns:r="http://schemas.openxmlformats.org/officeDocument/2006/relationships" id="258" r:id="Rb7f89680d8b64d09"/>
    <p:sldId xmlns:r="http://schemas.openxmlformats.org/officeDocument/2006/relationships" id="259" r:id="R213e271340c141ae"/>
    <p:sldId xmlns:r="http://schemas.openxmlformats.org/officeDocument/2006/relationships" id="260" r:id="R4ce163b1d2494fa6"/>
    <p:sldId xmlns:r="http://schemas.openxmlformats.org/officeDocument/2006/relationships" id="261" r:id="Rdc16ae3751c24b1b"/>
    <p:sldId xmlns:r="http://schemas.openxmlformats.org/officeDocument/2006/relationships" id="262" r:id="Rb09b6c6098d444a1"/>
    <p:sldId xmlns:r="http://schemas.openxmlformats.org/officeDocument/2006/relationships" id="263" r:id="R2bfd12657b544dce"/>
    <p:sldId xmlns:r="http://schemas.openxmlformats.org/officeDocument/2006/relationships" id="264" r:id="R5585df524ab54a38"/>
    <p:sldId xmlns:r="http://schemas.openxmlformats.org/officeDocument/2006/relationships" id="265" r:id="Rb1f24df2719e417c"/>
    <p:sldId xmlns:r="http://schemas.openxmlformats.org/officeDocument/2006/relationships" id="266" r:id="Rf4b9e9282c8346d1"/>
    <p:sldId xmlns:r="http://schemas.openxmlformats.org/officeDocument/2006/relationships" id="267" r:id="R2804f58a43b443c7"/>
    <p:sldId xmlns:r="http://schemas.openxmlformats.org/officeDocument/2006/relationships" id="268" r:id="R4ce8c0008bd34106"/>
    <p:sldId xmlns:r="http://schemas.openxmlformats.org/officeDocument/2006/relationships" id="269" r:id="Rc313b552928f428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bbfd2b77a9409f" /><Relationship Type="http://schemas.openxmlformats.org/officeDocument/2006/relationships/slideMaster" Target="/ppt/slideMasters/slideMaster1.xml" Id="Re2b2137e283b4b25" /><Relationship Type="http://schemas.openxmlformats.org/officeDocument/2006/relationships/notesMaster" Target="/ppt/notesMasters/notesMaster1.xml" Id="Re5c11b3261ae4266" /><Relationship Type="http://schemas.openxmlformats.org/officeDocument/2006/relationships/presProps" Target="/ppt/presProps.xml" Id="R70d7bdeda75f4c68" /><Relationship Type="http://schemas.openxmlformats.org/officeDocument/2006/relationships/tableStyles" Target="/ppt/tableStyles.xml" Id="Rd2d68c07828b4ba1" /><Relationship Type="http://schemas.openxmlformats.org/officeDocument/2006/relationships/slide" Target="/ppt/slides/slide1.xml" Id="R24a0eda2c54f43c8" /><Relationship Type="http://schemas.openxmlformats.org/officeDocument/2006/relationships/slide" Target="/ppt/slides/slide2.xml" Id="R93b823c60e564715" /><Relationship Type="http://schemas.openxmlformats.org/officeDocument/2006/relationships/slide" Target="/ppt/slides/slide3.xml" Id="Rb7f89680d8b64d09" /><Relationship Type="http://schemas.openxmlformats.org/officeDocument/2006/relationships/slide" Target="/ppt/slides/slide4.xml" Id="R213e271340c141ae" /><Relationship Type="http://schemas.openxmlformats.org/officeDocument/2006/relationships/slide" Target="/ppt/slides/slide5.xml" Id="R4ce163b1d2494fa6" /><Relationship Type="http://schemas.openxmlformats.org/officeDocument/2006/relationships/slide" Target="/ppt/slides/slide6.xml" Id="Rdc16ae3751c24b1b" /><Relationship Type="http://schemas.openxmlformats.org/officeDocument/2006/relationships/slide" Target="/ppt/slides/slide7.xml" Id="Rb09b6c6098d444a1" /><Relationship Type="http://schemas.openxmlformats.org/officeDocument/2006/relationships/slide" Target="/ppt/slides/slide8.xml" Id="R2bfd12657b544dce" /><Relationship Type="http://schemas.openxmlformats.org/officeDocument/2006/relationships/slide" Target="/ppt/slides/slide9.xml" Id="R5585df524ab54a38" /><Relationship Type="http://schemas.openxmlformats.org/officeDocument/2006/relationships/slide" Target="/ppt/slides/slide10.xml" Id="Rb1f24df2719e417c" /><Relationship Type="http://schemas.openxmlformats.org/officeDocument/2006/relationships/slide" Target="/ppt/slides/slide11.xml" Id="Rf4b9e9282c8346d1" /><Relationship Type="http://schemas.openxmlformats.org/officeDocument/2006/relationships/slide" Target="/ppt/slides/slide12.xml" Id="R2804f58a43b443c7" /><Relationship Type="http://schemas.openxmlformats.org/officeDocument/2006/relationships/slide" Target="/ppt/slides/slide13.xml" Id="R4ce8c0008bd34106" /><Relationship Type="http://schemas.openxmlformats.org/officeDocument/2006/relationships/slide" Target="/ppt/slides/slide14.xml" Id="Rc313b552928f42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1638ed223248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485c82d0e44740" /><Relationship Type="http://schemas.openxmlformats.org/officeDocument/2006/relationships/notesMaster" Target="/ppt/notesMasters/notesMaster1.xml" Id="R941be2f7423f48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968b66c2974d65" /><Relationship Type="http://schemas.openxmlformats.org/officeDocument/2006/relationships/notesMaster" Target="/ppt/notesMasters/notesMaster1.xml" Id="R6dc91847beaa47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d072e285e843f4" /><Relationship Type="http://schemas.openxmlformats.org/officeDocument/2006/relationships/notesMaster" Target="/ppt/notesMasters/notesMaster1.xml" Id="R4ad8a9ac930949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7e95a172b24df8" /><Relationship Type="http://schemas.openxmlformats.org/officeDocument/2006/relationships/notesMaster" Target="/ppt/notesMasters/notesMaster1.xml" Id="Ra34b256648c04e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4b998cf5c74fb2" /><Relationship Type="http://schemas.openxmlformats.org/officeDocument/2006/relationships/notesMaster" Target="/ppt/notesMasters/notesMaster1.xml" Id="R1be3372f6b5f40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ecddc6708a64abf" /><Relationship Type="http://schemas.openxmlformats.org/officeDocument/2006/relationships/notesMaster" Target="/ppt/notesMasters/notesMaster1.xml" Id="R020b535bfc8044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bc700edd8a4934" /><Relationship Type="http://schemas.openxmlformats.org/officeDocument/2006/relationships/notesMaster" Target="/ppt/notesMasters/notesMaster1.xml" Id="R65017ead16144b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16ec660af84a05" /><Relationship Type="http://schemas.openxmlformats.org/officeDocument/2006/relationships/notesMaster" Target="/ppt/notesMasters/notesMaster1.xml" Id="R275b4579a53841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6463d4d2ae4b1e" /><Relationship Type="http://schemas.openxmlformats.org/officeDocument/2006/relationships/notesMaster" Target="/ppt/notesMasters/notesMaster1.xml" Id="Re47caa1478a444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cb7c7ff95b4ead" /><Relationship Type="http://schemas.openxmlformats.org/officeDocument/2006/relationships/notesMaster" Target="/ppt/notesMasters/notesMaster1.xml" Id="R5fe28ceb207d47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2bf26c9edc433b" /><Relationship Type="http://schemas.openxmlformats.org/officeDocument/2006/relationships/notesMaster" Target="/ppt/notesMasters/notesMaster1.xml" Id="Rd8766ba55d984f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afd0031ef764e9c" /><Relationship Type="http://schemas.openxmlformats.org/officeDocument/2006/relationships/notesMaster" Target="/ppt/notesMasters/notesMaster1.xml" Id="R7ef2064bfe3d4d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daae83f23e472d" /><Relationship Type="http://schemas.openxmlformats.org/officeDocument/2006/relationships/notesMaster" Target="/ppt/notesMasters/notesMaster1.xml" Id="Rd8651acb76b84a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33dbb6a7244a44" /><Relationship Type="http://schemas.openxmlformats.org/officeDocument/2006/relationships/notesMaster" Target="/ppt/notesMasters/notesMaster1.xml" Id="Raa1a8576ab0544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9232c13254c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2ad3c203bd4702" /><Relationship Type="http://schemas.openxmlformats.org/officeDocument/2006/relationships/slideLayout" Target="/ppt/slideLayouts/slideLayout1.xml" Id="R3afb4b3bc52645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fb4b3bc52645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984770ae64c04" /><Relationship Type="http://schemas.openxmlformats.org/officeDocument/2006/relationships/notesSlide" Target="/ppt/notesSlides/notesSlide1.xml" Id="Rab0387b7c2664e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1668b1a464164" /><Relationship Type="http://schemas.openxmlformats.org/officeDocument/2006/relationships/notesSlide" Target="/ppt/notesSlides/notesSlide2.xml" Id="R87a7e712d59740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c350a56a449bd" /><Relationship Type="http://schemas.openxmlformats.org/officeDocument/2006/relationships/notesSlide" Target="/ppt/notesSlides/notesSlide3.xml" Id="R46015cc6118244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ff2f8caca4324" /><Relationship Type="http://schemas.openxmlformats.org/officeDocument/2006/relationships/notesSlide" Target="/ppt/notesSlides/notesSlide4.xml" Id="R2aa6246256e44f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882cd42d54c00" /><Relationship Type="http://schemas.openxmlformats.org/officeDocument/2006/relationships/notesSlide" Target="/ppt/notesSlides/notesSlide5.xml" Id="R9b1ae397def74f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bb3170aec4867" /><Relationship Type="http://schemas.openxmlformats.org/officeDocument/2006/relationships/notesSlide" Target="/ppt/notesSlides/notesSlide6.xml" Id="Re75209e1f9f247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8110bdf614ec0" /><Relationship Type="http://schemas.openxmlformats.org/officeDocument/2006/relationships/notesSlide" Target="/ppt/notesSlides/notesSlide7.xml" Id="R62ef3ac10a6c45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4d1a635214290" /><Relationship Type="http://schemas.openxmlformats.org/officeDocument/2006/relationships/notesSlide" Target="/ppt/notesSlides/notesSlide8.xml" Id="R920df9802eb943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273482ccd4699" /><Relationship Type="http://schemas.openxmlformats.org/officeDocument/2006/relationships/notesSlide" Target="/ppt/notesSlides/notesSlide9.xml" Id="Rde51d8b8dd8d4b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51f1a15aa4c8d" /><Relationship Type="http://schemas.openxmlformats.org/officeDocument/2006/relationships/notesSlide" Target="/ppt/notesSlides/notesSlide10.xml" Id="R9b1b97cb13ba47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8a2c422ba4a8a" /><Relationship Type="http://schemas.openxmlformats.org/officeDocument/2006/relationships/notesSlide" Target="/ppt/notesSlides/notesSlide11.xml" Id="R9f79ccbef0e144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8ce60a8f942d9" /><Relationship Type="http://schemas.openxmlformats.org/officeDocument/2006/relationships/notesSlide" Target="/ppt/notesSlides/notesSlide12.xml" Id="R1332e7ce43d04b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0626bc5d84416" /><Relationship Type="http://schemas.openxmlformats.org/officeDocument/2006/relationships/notesSlide" Target="/ppt/notesSlides/notesSlide13.xml" Id="Rc640bc564c5949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ab9e05a14430d" /><Relationship Type="http://schemas.openxmlformats.org/officeDocument/2006/relationships/notesSlide" Target="/ppt/notesSlides/notesSlide14.xml" Id="R8cb2441230fe47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10052C-A064-455E-B0AD-C33BD8E2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AEC96-0843-4E8F-A663-4A38F3D9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EB9D7-F9AB-4990-B194-3B9BC72C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6D05F-0D16-41F6-AFBE-FEBAEF00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ECA2E-408C-4FB1-BA5C-D3C64C8D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D913E-2657-4915-832C-CF669F9B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6CC80-9A48-4B6E-BF5A-A097C6DC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AB89A-FDFE-4497-A235-391FB78A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A490B-93F5-4860-A4A2-DDC4A921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66875"/>
            <a:ext cx="9334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preserves confidence.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B9F811-B7DB-4940-B3BD-576CA5B8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AI advisory, coaching, and thought leadership for organizations navigating AI, governance, knowledge, and transformation.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2FC657-B910-4F8D-B8F9-AFB75BEC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86000"/>
            <a:ext cx="5334000" cy="533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52400">
            <a:solidFill>
              <a:srgbClr val="EAEA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C5C1D-8DC5-44E7-92ED-62A49AD7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3810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79BE5-E0DB-4445-B03D-FF1B8D88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D4DEA-83EB-4131-91DF-B84F1961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trusted partner's guide to when ShiftBy can help.</a:t>
            </a:r>
          </a:p>
        </p:txBody>
      </p:sp>
      <p:sp>
        <p:nvSpPr>
          <p:cNvPr id="15" name="pager-pill">
            <a:extLst xmlns:a="http://schemas.openxmlformats.org/drawingml/2006/main">
              <a:ext uri="{FF2B5EF4-FFF2-40B4-BE49-F238E27FC236}">
                <a16:creationId xmlns:a16="http://schemas.microsoft.com/office/drawing/2014/main" id="{9777539B-4963-412F-8024-2764845C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B6D0EF-982E-4F04-ADA0-BD612352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5B7AE7-01C9-4974-A8CB-10AB14DC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B4AD1D-7BA6-42B8-B0EC-08CB0573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E8AD7-7577-4DBB-953F-4CB77E0D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01 / 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4C6E7-0B70-4050-94B3-9103C59B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564580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585086-DB53-4FBD-B1DB-17252523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3D713-BE5D-4105-B791-3DE2D74D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12A98-1098-489D-9EB7-5161309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E7E0F-F4B0-458C-86B8-2C2A064C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CCDE6-F974-4FAC-85B5-C9190DA0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CF5E8-700D-44EC-B2ED-27EA15F6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WHY SHIFTBY EXISTS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DBB7E-83FE-4DE3-97F7-9E75BCE9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ACEE6-D51B-43A8-AC56-C0811159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CORE OBSERVATION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9E82E-27A1-4E81-8762-4F4D2D0A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14800"/>
            <a:ext cx="5334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preserve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records.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They lose operating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BA899-45B3-4AD0-B9CE-51201402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34300"/>
            <a:ext cx="723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exists to help leaders preserve the rationale behind execution.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1523E-C4AA-40D1-A4B6-2FDFC0C2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95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46A190-FF63-4804-8A24-DF79F80D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decision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6D9BB-7B3E-4037-A2EE-3DCF155C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9243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rationale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A2F5B-4B0C-4409-8C73-761D6448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76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425D7-853C-4379-9834-20687393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054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process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1D3C4-D95C-4C00-B194-CAEFA2B1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3054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context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0A1CBF-358B-4A90-A3C1-46938713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579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557FF8-9BDA-43B6-9E0D-5906B5E4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6865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system survives.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B8B050-00F0-43A8-B386-8B750B66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68655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The knowledge</a:t>
            </a:r>
          </a:p>
          <a:p xmlns:a="http://schemas.openxmlformats.org/drawingml/2006/main">
            <a:pPr algn="l">
              <a:defRPr sz="22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often does not.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0D4966-32C3-4EF0-ADDE-5FCF2686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390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27CD9-E47F-40B4-BDF1-0F9A4CC8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A2832-E936-4F8E-95F8-317A47BB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 exists to help understanding remain available when execution changes.</a:t>
            </a:r>
          </a:p>
        </p:txBody>
      </p:sp>
      <p:sp>
        <p:nvSpPr>
          <p:cNvPr id="23" name="pager-pill">
            <a:extLst xmlns:a="http://schemas.openxmlformats.org/drawingml/2006/main">
              <a:ext uri="{FF2B5EF4-FFF2-40B4-BE49-F238E27FC236}">
                <a16:creationId xmlns:a16="http://schemas.microsoft.com/office/drawing/2014/main" id="{7D17091E-4936-4A05-A9CD-B81A87CA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1CC778-4136-4FE3-BCE1-7286C383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3617E1-D71C-4254-BA06-4BE8F382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562593-28BF-4440-AE7F-F1999E07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80B8B0-E097-4C72-9BF8-F04A283D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02 / 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CB53CD-32C8-4EC7-B4F4-EA6A9C26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4690430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74BBAB-F5CB-420A-AD5D-F4146B8A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06523-8544-4A01-98AC-DC91200E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D3149-D8D7-406C-AE75-8124B49C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1FC85-4FC0-4235-AC20-D758CAB3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2917B-F38D-4EA3-849F-9B5234CB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100FC-BDE2-41EF-8230-C88439CD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PARTNER VALUE FRAME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4F975-2700-44C1-B448-FD60E84F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16D143-3B74-4D01-B090-1E5E36FA2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ORGANIZATIONS ENGAGE SHIFTBY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3119F-6668-4A08-844D-2730DA6D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Value, risk, and trust are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increasingly connected.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A02E98-8E5A-45F5-B2CE-A24AE0E1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5CE3F-2207-4C31-8BE8-C5F97004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CREATE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8C6B5-A868-43E1-B3AB-2509C88A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Clarify where AI can create meaningful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436C7C-9310-486D-939F-0B8A599E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Prioritize AI opportunities and investments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034F8-3B8F-40A5-8232-457B32BF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decision quality and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ECF67A-644D-4EA5-AC61-1A674ABE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Accelerate responsible AI adoption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2D9A4-CBFC-48CE-8965-AA96640B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organizational effectiveness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A70B3-73B1-4B10-81A0-D43293CB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C9CDC-7836-466F-9C29-DB9D8BE1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6A239-1711-4A6F-AFC4-F7DFB735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Strengthen governance and oversight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A024AC-13AB-4180-81F0-ED06E41F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audit readiness and 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43D8C0-ED9C-4838-B8E4-615D2C52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Address AI security and privacy concerns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90FF81-2F6E-410A-95CB-89B05D4B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accountability and traceability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08007E-7596-493E-A548-5BB51BC7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Improve visibility of AI-related risks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4A1D87-1FD8-4761-8F46-D2ED505F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429000"/>
            <a:ext cx="5334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D26E2F-EFD1-424F-973B-3F5AA21D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3676650"/>
            <a:ext cx="480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1BC7E8-8EE2-4433-90D2-6FC10675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3338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Preserve organizational knowledge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176798-65C1-46D4-A44B-64E288A4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485775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explainability of important decisions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CB1A38-BD7F-45FB-BCCC-93B53D4C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38162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Retain rationale as systems evolve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E777A6-4BD6-4A5A-B090-E3BF813B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9055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Maintain accountability as execution changes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F220DF-8E34-424A-9824-9450C5D2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29375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Increase confidence in AI-enabled operations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6432CA-D7F7-40FB-9D05-05884BFA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001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F4B742-BF36-45B1-A158-414DB233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34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 helps organizations navigate all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three.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62E2B6-2658-42C9-A57C-FB3A71BF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A3A9B9-19DC-42F4-8E29-838D7DD9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A partner should be able to connect ShiftBy to value creation, risk reduction, and trust preservation.</a:t>
            </a:r>
          </a:p>
        </p:txBody>
      </p:sp>
      <p:sp>
        <p:nvSpPr>
          <p:cNvPr id="35" name="pager-pill">
            <a:extLst xmlns:a="http://schemas.openxmlformats.org/drawingml/2006/main">
              <a:ext uri="{FF2B5EF4-FFF2-40B4-BE49-F238E27FC236}">
                <a16:creationId xmlns:a16="http://schemas.microsoft.com/office/drawing/2014/main" id="{C4D5B3B1-B4DD-4329-B06B-2188726E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CCD50A-EF90-4D8E-A47D-9FDC6835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7D7C1F-2390-4358-BF50-232E8B8A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308BA4-C803-44DB-BF47-05A22F87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0F0CAD-0378-4DE7-867C-ABCA2A14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03 / 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E93403-3701-4C4E-9BA6-7FFE6B9E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261146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1CF161-E4E3-40C3-9553-2356725F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21800-BF13-4838-A18D-2F5E325C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78193-3E1A-438D-AC5A-64C4520C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BB253-6367-49BC-BDBC-F749169F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CC48B-4B0E-4B9B-82C6-D8966219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A3997-BD3D-40A0-856E-5B68BA48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INDUSTRY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E00F3-D907-493B-AEFE-58D600C6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2C85F5-871E-47CB-B7E7-73452D80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INDUSTRIES WHERE SIMILAR CONVERSATIONS FREQUENTLY ARISE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FF9E65-A36F-4F37-8E49-A2EF4710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Different industries.</a:t>
            </a:r>
          </a:p>
          <a:p xmlns:a="http://schemas.openxmlformats.org/drawingml/2006/main">
            <a:pPr algn="l">
              <a:defRPr sz="5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Similar enterprise questions.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2E98D-83DC-4DED-BAB5-875BD5F2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B3D91-D451-4E24-9607-F8C91B37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Pharmaceuticals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821735-DABD-4B4B-9F18-022FEFC5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B0A42-9AB0-4238-8CE7-FFC6C763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Consumer Health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9AB02-993B-4ADA-8B22-C10CB50F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DF4A8-8865-4EDB-84CC-3618A735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Medical Technology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FE273-B86D-44E1-BFF0-97E7B4E0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342900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98266-4B9C-48AF-B747-7B1DB0C4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2386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7FFD9-9424-4798-A185-B91F21D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E85CF9-2AE0-467C-BB1D-47C3FB80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 &amp; Logistics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FC1E5-7F97-42C6-9B51-5D708ABE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6B90F0-953F-4F7C-94A8-9DC918A4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EA6DCB-4F14-413E-A9A5-4A87CA19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57750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65CF3F-9638-4D91-8DDD-C07FB695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6673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Professional Services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4FB23B-B6EB-46D1-8059-45535FC1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1990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B8FCE7-A2AE-4225-A617-26FB425B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143750"/>
            <a:ext cx="10668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Across sectors, the same questions recur around</a:t>
            </a:r>
          </a:p>
          <a:p xmlns:a="http://schemas.openxmlformats.org/drawingml/2006/main">
            <a:pPr algn="l">
              <a:defRPr sz="37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knowledge, accountability, and confidence.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F253C9-8DA1-428F-BEEB-DADFF06D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3182D4-11BE-42FC-AD3D-3A7CA6F9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Use this slide to help readers recognize recurring enterprise patterns.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94191708-91F5-4A26-9EAA-05240E3E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2BD31B-71FB-42E1-87D0-B7FC214A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96FBD4-BD42-4F8A-B033-B1515BBA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C743E2-0B3A-4DB6-9AA8-56D7E9D6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1D232C-3E21-4693-811C-C7D491DB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04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A6F666-A283-4E95-9CE3-51ECA67E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903511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3917C5-947A-4DB9-80F4-670FBD85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132B5-C68F-4004-92FF-CA4BFBB9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D993F-66B8-4ECD-B1DC-8BB91437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FD270-1446-4D1F-B71A-ADFC0949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52BFD-E6FB-4878-B118-65A8637B1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B9020-58B3-43EC-B284-E74B74BE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ORGANIZATIONAL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56526-CAD5-4933-BCDB-4243309F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3603B-2ACE-400A-AA3D-35A4D5FE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BUSINESS FUNCTIONS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97070-6C5D-4F22-BD82-A7241F5F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conversations often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begin where responsibility,</a:t>
            </a:r>
          </a:p>
          <a:p xmlns:a="http://schemas.openxmlformats.org/drawingml/2006/main">
            <a:pPr algn="l">
              <a:defRPr sz="5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change, and control meet.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FBA09-1406-48E8-971C-20CCCAB4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89079C-4293-4014-8683-9C7273DB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Leadership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8C095-FD7E-4885-836D-F0394473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350CA-0702-49E2-8609-E07A945D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Research &amp;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97079-C837-4AEE-875D-02827D24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4799E-2F9F-408E-BE6F-24590E74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Manufacturing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750F41-87B2-44A1-B84A-1BD61937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1052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D71D33-5042-4846-868E-7B50CCD8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49434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Supply Chain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00F57-9D65-4316-9FF6-924FDEFC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1E18D-EA31-455A-9D15-C354C634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Quality &amp;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7FC3F1-9537-4C6C-BE79-4E526197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AEA1C3-41E3-4D36-A6B1-714D019C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Procurement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422901-634E-4346-B3FA-BF2D2D6D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2DC245-B697-42B9-90F5-6E0843DB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Technology &amp; Digital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CB34F7-C77C-4235-A626-644C85FC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553402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609677-555D-4468-8B00-980AE61C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637222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&amp;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41EF77-4D1B-4B66-AFB0-7FE7D911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4650DD-9D09-41C2-98E7-A016B304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Enterprise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DB3378-14A5-485B-8AE4-26611CD9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F6E780-85BC-49A3-AB5B-CBE36195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Risk &amp; Governance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DFA7B1-50AC-45F2-93D6-C8A1FD181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AAD1EF-538E-4341-97D7-54DFD8E7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Internal Audit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DF0908-FE4B-4B19-BE0E-0E4B7DFA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6962775"/>
            <a:ext cx="3952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92B245-2914-4727-8309-3106851E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7800975"/>
            <a:ext cx="34194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 Offices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0CB8DF-1A0B-4476-8E01-4D0041BD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57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95D328-382C-4CBE-9C8B-2D82AD7B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7439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Many functions inherit AI-enabled change</a:t>
            </a:r>
          </a:p>
          <a:p xmlns:a="http://schemas.openxmlformats.org/drawingml/2006/main">
            <a:pPr algn="l">
              <a:defRPr sz="19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before they fully own it.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B0AFE1-8885-4F3B-B909-2D835259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12A6D4-641B-4402-9391-44887A4D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Many functions inherit AI-enabled change before they fully own it.</a:t>
            </a:r>
          </a:p>
        </p:txBody>
      </p:sp>
      <p:sp>
        <p:nvSpPr>
          <p:cNvPr id="38" name="pager-pill">
            <a:extLst xmlns:a="http://schemas.openxmlformats.org/drawingml/2006/main">
              <a:ext uri="{FF2B5EF4-FFF2-40B4-BE49-F238E27FC236}">
                <a16:creationId xmlns:a16="http://schemas.microsoft.com/office/drawing/2014/main" id="{94CBE337-0508-4F11-B3EC-4C66070D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138087-0940-49FE-871B-981C6B3F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97C45B-E8CB-4E65-99DF-DC3A6237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3AD91A-6D02-4230-906F-38556FC6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CF52E0-AB24-4B8A-8D36-833C9621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05 / 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88D250-D48F-439E-A18C-F1B8DFC0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671245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EE7B85-16CB-4A4F-BB5D-E0BED80D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5295D-7FA4-407A-9E04-1D8A3F79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CA35C-BBFA-4D64-9D16-5A300D2B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A44CA-DFDE-4078-8592-FC18B388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BA18B-2D58-4F5E-B0CC-24911384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161DD-EB0B-49D8-8F0A-E0DE9777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TRIGGERS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F024CD-3421-4129-A358-A9B6B935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FEFA0-E02D-4DEC-98B3-E254EC4A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09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TYPICAL SITUATIONS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FC40E-C8C6-42EC-B742-B0B8578A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885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 may be relevant.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A61BAD-C672-4686-B0D8-C344C963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4CD14-021D-40FC-B840-6CB015ED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C37A1-E814-4251-8BFF-2908910C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exploring AI and need a starting 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A06DF-886A-47A9-953D-DFA61FED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23EEE-BF32-4B9F-80E3-392CAF88A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2848E-E8C6-4598-A1EB-3460E3CA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have AI ideas and need priorities.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F9B60-297D-487C-B4A9-4AE2A029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5793C8-9B9C-40C4-8A7D-752988D7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C0BEB-6C71-483A-8CAA-213EE016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need governance and audit readiness.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AD4B1-9266-45F7-A450-DB57ED52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146C1-1412-4944-8B5D-4593B19B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195BED-540B-4AE2-8F58-E971AAB8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are introducing AI agents into workflows.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7BFDBB-6102-4C14-8314-1CEEB709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4095750"/>
            <a:ext cx="31908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76087A-FC22-43C8-BA25-DBD9561B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43624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64C94E-8CFA-44E9-8431-2597DB15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588645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We want to preserve critical knowledge.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7468AD-0E3A-408D-BA9D-9433BD29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0D0B7B-0C36-4480-93D0-38F290FB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This slide helps identify recurring leadership questions around uncertainty, prioritization, trust, and knowledge.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94D999F4-8686-4DF5-8ECA-2A4E1399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7AF5B9-7251-4F9E-9FB8-898C34CB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839F10-591C-4ABF-95C9-EB100030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5EF611-7EF4-4D75-81DA-61EC27E5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9C7035-2706-4F10-B1E5-BDCCDB7C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06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CDE569-BD13-41C2-8CB1-B3906002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411278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07BE9A-520B-4F35-A921-29E4472D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24C40-A2A8-4698-AFF4-3DEFB652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7AEED-001A-4B45-B69A-37FE512B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8C342-B68B-46B2-BC03-0C373699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2DB8F-1EC9-44A6-9F7B-99EC5817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21E20B-C184-4112-8832-B227BC5F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CONVERSATION DOMAIN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D71B8-EEB2-4920-AA48-EBD38788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19971-3212-4075-B072-20F63ECD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18A49-368A-4E90-9D9C-17B89116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PREPARING FOR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1E0E3-BFD4-40E2-85FF-679A5B20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Readiness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&amp; Enablement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0609C-E155-4181-AA79-A096D5CB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143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REDUCE UNCERTAINTY BEFORE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MAJOR AI MOVES.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1B067C-557C-4147-BAC4-2BF1FC84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161925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903A3-998A-418F-8A6C-07558F5D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0" y="34290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7B4AA-2252-4EDF-B0AE-116226DF7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E1784-2BBF-4609-AB34-6206CBE9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Executive 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72B94-B5A7-47E5-9F54-4F26A558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7652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A0BA4-2AD7-45FC-A2BF-62DCA2CAF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48615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literacy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6E4F98-F66E-40DC-BE2F-E474BFF4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D5BD2-EDA8-45DC-B03C-A99D314B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71B4FD-0FDC-4F8D-9C20-DC06456A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898900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9B2E5-5806-4977-A4AA-6F81517F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708525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 readiness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49926D-6D8A-4A45-8F11-75523D86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3C2208-BB46-4CEA-9E03-3F20F143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 readiness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25FE65-6B17-4262-A4A5-1F50CAC2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21275"/>
            <a:ext cx="3857625" cy="122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1020F5-9AED-413B-9734-34E64CE2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930900"/>
            <a:ext cx="33623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Workforce readiness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6E6F3A-722E-44C8-B6F9-906ED0E5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457950"/>
            <a:ext cx="771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CB7B05-8A63-4467-8F4C-D37E1DFD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78180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know AI matters.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key question is whether their data, knowledge,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ways of working can support change.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56923C-C336-430E-9C22-0A97F5FA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C7B9E1-641A-49BD-AD61-067AFA4B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Map readiness signals to the conversation domain.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C3C1F593-8EBF-4F33-95AF-F2C4707A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052BA3-725A-409B-AE2B-3D14711F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D75E32-19A1-4019-8A06-CA53AFB3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DBA127-CE2B-440C-A816-B90920F6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D2CD1D-BD4A-4D23-8D49-5E1DAC05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07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7C088B-5FD1-491B-871D-2C90EF84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151692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A300F2-CE33-4855-95F3-32AFF36E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98FE8-1802-490B-A1B3-60D5A5EA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26A9A-C69B-4CD5-A226-67B140AD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F7FBC-C2DF-467A-BB31-8AF9C46D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1F337-FD77-4FEE-A229-7E76C88D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EB051-B9AA-4424-8CAC-0B5ABAAD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BUSINESS VALUE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97AAE-6250-4A38-B41A-A5CA56FB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6B748-5D07-47B8-9600-00710ABA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96BE50-8564-43AF-AEDB-8A4F5990E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CHOOSING WHERE TO 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EF77D-6204-4619-B3D5-14F16680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666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Adoption &amp;</a:t>
            </a:r>
          </a:p>
          <a:p xmlns:a="http://schemas.openxmlformats.org/drawingml/2006/main">
            <a:pPr algn="l">
              <a:defRPr sz="45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Transformation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4566E-1BC4-4801-9992-FAE92F39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TURN AI INTEREST INTO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FOCUSED BUSINESS VALUE.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3B820-9B18-40A8-8E2A-7349B32F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57552-F224-4E89-AC42-83243CC3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7B38B7-F2C0-4E4E-B477-EC48D36D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490BB-AFAD-4F55-87D5-00F7AA82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52875"/>
            <a:ext cx="7810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447EE1-568D-485A-8298-2164A67B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8F49F4-5AFF-40CA-A005-FDEEC860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238750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AD3911-0370-47A9-9CFC-3A6E9FE7B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Opportunity assessment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6A57A1-02C0-4408-A846-9479C919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Use-case prioritization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895F73-77B4-4EAF-96B2-111BF956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419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Business process analysis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32B51C-2AF1-40A1-AACD-AB411054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4419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roadmaps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1F4E12-E3E1-4CED-9E29-7BFC284C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58165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Operating model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considerations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AC62E-AD79-4284-A152-38A18423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70560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76914E-D451-4D7B-8E91-9FA0C074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69913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often have more AI ideas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than they can realistically pursue.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The challenge is determining where value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may emerge, what should be prioritized,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where ownership should remain visible.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154793-0BD7-4EA1-8CF3-CD6A15F5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DE968E-03CB-4C7E-9B55-E41B9D5D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Organizations often have more AI ideas than they can realistically pursue.</a:t>
            </a:r>
          </a:p>
        </p:txBody>
      </p:sp>
      <p:sp>
        <p:nvSpPr>
          <p:cNvPr id="27" name="pager-pill">
            <a:extLst xmlns:a="http://schemas.openxmlformats.org/drawingml/2006/main">
              <a:ext uri="{FF2B5EF4-FFF2-40B4-BE49-F238E27FC236}">
                <a16:creationId xmlns:a16="http://schemas.microsoft.com/office/drawing/2014/main" id="{5F797480-AD48-46B8-B9BC-DD5BD98B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4C816E-8D3E-470E-97AB-AB48DAA2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A7B2C0-5010-4522-932E-55852F01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9D710C-9A1F-4302-AB21-D546F757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A74F83-15CE-4222-BD29-B09CE3D8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08 / 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90964A-F7AB-468F-8D69-93D2BCBC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4502394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38A2C6-E60F-47F7-9F49-C7542916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870B4-2DE0-4D3E-8C80-C4F5DC28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388615-65EA-458D-9936-EEDA1088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6781F-C4E7-4232-A55B-19AB745E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A8CD62-963D-48C1-9B3A-CDD69E9C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885E7-656A-48C9-ADDA-45D62DBC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TRUST AND OVERSIGHT CONVERSATION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C3B19-7128-46AD-9A58-44C184D5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16357A-2343-4677-B13E-6B3F76FB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2EA1C-EC60-4941-A703-EEE42CA4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PRESERVING TRUST AS EXECUTION CHANGES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85ABBD-8A8C-4635-AD34-8F7A35DE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Governance,</a:t>
            </a:r>
          </a:p>
          <a:p xmlns:a="http://schemas.openxmlformats.org/drawingml/2006/main">
            <a:pPr algn="l">
              <a:defRPr sz="48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Safety &amp; Resilience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B98A2-2E00-4E49-98B0-ED60B6F9B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 TRUST WHILE KEEPING</a:t>
            </a:r>
          </a:p>
          <a:p xmlns:a="http://schemas.openxmlformats.org/drawingml/2006/main">
            <a:pPr algn="l">
              <a:defRPr sz="2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OPERATIONAL AND GOVERNANCE RISK IN VIEW.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B0AB8D-D858-42DC-81FF-9882B736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35146-4F66-4FDD-B5C3-9B57ED58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08EB67-1472-4AD0-8B84-02C162BD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2A7F1-33F9-40DC-9970-96638ADF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Responsible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7558EB-6242-48C4-ADFB-DF9FCFF5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4287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BDFED-321A-4B08-B215-326C58F0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18573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governance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25CE7-067A-4EF4-9A03-7267CA98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F36BA5-BEDE-46E0-97FF-B685064A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risk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292C29-2DFF-4930-9A33-EC742D70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E1FF03-DBFB-4EB8-88B7-3B204086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security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BC824E-24CA-4B21-9D5C-0F9B9C88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4999D6-591A-4313-85EB-B4110D0D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safety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F84334-89E8-427D-8813-5BC49449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6AA5FF-1D46-4F01-8531-175EFCDC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Data privacy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FD6EF0-EE83-4083-BBD4-FC545548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7A931A-C06F-466D-9B9F-E48ACB90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assurance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8E34FE-BF15-40C2-9E37-85986A49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2E5913-6FC0-4DA7-B484-25583CA0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572125"/>
            <a:ext cx="3362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Audit readiness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B94713-8C67-4EE2-BAF6-CD044943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381750"/>
            <a:ext cx="385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556152-F2DF-40A9-B791-A2FC770F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72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Third-party AI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647B3D-A34F-4526-AF75-02DA55B5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839075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947FCF-F655-4D98-8D2C-1E0F2B85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7962900"/>
            <a:ext cx="781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adoption grows, organizations need decisions that can be</a:t>
            </a:r>
          </a:p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explained, reviewed, governed, and defended.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60C3F5-5CBF-4DF3-85A6-F4615E07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60E285-7620-4B3C-A086-ECDFAF4C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Trust and oversight domain.</a:t>
            </a:r>
          </a:p>
        </p:txBody>
      </p:sp>
      <p:sp>
        <p:nvSpPr>
          <p:cNvPr id="36" name="pager-pill">
            <a:extLst xmlns:a="http://schemas.openxmlformats.org/drawingml/2006/main">
              <a:ext uri="{FF2B5EF4-FFF2-40B4-BE49-F238E27FC236}">
                <a16:creationId xmlns:a16="http://schemas.microsoft.com/office/drawing/2014/main" id="{C3A6BED2-24CE-4E45-B8DB-9EF0F970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BB5C46-CAF2-4793-9679-36A4AD32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C99DFB-9129-43AE-820D-7E49A0DA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ADB1C5-60F2-4E2B-803D-14F04820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DB1DBA-5C6D-4B4B-AD0D-7140F1E0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09 / 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E6BAA0-490B-476A-B90E-EC468DEE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826754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504D5B-A015-4C43-BE87-25DD6B2C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E403F-8FF3-4DD5-AF62-9F33E707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95751-B470-4A10-B929-60298D90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20740-8E61-47BF-A6B7-21B5F846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CDC63-BDCA-4845-966A-60CF6D7F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DA7A6C-3DB2-4313-9387-EF784E05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FUTURE-STATE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38357-2DE3-437E-BA46-A552370F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C69C1B-9C67-475E-BDF1-2B655A44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47750"/>
            <a:ext cx="838200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6FB"/>
          </a:solidFill>
          <a:ln xmlns:a="http://schemas.openxmlformats.org/drawingml/2006/main" w="0">
            <a:solidFill>
              <a:srgbClr val="F7F6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EC5833-8AF9-4B3D-B2E8-2937B19A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95525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IMPROVING WORK WITHOUT LOSING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7810F-D701-429E-811D-DF16D91C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&amp;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Intelligent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E552B0-CF16-4C65-AC8C-1B162419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IMPROVE WORK WHILE KEEPING</a:t>
            </a:r>
          </a:p>
          <a:p xmlns:a="http://schemas.openxmlformats.org/drawingml/2006/main">
            <a:pPr algn="l">
              <a:defRPr sz="2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 AND CONTEXT IN PLACE.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82B35-5593-4874-894F-C1D051AE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1524000"/>
            <a:ext cx="5905500" cy="5905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2D075-8E6B-4D82-8C23-AE36855D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333375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F9554-A584-4F97-B063-D601C4B5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A1D7CC-40D1-4E60-89EB-08E20EE9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49CC0-E547-4876-92E2-0E217141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26670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64D1E-0168-4A14-ACA7-54623A4F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30956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 collaboration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38AFF9-4825-4532-AD6A-31FFDA60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DD745F-9797-4BA9-BD12-12AA58BC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Knowledge-</a:t>
            </a:r>
          </a:p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connected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1D5DBE-8AE7-4A1F-B058-6D8ABC62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90525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4F0486-DBB2-4224-898F-CC2DAC57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433387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Traceability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E927A0-595E-41D7-8EA8-D1A075CC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43500"/>
            <a:ext cx="385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B30365-3E1C-495A-B80C-369C9048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572125"/>
            <a:ext cx="33623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Governed output generation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3DEE60-23D7-4BE3-A9E9-70E7C95C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610350"/>
            <a:ext cx="781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6B1DD5-99DB-4C97-B21B-6968AEAE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9151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As AI becomes part of operational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execution, understanding, traceability,</a:t>
            </a:r>
          </a:p>
          <a:p xmlns:a="http://schemas.openxmlformats.org/drawingml/2006/main">
            <a:pPr algn="l">
              <a:defRPr sz="31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and ownership must remain in place.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C8E2C6-9D39-43EA-A8EB-805A87FB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56D0D9-40F1-46DE-9527-797DB58A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Future-state operations domain.</a:t>
            </a:r>
          </a:p>
        </p:txBody>
      </p:sp>
      <p:sp>
        <p:nvSpPr>
          <p:cNvPr id="28" name="pager-pill">
            <a:extLst xmlns:a="http://schemas.openxmlformats.org/drawingml/2006/main">
              <a:ext uri="{FF2B5EF4-FFF2-40B4-BE49-F238E27FC236}">
                <a16:creationId xmlns:a16="http://schemas.microsoft.com/office/drawing/2014/main" id="{B31A06E9-8C8C-4E2B-AB76-5AE5E764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F3D68E-7197-4692-8C49-878AF364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5FDB26-AC4B-444D-9DDE-51379BC7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82EC19-6331-45D0-B89F-B012CA8F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66DF2A-4116-4A9D-A812-1439DE89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10 / 14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9C6C36-8A17-410B-A3DC-6A59C8A0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147682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CEB412-CB83-449E-89E7-01C6CAE1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324E99-67AD-4192-80C0-325E3419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B52EB-F979-4E7D-9F01-40871BE9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39ABC-B3E3-42F2-9605-5729AC98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A1D7F-0042-488B-A32C-6B828609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C2959-B835-42B7-816F-A0CE919E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DIFFERENTIATION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CEB0A8-FD37-4B0F-96E3-1F5C4054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FFE43-144B-408A-B118-D9B5D87E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37617A-E291-4683-AD97-1DA6AF2B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56641-28A0-4382-BEEE-AE16AE44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WHY SHIFTBY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93C22-DED5-4FA4-89BD-13F1A149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781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Organizations rarely need</a:t>
            </a:r>
          </a:p>
          <a:p xmlns:a="http://schemas.openxmlformats.org/drawingml/2006/main">
            <a:pPr algn="l">
              <a:defRPr sz="49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more technology.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AC037-AD08-4C2B-A082-105F6253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334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They lose clarity when decisions, knowledge, ownership, and</a:t>
            </a:r>
          </a:p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accountability become harder to preserve.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B33645-2F22-4E73-8AC9-9DB7BFA3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3900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helps leaders preserve understanding as execution changes.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81946-88F7-440E-B3E8-6FA21EB6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EA4838-ABB6-488E-B76D-CFDDA509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4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30896-761D-4C45-AD7C-6180E2C5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FF9F14-3833-4ABB-9CEF-B56A4BA2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Differentiation.</a:t>
            </a:r>
          </a:p>
        </p:txBody>
      </p:sp>
      <p:sp>
        <p:nvSpPr>
          <p:cNvPr id="18" name="pager-pill">
            <a:extLst xmlns:a="http://schemas.openxmlformats.org/drawingml/2006/main">
              <a:ext uri="{FF2B5EF4-FFF2-40B4-BE49-F238E27FC236}">
                <a16:creationId xmlns:a16="http://schemas.microsoft.com/office/drawing/2014/main" id="{3E014C29-B7E6-4430-BD77-3220B8CA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F5EEFA-69F8-4141-8697-D1D596E0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AD2F3F-443B-4BFB-BB51-214CF36A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E01D5D-0443-4E72-AB0D-A0A1F209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04D471-8143-4D1A-BA21-2AD3C00C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11 / 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926C7-1C1D-42B9-986F-A3D7461A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5827690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C99E72-0D7E-4B98-B6F7-525ADBC3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B3DC62-86E3-4DC3-B7D7-5C5213EB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796828-6CC0-449B-8CF8-54E914A4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7F991-8CB8-4EDE-B751-B62F1CDD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C13FC-B3C4-4D54-A57E-6CEC9DAD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26DA9-0E57-4C28-9FB0-8D7B971D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CAPABILITY 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473C2D-4E64-416B-A5B4-7CBA5B53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6B3AB-B5E3-47CF-9905-1D119E74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THE SHIFTBY CAPABILITY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7F555-06EE-4DC5-A4DF-D9B78EBB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Four capabilities support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 when</a:t>
            </a:r>
          </a:p>
          <a:p xmlns:a="http://schemas.openxmlformats.org/drawingml/2006/main">
            <a:pPr algn="l">
              <a:defRPr sz="51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 changes.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2D307-DF43-422C-8918-4E4A9EBA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D687F0-16F9-47F5-9181-4FE50018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Decision Traceability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5DE460-B7FA-496B-9CAD-E7B9EA3D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Rationale remains visible.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56539-364C-475F-91A1-717C0D96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22B9F-26F4-4414-ADCE-1C55E28C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Organizational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Memory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E744E-E2E7-450C-9F6C-3EF128C4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Meaning survives change.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62EBC7-7500-4D81-9555-135087BD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7DE0A7-71ED-4C44-AEFC-961E2C97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Human-AI</a:t>
            </a:r>
          </a:p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3F433-385F-4006-8DCC-2B94D3F5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Responsibility stays legible.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86A184-060E-4AF6-8BE5-F1289153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6875" y="4953000"/>
            <a:ext cx="39528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CF149C-1821-4785-80AE-0EF34E89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5762625"/>
            <a:ext cx="34575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Adaptive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75F50-1AE7-48F1-98DB-BD8770E3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4525" y="6896100"/>
            <a:ext cx="3457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Change remains coherent.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484AB5-F9D1-4970-99D3-4A99B2F0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8D4BB0-6442-4D9F-87A6-87A7428A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Purpose: Reveal underlying capability architecture. No deep dive.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C290EDE4-632C-49C4-9909-1C663EE1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9D4E6D-B785-455F-BE19-7AAF6731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E0F6EC-BAA1-4FBC-BD29-E8DCEF95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94D914-D3F8-4F77-847B-0EC9AC9C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658A86-E253-4183-8BC3-2FB70AE5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12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761497-0B0E-493F-858D-703F79B3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3646534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5B3ED2-A0E9-416C-843E-0DEA0C47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A7210-2029-4AE2-A4EA-D11DAE2D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CE040-4A68-4133-B607-E68B6746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69050-3186-4053-9915-72986677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090306-AFE7-4D87-B611-7DF20753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BC913D-D962-4FB1-BDBD-29D7DDE4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REFERRAL MOMENT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2CBEE-3BD2-43CB-8DEE-18AFF629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FB03E-2B89-46B3-A9A5-69094373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0F8"/>
          </a:solidFill>
          <a:ln xmlns:a="http://schemas.openxmlformats.org/drawingml/2006/main" w="0">
            <a:solidFill>
              <a:srgbClr val="F7F0F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128C8-51A8-4EAC-B7D1-10C89E9B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INTRODUCE SHIFTBY WHEN...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5D2153-638F-41CA-89D2-48B8E81C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4476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needs to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survive</a:t>
            </a:r>
          </a:p>
          <a:p xmlns:a="http://schemas.openxmlformats.org/drawingml/2006/main">
            <a:pPr algn="l">
              <a:defRPr sz="55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0CF34-EDDB-40AF-A532-A1213ACB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96100"/>
            <a:ext cx="4286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A partner does not need to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diagnose the work. They only</a:t>
            </a:r>
          </a:p>
          <a:p xmlns:a="http://schemas.openxmlformats.org/drawingml/2006/main">
            <a:pPr algn="l">
              <a:defRPr sz="25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 to recognize the moment.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CCF66D-03AA-4946-BE31-D94DC6FF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9B3365-87CE-412F-9A8D-799BC35A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242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95180-FEBA-456A-9F11-3350183D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956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15D5D-D827-4429-A831-7744707D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 new AI initiative needs a clear starting point.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58152-0F9C-46BE-BCC6-F215F064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76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C24F8A-4CC6-438F-A2DD-B9554A15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048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97D61-ACFD-499F-B925-EA25BA0B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1002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ideas exist, but prioritization is unclear.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A3578-88F0-4D47-B5E0-08052ADC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6292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EC899-A951-4D1F-BD5E-CF511F78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2006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0C25E-92FD-4C17-A2FC-861A87B6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1625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Governance, auditability, or ownership is missing.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D594EA-C5D3-416E-93FD-71D2C914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7818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125F3-1DE2-48B6-99AC-78B91A3D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63531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A026E0-8EC1-4AF6-B921-39245719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315075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AI agents are moving into live workflows.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C08AE6-C357-48B6-8B5E-1F802F97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9343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9224D8-F196-41B9-8229-9BEE51D1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75057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D58BC-CB02-44A8-8228-4A9C2AE5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46760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Critical knowledge is at risk of being lost.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6A2B57-003E-4874-8B82-F9C7BD91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528777-82B3-4B42-AC3E-879B49C5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Most important referral slide.</a:t>
            </a:r>
          </a:p>
        </p:txBody>
      </p:sp>
      <p:sp>
        <p:nvSpPr>
          <p:cNvPr id="30" name="pager-pill">
            <a:extLst xmlns:a="http://schemas.openxmlformats.org/drawingml/2006/main">
              <a:ext uri="{FF2B5EF4-FFF2-40B4-BE49-F238E27FC236}">
                <a16:creationId xmlns:a16="http://schemas.microsoft.com/office/drawing/2014/main" id="{2A7D983C-B2B4-4398-9F56-5D88CDD6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C6A364-F27E-4E3A-9B92-FE265319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671050-7582-4109-95D1-4D11ECAF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440FE8-19A1-4DBE-A8C6-EFC45461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0B0AA2-4E80-40EE-971E-82F55788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13 / 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EC37E9-33A2-458D-BDE2-14472192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10109039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8BB79A-5E74-4AC6-99A2-EE26ABB1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3546F0-B4D1-40E1-B283-21EE2090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SHIFTBY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6B0B4-3623-450C-850C-E4B4805E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2D991-DEB9-4D10-8ED1-4DBDBE1D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47675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3CB9AE-E087-4942-919A-64CEC306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762000"/>
            <a:ext cx="323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9E3"/>
          </a:solidFill>
          <a:ln xmlns:a="http://schemas.openxmlformats.org/drawingml/2006/main" w="0">
            <a:solidFill>
              <a:srgbClr val="D6D9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3B747-C22B-4ACE-A2F0-681B78E7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0" y="514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D3F6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D3F68"/>
                </a:solidFill>
                <a:latin typeface="Arial"/>
                <a:ea typeface="Arial"/>
                <a:cs typeface="Arial"/>
              </a:rPr>
              <a:t>CONTACT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8AF25-EC76-4A4A-94B8-0F2D65E3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71550"/>
            <a:ext cx="1571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7EFF7-298C-43AF-85D7-2C0EA32E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30498-BA15-4C49-AEB1-47A36781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F8FAF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8B627A-9C54-42DF-8625-D25BA363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0275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863D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863D6"/>
                </a:solidFill>
                <a:latin typeface="Arial"/>
                <a:ea typeface="Arial"/>
                <a:cs typeface="Arial"/>
              </a:rPr>
              <a:t>MAKE AN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7D7565-C5F0-4AFB-976D-FBC50B55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24150"/>
            <a:ext cx="61912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changes.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Understanding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preserves</a:t>
            </a:r>
          </a:p>
          <a:p xmlns:a="http://schemas.openxmlformats.org/drawingml/2006/main">
            <a:pPr algn="l">
              <a:defRPr sz="58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confidence.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19457-89F3-47FB-96D1-44C14B7A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7628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Introduce ShiftBy when understanding</a:t>
            </a:r>
          </a:p>
          <a:p xmlns:a="http://schemas.openxmlformats.org/drawingml/2006/main">
            <a:pPr algn="l">
              <a:defRPr sz="285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needs to survive change.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39B72-7B25-461F-8846-0C4102DE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2476500"/>
            <a:ext cx="5524500" cy="5524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0">
            <a:solidFill>
              <a:srgbClr val="E8EA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336C31-DD9A-46FC-946A-1F688D1E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25625" y="3857625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A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69F03-E230-4072-84F0-47328C78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387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9E1EC-1386-4284-87C2-9244C696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7212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 Krishna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BAB612-F31D-46C9-8057-51142357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24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Founder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9909AD-1C7C-4A49-BDBD-0794C496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724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A647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A6473"/>
                </a:solidFill>
                <a:latin typeface="Arial"/>
                <a:ea typeface="Arial"/>
                <a:cs typeface="Arial"/>
              </a:rPr>
              <a:t>ShiftBy Pte. Ltd.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476963-7821-4DF4-9D0B-55941AF3F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286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https://www.shiftby.sg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B0208-8D6E-4EEE-A6A0-890ADD06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83907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linkedin.com/in/anandakrishnam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BF55A6-C159-480C-B7DE-0C531267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391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E1420"/>
                </a:solidFill>
                <a:latin typeface="Arial"/>
                <a:ea typeface="Arial"/>
                <a:cs typeface="Arial"/>
              </a:rPr>
              <a:t>anandakrishnam@shiftby.sg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1A1BFE-20A5-49D8-AF03-65E778F8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458325"/>
            <a:ext cx="15478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BE6"/>
          </a:solidFill>
          <a:ln xmlns:a="http://schemas.openxmlformats.org/drawingml/2006/main" w="0">
            <a:solidFill>
              <a:srgbClr val="D8DBE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A0099-3076-44AD-A740-BA032BCF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9591675"/>
            <a:ext cx="1123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D587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D5878"/>
                </a:solidFill>
                <a:latin typeface="Arial"/>
                <a:ea typeface="Arial"/>
                <a:cs typeface="Arial"/>
              </a:rPr>
              <a:t>SHIFTBY_PARTNER_BRIEF_V1A_OPENDESIGN_IMPLEMENTATION_PASS</a:t>
            </a:r>
          </a:p>
        </p:txBody>
      </p:sp>
      <p:sp>
        <p:nvSpPr>
          <p:cNvPr id="24" name="pager-pill">
            <a:extLst xmlns:a="http://schemas.openxmlformats.org/drawingml/2006/main">
              <a:ext uri="{FF2B5EF4-FFF2-40B4-BE49-F238E27FC236}">
                <a16:creationId xmlns:a16="http://schemas.microsoft.com/office/drawing/2014/main" id="{8768C3D9-50C3-4951-BE08-68FAF1E6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0" y="9525000"/>
            <a:ext cx="13906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FB0C4B-54A7-4F46-A98F-2F90E732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F456A7-F9A5-4905-9B96-C715142F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0" y="9610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9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22EEE8-1D16-4F79-B4A1-882EE4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75" y="96488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8958A2-C788-4491-8B96-46408653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0275" y="96583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14D6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14D67"/>
                </a:solidFill>
                <a:latin typeface="Arial"/>
                <a:ea typeface="Arial"/>
                <a:cs typeface="Arial"/>
              </a:rPr>
              <a:t>14 / 14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95A99B-8B0A-4DB3-AF87-07058991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9648825"/>
            <a:ext cx="228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14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1420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9126924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2026-06-15T07:48:14.9020000Z</dcterms:created>
  <dcterms:modified xsi:type="dcterms:W3CDTF">2026-06-15T07:48:14.9020000Z</dcterms:modified>
</coreProperties>
</file>