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387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37D913-1118-43E2-B9D7-461636363046}"/>
              </a:ext>
            </a:extLst>
          </p:cNvPr>
          <p:cNvSpPr>
            <a:spLocks noGrp="1"/>
          </p:cNvSpPr>
          <p:nvPr/>
        </p:nvSpPr>
        <p:spPr>
          <a:xfrm>
            <a:off x="1524000" y="41910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324361"/>
            <a:ext cx="609600" cy="60857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A96D97A-1D31-4CFA-B19C-AE3836CF87ED}"/>
              </a:ext>
            </a:extLst>
          </p:cNvPr>
          <p:cNvSpPr>
            <a:spLocks noGrp="1"/>
          </p:cNvSpPr>
          <p:nvPr/>
        </p:nvSpPr>
        <p:spPr>
          <a:xfrm>
            <a:off x="13525500" y="5143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BRIEFING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6C469F-0E82-4F67-8285-A64C4BCF0294}"/>
              </a:ext>
            </a:extLst>
          </p:cNvPr>
          <p:cNvSpPr>
            <a:spLocks noGrp="1"/>
          </p:cNvSpPr>
          <p:nvPr/>
        </p:nvSpPr>
        <p:spPr>
          <a:xfrm>
            <a:off x="1238250" y="971550"/>
            <a:ext cx="157162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F197BD-0F1A-4E43-A0E3-F5EF67836A07}"/>
              </a:ext>
            </a:extLst>
          </p:cNvPr>
          <p:cNvSpPr>
            <a:spLocks noGrp="1"/>
          </p:cNvSpPr>
          <p:nvPr/>
        </p:nvSpPr>
        <p:spPr>
          <a:xfrm>
            <a:off x="1238250" y="2619375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4FF8EC-E2E8-409C-82E4-4B6F273E8771}"/>
              </a:ext>
            </a:extLst>
          </p:cNvPr>
          <p:cNvSpPr>
            <a:spLocks noGrp="1"/>
          </p:cNvSpPr>
          <p:nvPr/>
        </p:nvSpPr>
        <p:spPr>
          <a:xfrm>
            <a:off x="1238250" y="2857500"/>
            <a:ext cx="93345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  <a:p>
            <a:pPr algn="l">
              <a:buNone/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preserves confidence.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CBE74C-F8F8-4EB2-B74C-7F8F67E7982A}"/>
              </a:ext>
            </a:extLst>
          </p:cNvPr>
          <p:cNvSpPr>
            <a:spLocks noGrp="1"/>
          </p:cNvSpPr>
          <p:nvPr/>
        </p:nvSpPr>
        <p:spPr>
          <a:xfrm>
            <a:off x="1238250" y="5953125"/>
            <a:ext cx="6858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lang="en-US" sz="2700" dirty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For organizations navigating</a:t>
            </a:r>
          </a:p>
          <a:p>
            <a:pPr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lang="en-US" sz="2700" dirty="0">
                <a:solidFill>
                  <a:srgbClr val="5A6473"/>
                </a:solidFill>
                <a:latin typeface="Arial"/>
                <a:ea typeface="Arial"/>
                <a:cs typeface="Arial"/>
              </a:rPr>
              <a:t>knowledge, ownership, and change.</a:t>
            </a:r>
            <a:endParaRPr sz="2700" b="0" dirty="0">
              <a:solidFill>
                <a:srgbClr val="5A647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525500" y="2290474"/>
            <a:ext cx="5334000" cy="532505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9A43BAF-B2C0-4F98-AE32-A90D8E79660C}"/>
              </a:ext>
            </a:extLst>
          </p:cNvPr>
          <p:cNvSpPr>
            <a:spLocks noGrp="1"/>
          </p:cNvSpPr>
          <p:nvPr/>
        </p:nvSpPr>
        <p:spPr>
          <a:xfrm>
            <a:off x="1238250" y="9458325"/>
            <a:ext cx="15478125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ED1171-C544-4E20-840C-CC8EB9E06FEB}"/>
              </a:ext>
            </a:extLst>
          </p:cNvPr>
          <p:cNvSpPr>
            <a:spLocks noGrp="1"/>
          </p:cNvSpPr>
          <p:nvPr/>
        </p:nvSpPr>
        <p:spPr>
          <a:xfrm>
            <a:off x="1238250" y="9591675"/>
            <a:ext cx="1200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</a:t>
            </a:r>
            <a:r>
              <a:rPr lang="en-US" sz="1125" dirty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Preserving understanding as execution changes</a:t>
            </a:r>
            <a:endParaRPr sz="1125" b="0" dirty="0">
              <a:solidFill>
                <a:srgbClr val="3D58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pager-pill">
            <a:extLst>
              <a:ext uri="{FF2B5EF4-FFF2-40B4-BE49-F238E27FC236}">
                <a16:creationId xmlns:a16="http://schemas.microsoft.com/office/drawing/2014/main" id="{065822B9-5BAD-4CB6-BD47-DECDAE41A959}"/>
              </a:ext>
            </a:extLst>
          </p:cNvPr>
          <p:cNvSpPr>
            <a:spLocks noGrp="1"/>
          </p:cNvSpPr>
          <p:nvPr/>
        </p:nvSpPr>
        <p:spPr>
          <a:xfrm>
            <a:off x="16935450" y="9525000"/>
            <a:ext cx="13906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A03A15A-A43F-4278-8067-C6E53DE82FFA}"/>
              </a:ext>
            </a:extLst>
          </p:cNvPr>
          <p:cNvSpPr>
            <a:spLocks noGrp="1"/>
          </p:cNvSpPr>
          <p:nvPr/>
        </p:nvSpPr>
        <p:spPr>
          <a:xfrm>
            <a:off x="1706880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BCCDE43-1F4E-4692-BAA0-3C9CAE4FCF3C}"/>
              </a:ext>
            </a:extLst>
          </p:cNvPr>
          <p:cNvSpPr>
            <a:spLocks noGrp="1"/>
          </p:cNvSpPr>
          <p:nvPr/>
        </p:nvSpPr>
        <p:spPr>
          <a:xfrm>
            <a:off x="1781175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CAD8DE-5313-4F5D-B57D-8AD1747B3958}"/>
              </a:ext>
            </a:extLst>
          </p:cNvPr>
          <p:cNvSpPr>
            <a:spLocks noGrp="1"/>
          </p:cNvSpPr>
          <p:nvPr/>
        </p:nvSpPr>
        <p:spPr>
          <a:xfrm>
            <a:off x="17097375" y="9648825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A1CAA0-2296-4FA4-B388-4F2806C3AC8E}"/>
              </a:ext>
            </a:extLst>
          </p:cNvPr>
          <p:cNvSpPr>
            <a:spLocks noGrp="1"/>
          </p:cNvSpPr>
          <p:nvPr/>
        </p:nvSpPr>
        <p:spPr>
          <a:xfrm>
            <a:off x="17440275" y="96583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73404E-7F88-4292-A24D-115713F52B44}"/>
              </a:ext>
            </a:extLst>
          </p:cNvPr>
          <p:cNvSpPr>
            <a:spLocks noGrp="1"/>
          </p:cNvSpPr>
          <p:nvPr/>
        </p:nvSpPr>
        <p:spPr>
          <a:xfrm>
            <a:off x="17887950" y="96488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546028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14FE2C-5BFC-46D1-B7D4-D9215F53A308}"/>
              </a:ext>
            </a:extLst>
          </p:cNvPr>
          <p:cNvSpPr>
            <a:spLocks noGrp="1"/>
          </p:cNvSpPr>
          <p:nvPr/>
        </p:nvSpPr>
        <p:spPr>
          <a:xfrm>
            <a:off x="1524000" y="41910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324361"/>
            <a:ext cx="609600" cy="60857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65AE6AC-4F23-466A-8751-03884B067AD3}"/>
              </a:ext>
            </a:extLst>
          </p:cNvPr>
          <p:cNvSpPr>
            <a:spLocks noGrp="1"/>
          </p:cNvSpPr>
          <p:nvPr/>
        </p:nvSpPr>
        <p:spPr>
          <a:xfrm>
            <a:off x="13525500" y="5143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WHY SHIFTBY EXISTS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21B60F-C4D3-4E51-B1A6-C8CD280DDB01}"/>
              </a:ext>
            </a:extLst>
          </p:cNvPr>
          <p:cNvSpPr>
            <a:spLocks noGrp="1"/>
          </p:cNvSpPr>
          <p:nvPr/>
        </p:nvSpPr>
        <p:spPr>
          <a:xfrm>
            <a:off x="1238250" y="971550"/>
            <a:ext cx="157162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A55AB2-AF12-4C02-A1AA-2731F39BF509}"/>
              </a:ext>
            </a:extLst>
          </p:cNvPr>
          <p:cNvSpPr>
            <a:spLocks noGrp="1"/>
          </p:cNvSpPr>
          <p:nvPr/>
        </p:nvSpPr>
        <p:spPr>
          <a:xfrm>
            <a:off x="1238250" y="2041857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 dirty="0">
                <a:solidFill>
                  <a:srgbClr val="5863D6"/>
                </a:solidFill>
                <a:latin typeface="Arial"/>
                <a:ea typeface="Arial"/>
                <a:cs typeface="Arial"/>
              </a:rPr>
              <a:t>CORE OBSERVATION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735F52-E93B-41CF-A5DF-55D183B8CE8F}"/>
              </a:ext>
            </a:extLst>
          </p:cNvPr>
          <p:cNvSpPr>
            <a:spLocks noGrp="1"/>
          </p:cNvSpPr>
          <p:nvPr/>
        </p:nvSpPr>
        <p:spPr>
          <a:xfrm>
            <a:off x="1238249" y="2480007"/>
            <a:ext cx="7000975" cy="2238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4350" b="1">
                <a:solidFill>
                  <a:srgbClr val="121826"/>
                </a:solidFill>
                <a:latin typeface="Arial"/>
                <a:ea typeface="Arial"/>
                <a:cs typeface="Arial"/>
              </a:defRPr>
            </a:pPr>
            <a:r>
              <a:rPr sz="4400" b="1" dirty="0">
                <a:solidFill>
                  <a:srgbClr val="121826"/>
                </a:solidFill>
                <a:latin typeface="Arial"/>
                <a:ea typeface="Arial"/>
                <a:cs typeface="Arial"/>
              </a:rPr>
              <a:t>Organizations preserve</a:t>
            </a:r>
            <a:r>
              <a:rPr lang="en-SG" sz="4400" b="1" dirty="0">
                <a:solidFill>
                  <a:srgbClr val="121826"/>
                </a:solidFill>
                <a:latin typeface="Arial"/>
                <a:ea typeface="Arial"/>
                <a:cs typeface="Arial"/>
              </a:rPr>
              <a:t> artifacts</a:t>
            </a:r>
            <a:r>
              <a:rPr sz="4400" b="1" dirty="0">
                <a:solidFill>
                  <a:srgbClr val="121826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>
              <a:defRPr sz="4350" b="1">
                <a:solidFill>
                  <a:srgbClr val="121826"/>
                </a:solidFill>
                <a:latin typeface="Arial"/>
                <a:ea typeface="Arial"/>
                <a:cs typeface="Arial"/>
              </a:defRPr>
            </a:pPr>
            <a:r>
              <a:rPr lang="en-SG" sz="4400" b="1" dirty="0"/>
              <a:t>Understanding is harder to preserve.</a:t>
            </a:r>
            <a:endParaRPr sz="4400" b="1" dirty="0">
              <a:solidFill>
                <a:srgbClr val="1218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30EF8E-C678-41E8-995C-1DC2BA763E2A}"/>
              </a:ext>
            </a:extLst>
          </p:cNvPr>
          <p:cNvSpPr>
            <a:spLocks noGrp="1"/>
          </p:cNvSpPr>
          <p:nvPr/>
        </p:nvSpPr>
        <p:spPr>
          <a:xfrm>
            <a:off x="1238250" y="7658100"/>
            <a:ext cx="723900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C000B8-36B9-49F4-A6E8-23AD925BF697}"/>
              </a:ext>
            </a:extLst>
          </p:cNvPr>
          <p:cNvSpPr>
            <a:spLocks noGrp="1"/>
          </p:cNvSpPr>
          <p:nvPr/>
        </p:nvSpPr>
        <p:spPr>
          <a:xfrm>
            <a:off x="1238250" y="7962900"/>
            <a:ext cx="723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9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Understanding connects decisions, evidence, accountability, and outcomes.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533C93-3EEA-4C51-877D-891778F8B893}"/>
              </a:ext>
            </a:extLst>
          </p:cNvPr>
          <p:cNvSpPr>
            <a:spLocks noGrp="1"/>
          </p:cNvSpPr>
          <p:nvPr/>
        </p:nvSpPr>
        <p:spPr>
          <a:xfrm>
            <a:off x="8858153" y="3173327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decision</a:t>
            </a:r>
          </a:p>
          <a:p>
            <a:pPr algn="l">
              <a:buNone/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4688D9-C256-4A0D-8441-84B8B5B71C4A}"/>
              </a:ext>
            </a:extLst>
          </p:cNvPr>
          <p:cNvSpPr>
            <a:spLocks noGrp="1"/>
          </p:cNvSpPr>
          <p:nvPr/>
        </p:nvSpPr>
        <p:spPr>
          <a:xfrm>
            <a:off x="12382403" y="3173327"/>
            <a:ext cx="304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rationale</a:t>
            </a:r>
          </a:p>
          <a:p>
            <a:pPr algn="l">
              <a:buNone/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3830A5-77D3-4265-B119-FBDC5724346E}"/>
              </a:ext>
            </a:extLst>
          </p:cNvPr>
          <p:cNvSpPr>
            <a:spLocks noGrp="1"/>
          </p:cNvSpPr>
          <p:nvPr/>
        </p:nvSpPr>
        <p:spPr>
          <a:xfrm flipV="1">
            <a:off x="8858153" y="4280133"/>
            <a:ext cx="8390319" cy="45719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A40C92-3733-4968-B65F-E3D822577BE6}"/>
              </a:ext>
            </a:extLst>
          </p:cNvPr>
          <p:cNvSpPr>
            <a:spLocks noGrp="1"/>
          </p:cNvSpPr>
          <p:nvPr/>
        </p:nvSpPr>
        <p:spPr>
          <a:xfrm>
            <a:off x="8858153" y="4554452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process</a:t>
            </a:r>
          </a:p>
          <a:p>
            <a:pPr algn="l">
              <a:buNone/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20740A-CBEA-46CD-97E4-5D50F409BB46}"/>
              </a:ext>
            </a:extLst>
          </p:cNvPr>
          <p:cNvSpPr>
            <a:spLocks noGrp="1"/>
          </p:cNvSpPr>
          <p:nvPr/>
        </p:nvSpPr>
        <p:spPr>
          <a:xfrm>
            <a:off x="12382403" y="4554452"/>
            <a:ext cx="304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context</a:t>
            </a:r>
          </a:p>
          <a:p>
            <a:pPr algn="l">
              <a:buNone/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92C332-ABA8-42BB-82EB-1443BF2CF907}"/>
              </a:ext>
            </a:extLst>
          </p:cNvPr>
          <p:cNvSpPr>
            <a:spLocks noGrp="1"/>
          </p:cNvSpPr>
          <p:nvPr/>
        </p:nvSpPr>
        <p:spPr>
          <a:xfrm flipV="1">
            <a:off x="8858153" y="5661258"/>
            <a:ext cx="8390319" cy="45719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831D57-1F7A-44BA-A78B-13E215517775}"/>
              </a:ext>
            </a:extLst>
          </p:cNvPr>
          <p:cNvSpPr>
            <a:spLocks noGrp="1"/>
          </p:cNvSpPr>
          <p:nvPr/>
        </p:nvSpPr>
        <p:spPr>
          <a:xfrm>
            <a:off x="8858153" y="5935577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system survives.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FFDF3D-9C45-4526-89E6-B08E7063889F}"/>
              </a:ext>
            </a:extLst>
          </p:cNvPr>
          <p:cNvSpPr>
            <a:spLocks noGrp="1"/>
          </p:cNvSpPr>
          <p:nvPr/>
        </p:nvSpPr>
        <p:spPr>
          <a:xfrm>
            <a:off x="12382403" y="5935577"/>
            <a:ext cx="304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knowledge</a:t>
            </a:r>
          </a:p>
          <a:p>
            <a:pPr algn="l">
              <a:buNone/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D6FB53-781F-44EA-94E8-C77850ED25DA}"/>
              </a:ext>
            </a:extLst>
          </p:cNvPr>
          <p:cNvSpPr>
            <a:spLocks noGrp="1"/>
          </p:cNvSpPr>
          <p:nvPr/>
        </p:nvSpPr>
        <p:spPr>
          <a:xfrm>
            <a:off x="1238250" y="9458325"/>
            <a:ext cx="15478125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C1BC1E6-7114-4B26-B5B0-04424994837B}"/>
              </a:ext>
            </a:extLst>
          </p:cNvPr>
          <p:cNvSpPr>
            <a:spLocks noGrp="1"/>
          </p:cNvSpPr>
          <p:nvPr/>
        </p:nvSpPr>
        <p:spPr>
          <a:xfrm>
            <a:off x="1238250" y="9591675"/>
            <a:ext cx="1200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</a:t>
            </a:r>
            <a:r>
              <a:rPr lang="en-US" sz="1125" dirty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Preserving understanding as execution changes</a:t>
            </a:r>
            <a:endParaRPr sz="1125" b="0" dirty="0">
              <a:solidFill>
                <a:srgbClr val="3D58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pager-pill">
            <a:extLst>
              <a:ext uri="{FF2B5EF4-FFF2-40B4-BE49-F238E27FC236}">
                <a16:creationId xmlns:a16="http://schemas.microsoft.com/office/drawing/2014/main" id="{5D656FC6-502F-4F45-BC30-1719BDE663A0}"/>
              </a:ext>
            </a:extLst>
          </p:cNvPr>
          <p:cNvSpPr>
            <a:spLocks noGrp="1"/>
          </p:cNvSpPr>
          <p:nvPr/>
        </p:nvSpPr>
        <p:spPr>
          <a:xfrm>
            <a:off x="16935450" y="9525000"/>
            <a:ext cx="13906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B516077-BB4E-43D3-8CF5-7F8F46DB5DD6}"/>
              </a:ext>
            </a:extLst>
          </p:cNvPr>
          <p:cNvSpPr>
            <a:spLocks noGrp="1"/>
          </p:cNvSpPr>
          <p:nvPr/>
        </p:nvSpPr>
        <p:spPr>
          <a:xfrm>
            <a:off x="1706880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0CA0520-2AA4-4939-840B-8B5E05017BF1}"/>
              </a:ext>
            </a:extLst>
          </p:cNvPr>
          <p:cNvSpPr>
            <a:spLocks noGrp="1"/>
          </p:cNvSpPr>
          <p:nvPr/>
        </p:nvSpPr>
        <p:spPr>
          <a:xfrm>
            <a:off x="1781175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A02C807-24BE-4687-B2F2-475C21692895}"/>
              </a:ext>
            </a:extLst>
          </p:cNvPr>
          <p:cNvSpPr>
            <a:spLocks noGrp="1"/>
          </p:cNvSpPr>
          <p:nvPr/>
        </p:nvSpPr>
        <p:spPr>
          <a:xfrm>
            <a:off x="17097375" y="9648825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7F86DFA-71CD-43F1-B4C8-3A477272DEF0}"/>
              </a:ext>
            </a:extLst>
          </p:cNvPr>
          <p:cNvSpPr>
            <a:spLocks noGrp="1"/>
          </p:cNvSpPr>
          <p:nvPr/>
        </p:nvSpPr>
        <p:spPr>
          <a:xfrm>
            <a:off x="17440275" y="96583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D38A1CB-3AB3-4B6A-B20C-B5A3B5BE4A7E}"/>
              </a:ext>
            </a:extLst>
          </p:cNvPr>
          <p:cNvSpPr>
            <a:spLocks noGrp="1"/>
          </p:cNvSpPr>
          <p:nvPr/>
        </p:nvSpPr>
        <p:spPr>
          <a:xfrm>
            <a:off x="17887950" y="96488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9" name="slide2-proof-surface">
            <a:extLst>
              <a:ext uri="{FF2B5EF4-FFF2-40B4-BE49-F238E27FC236}">
                <a16:creationId xmlns:a16="http://schemas.microsoft.com/office/drawing/2014/main" id="{AB52D2A7-2F4C-4DEA-8040-82685C44610F}"/>
              </a:ext>
            </a:extLst>
          </p:cNvPr>
          <p:cNvSpPr>
            <a:spLocks noGrp="1"/>
          </p:cNvSpPr>
          <p:nvPr/>
        </p:nvSpPr>
        <p:spPr>
          <a:xfrm>
            <a:off x="1266120" y="5529261"/>
            <a:ext cx="5586062" cy="1314450"/>
          </a:xfrm>
          <a:prstGeom prst="roundRect">
            <a:avLst>
              <a:gd name="adj" fmla="val 8696"/>
            </a:avLst>
          </a:prstGeom>
          <a:solidFill>
            <a:srgbClr val="F7F6FF"/>
          </a:solidFill>
          <a:ln w="9525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slide2-proof-divider">
            <a:extLst>
              <a:ext uri="{FF2B5EF4-FFF2-40B4-BE49-F238E27FC236}">
                <a16:creationId xmlns:a16="http://schemas.microsoft.com/office/drawing/2014/main" id="{8959F295-A6E9-4B94-AD73-04993B3D363A}"/>
              </a:ext>
            </a:extLst>
          </p:cNvPr>
          <p:cNvSpPr>
            <a:spLocks noGrp="1"/>
          </p:cNvSpPr>
          <p:nvPr/>
        </p:nvSpPr>
        <p:spPr>
          <a:xfrm>
            <a:off x="4049626" y="5778666"/>
            <a:ext cx="9525" cy="819150"/>
          </a:xfrm>
          <a:prstGeom prst="line">
            <a:avLst/>
          </a:prstGeom>
          <a:ln w="9525">
            <a:solidFill>
              <a:srgbClr val="D8DDE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slide2-proof1-value">
            <a:extLst>
              <a:ext uri="{FF2B5EF4-FFF2-40B4-BE49-F238E27FC236}">
                <a16:creationId xmlns:a16="http://schemas.microsoft.com/office/drawing/2014/main" id="{3278BFE9-8EF5-40DD-B679-D40A7FB03FF3}"/>
              </a:ext>
            </a:extLst>
          </p:cNvPr>
          <p:cNvSpPr>
            <a:spLocks noGrp="1"/>
          </p:cNvSpPr>
          <p:nvPr/>
        </p:nvSpPr>
        <p:spPr>
          <a:xfrm>
            <a:off x="1562099" y="5778665"/>
            <a:ext cx="2245857" cy="51405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1826"/>
                </a:solidFill>
              </a:defRPr>
            </a:pPr>
            <a:r>
              <a:rPr sz="3200" b="1" dirty="0">
                <a:solidFill>
                  <a:srgbClr val="121826"/>
                </a:solidFill>
              </a:rPr>
              <a:t>42%</a:t>
            </a:r>
          </a:p>
        </p:txBody>
      </p:sp>
      <p:sp>
        <p:nvSpPr>
          <p:cNvPr id="32" name="slide2-proof1-copy">
            <a:extLst>
              <a:ext uri="{FF2B5EF4-FFF2-40B4-BE49-F238E27FC236}">
                <a16:creationId xmlns:a16="http://schemas.microsoft.com/office/drawing/2014/main" id="{67468A28-A8D1-4852-9EE0-99E6D7670B4B}"/>
              </a:ext>
            </a:extLst>
          </p:cNvPr>
          <p:cNvSpPr>
            <a:spLocks noGrp="1"/>
          </p:cNvSpPr>
          <p:nvPr/>
        </p:nvSpPr>
        <p:spPr>
          <a:xfrm>
            <a:off x="1562100" y="6216815"/>
            <a:ext cx="2370626" cy="5364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5F6B7A"/>
                </a:solidFill>
              </a:defRPr>
            </a:pPr>
            <a:r>
              <a:rPr sz="1600" dirty="0">
                <a:solidFill>
                  <a:srgbClr val="5F6B7A"/>
                </a:solidFill>
              </a:rPr>
              <a:t>institutional knowledge is unique to the individual</a:t>
            </a:r>
          </a:p>
        </p:txBody>
      </p:sp>
      <p:sp>
        <p:nvSpPr>
          <p:cNvPr id="33" name="slide2-proof2-value">
            <a:extLst>
              <a:ext uri="{FF2B5EF4-FFF2-40B4-BE49-F238E27FC236}">
                <a16:creationId xmlns:a16="http://schemas.microsoft.com/office/drawing/2014/main" id="{ED25EEC5-0A9E-4E77-B830-09F76A28AAE1}"/>
              </a:ext>
            </a:extLst>
          </p:cNvPr>
          <p:cNvSpPr>
            <a:spLocks noGrp="1"/>
          </p:cNvSpPr>
          <p:nvPr/>
        </p:nvSpPr>
        <p:spPr>
          <a:xfrm>
            <a:off x="4229100" y="5778665"/>
            <a:ext cx="2495396" cy="51405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21826"/>
                </a:solidFill>
              </a:defRPr>
            </a:pPr>
            <a:r>
              <a:rPr sz="3200" b="1">
                <a:solidFill>
                  <a:srgbClr val="121826"/>
                </a:solidFill>
              </a:rPr>
              <a:t>5.3 hours</a:t>
            </a:r>
          </a:p>
        </p:txBody>
      </p:sp>
      <p:sp>
        <p:nvSpPr>
          <p:cNvPr id="34" name="slide2-proof2-copy">
            <a:extLst>
              <a:ext uri="{FF2B5EF4-FFF2-40B4-BE49-F238E27FC236}">
                <a16:creationId xmlns:a16="http://schemas.microsoft.com/office/drawing/2014/main" id="{ABDC098D-35C8-459E-B381-715A6F1661AD}"/>
              </a:ext>
            </a:extLst>
          </p:cNvPr>
          <p:cNvSpPr>
            <a:spLocks noGrp="1"/>
          </p:cNvSpPr>
          <p:nvPr/>
        </p:nvSpPr>
        <p:spPr>
          <a:xfrm>
            <a:off x="4229100" y="6216815"/>
            <a:ext cx="2595212" cy="5364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5F6B7A"/>
                </a:solidFill>
              </a:defRPr>
            </a:pPr>
            <a:r>
              <a:rPr sz="1600">
                <a:solidFill>
                  <a:srgbClr val="5F6B7A"/>
                </a:solidFill>
              </a:rPr>
              <a:t>per week are lost waiting for or recreating knowledge</a:t>
            </a:r>
          </a:p>
        </p:txBody>
      </p:sp>
      <p:sp>
        <p:nvSpPr>
          <p:cNvPr id="35" name="slide2-proof-citation">
            <a:extLst>
              <a:ext uri="{FF2B5EF4-FFF2-40B4-BE49-F238E27FC236}">
                <a16:creationId xmlns:a16="http://schemas.microsoft.com/office/drawing/2014/main" id="{57BD812C-31F1-485A-B89C-C5C5E44887DA}"/>
              </a:ext>
            </a:extLst>
          </p:cNvPr>
          <p:cNvSpPr>
            <a:spLocks noGrp="1"/>
          </p:cNvSpPr>
          <p:nvPr/>
        </p:nvSpPr>
        <p:spPr>
          <a:xfrm>
            <a:off x="1331456" y="6956757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i="1">
                <a:solidFill>
                  <a:srgbClr val="7A8594"/>
                </a:solidFill>
              </a:defRPr>
            </a:pPr>
            <a:r>
              <a:rPr sz="750" i="1" dirty="0">
                <a:solidFill>
                  <a:srgbClr val="7A8594"/>
                </a:solidFill>
              </a:rPr>
              <a:t>(Panopto 2018; McKinsey Global Institute 2012)</a:t>
            </a:r>
          </a:p>
        </p:txBody>
      </p:sp>
    </p:spTree>
    <p:extLst>
      <p:ext uri="{BB962C8B-B14F-4D97-AF65-F5344CB8AC3E}">
        <p14:creationId xmlns:p14="http://schemas.microsoft.com/office/powerpoint/2010/main" val="285989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C001C0-8C9F-454D-AFB1-4CDFB28282B6}"/>
              </a:ext>
            </a:extLst>
          </p:cNvPr>
          <p:cNvSpPr>
            <a:spLocks noGrp="1"/>
          </p:cNvSpPr>
          <p:nvPr/>
        </p:nvSpPr>
        <p:spPr>
          <a:xfrm>
            <a:off x="1524000" y="41910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324361"/>
            <a:ext cx="609600" cy="60857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BB43362-B638-4F52-9D34-BCE0BD0903A8}"/>
              </a:ext>
            </a:extLst>
          </p:cNvPr>
          <p:cNvSpPr>
            <a:spLocks noGrp="1"/>
          </p:cNvSpPr>
          <p:nvPr/>
        </p:nvSpPr>
        <p:spPr>
          <a:xfrm>
            <a:off x="13525500" y="5143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VALUE FRAME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D25E6D-C7D1-40F8-B518-E3DEB02EEB33}"/>
              </a:ext>
            </a:extLst>
          </p:cNvPr>
          <p:cNvSpPr>
            <a:spLocks noGrp="1"/>
          </p:cNvSpPr>
          <p:nvPr/>
        </p:nvSpPr>
        <p:spPr>
          <a:xfrm>
            <a:off x="1238250" y="971550"/>
            <a:ext cx="157162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2A7D98-5D87-4FD4-9357-A84640F278B3}"/>
              </a:ext>
            </a:extLst>
          </p:cNvPr>
          <p:cNvSpPr>
            <a:spLocks noGrp="1"/>
          </p:cNvSpPr>
          <p:nvPr/>
        </p:nvSpPr>
        <p:spPr>
          <a:xfrm>
            <a:off x="1238250" y="14287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ORGANIZATIONS ENGAGE SHIFTBY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DDBD01-577F-4971-A129-04907E3E8C43}"/>
              </a:ext>
            </a:extLst>
          </p:cNvPr>
          <p:cNvSpPr>
            <a:spLocks noGrp="1"/>
          </p:cNvSpPr>
          <p:nvPr/>
        </p:nvSpPr>
        <p:spPr>
          <a:xfrm>
            <a:off x="1238249" y="1638300"/>
            <a:ext cx="11313093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lang="en-SG" sz="4500" b="1" dirty="0"/>
              <a:t>Understanding helps organizations keep</a:t>
            </a:r>
            <a:br>
              <a:rPr lang="en-SG" sz="4500" b="1" dirty="0"/>
            </a:br>
            <a:r>
              <a:rPr lang="en-SG" sz="4500" b="1" dirty="0"/>
              <a:t>value, risk, and trust connected.</a:t>
            </a:r>
            <a:endParaRPr sz="4400" b="1" dirty="0">
              <a:solidFill>
                <a:srgbClr val="0E14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9DA7CA-8F21-4DBE-AF5C-75D619DD09FC}"/>
              </a:ext>
            </a:extLst>
          </p:cNvPr>
          <p:cNvSpPr>
            <a:spLocks noGrp="1"/>
          </p:cNvSpPr>
          <p:nvPr/>
        </p:nvSpPr>
        <p:spPr>
          <a:xfrm>
            <a:off x="1238249" y="3171825"/>
            <a:ext cx="5334000" cy="409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D32D6C-62AD-4644-8C1A-4C247E782316}"/>
              </a:ext>
            </a:extLst>
          </p:cNvPr>
          <p:cNvSpPr>
            <a:spLocks noGrp="1"/>
          </p:cNvSpPr>
          <p:nvPr/>
        </p:nvSpPr>
        <p:spPr>
          <a:xfrm>
            <a:off x="1504949" y="3457575"/>
            <a:ext cx="4800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CREATE VALUE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A359D-4153-4464-8A45-19855DE95F83}"/>
              </a:ext>
            </a:extLst>
          </p:cNvPr>
          <p:cNvSpPr>
            <a:spLocks noGrp="1"/>
          </p:cNvSpPr>
          <p:nvPr/>
        </p:nvSpPr>
        <p:spPr>
          <a:xfrm>
            <a:off x="1504949" y="4200525"/>
            <a:ext cx="4800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16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lang="en-SG" b="1" dirty="0"/>
              <a:t>Productivity</a:t>
            </a:r>
            <a:endParaRPr b="1" dirty="0">
              <a:latin typeface="Arial"/>
              <a:ea typeface="Arial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F2F573-16FD-4F8E-A366-F7C9875238CE}"/>
              </a:ext>
            </a:extLst>
          </p:cNvPr>
          <p:cNvSpPr>
            <a:spLocks noGrp="1"/>
          </p:cNvSpPr>
          <p:nvPr/>
        </p:nvSpPr>
        <p:spPr>
          <a:xfrm>
            <a:off x="6572249" y="3171825"/>
            <a:ext cx="5334000" cy="409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2B571C-1A48-4B4B-A889-ED9D3927B85D}"/>
              </a:ext>
            </a:extLst>
          </p:cNvPr>
          <p:cNvSpPr>
            <a:spLocks noGrp="1"/>
          </p:cNvSpPr>
          <p:nvPr/>
        </p:nvSpPr>
        <p:spPr>
          <a:xfrm>
            <a:off x="6838949" y="3457575"/>
            <a:ext cx="4800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RISK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7C0460-17AA-46B3-8760-26E42FAE90AA}"/>
              </a:ext>
            </a:extLst>
          </p:cNvPr>
          <p:cNvSpPr>
            <a:spLocks noGrp="1"/>
          </p:cNvSpPr>
          <p:nvPr/>
        </p:nvSpPr>
        <p:spPr>
          <a:xfrm>
            <a:off x="6838949" y="4200525"/>
            <a:ext cx="4800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16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lang="en-SG" b="1" dirty="0">
                <a:latin typeface="Arial"/>
                <a:ea typeface="Arial"/>
                <a:cs typeface="Arial"/>
              </a:rPr>
              <a:t>Quantified Exposure</a:t>
            </a:r>
            <a:endParaRPr b="1" dirty="0">
              <a:latin typeface="Arial"/>
              <a:ea typeface="Arial"/>
              <a:cs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DCD4CAA-AA78-431C-BBBD-ABA5F215E657}"/>
              </a:ext>
            </a:extLst>
          </p:cNvPr>
          <p:cNvSpPr>
            <a:spLocks noGrp="1"/>
          </p:cNvSpPr>
          <p:nvPr/>
        </p:nvSpPr>
        <p:spPr>
          <a:xfrm>
            <a:off x="11906249" y="3171825"/>
            <a:ext cx="5334000" cy="409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D8259C-9652-4ABB-B7E7-AE282FCEF466}"/>
              </a:ext>
            </a:extLst>
          </p:cNvPr>
          <p:cNvSpPr>
            <a:spLocks noGrp="1"/>
          </p:cNvSpPr>
          <p:nvPr/>
        </p:nvSpPr>
        <p:spPr>
          <a:xfrm>
            <a:off x="12172949" y="3457575"/>
            <a:ext cx="4800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EC17500-1DC3-4339-ADF7-3C199170C8A2}"/>
              </a:ext>
            </a:extLst>
          </p:cNvPr>
          <p:cNvSpPr>
            <a:spLocks noGrp="1"/>
          </p:cNvSpPr>
          <p:nvPr/>
        </p:nvSpPr>
        <p:spPr>
          <a:xfrm>
            <a:off x="12172949" y="4200525"/>
            <a:ext cx="4800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16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lang="en-SG" sz="1650" b="1" dirty="0"/>
              <a:t>Confidence Through Change</a:t>
            </a:r>
            <a:endParaRPr b="1" dirty="0">
              <a:latin typeface="Arial"/>
              <a:ea typeface="Arial"/>
              <a:cs typeface="Arial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12F92E6-FAB2-4818-9DF0-32EDE0536DB0}"/>
              </a:ext>
            </a:extLst>
          </p:cNvPr>
          <p:cNvSpPr>
            <a:spLocks noGrp="1"/>
          </p:cNvSpPr>
          <p:nvPr/>
        </p:nvSpPr>
        <p:spPr>
          <a:xfrm>
            <a:off x="1238250" y="7658100"/>
            <a:ext cx="1028700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7E07035-63DB-4358-BBF5-6D4398CF07AC}"/>
              </a:ext>
            </a:extLst>
          </p:cNvPr>
          <p:cNvSpPr>
            <a:spLocks noGrp="1"/>
          </p:cNvSpPr>
          <p:nvPr/>
        </p:nvSpPr>
        <p:spPr>
          <a:xfrm>
            <a:off x="1238250" y="79629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lang="en-SG" sz="2550" b="1" dirty="0"/>
              <a:t>Value, risk, and trust depend on</a:t>
            </a:r>
            <a:br>
              <a:rPr lang="en-SG" sz="2550" b="1" dirty="0"/>
            </a:br>
            <a:r>
              <a:rPr lang="en-SG" sz="2550" b="1" dirty="0"/>
              <a:t>preserving understanding.</a:t>
            </a:r>
            <a:endParaRPr sz="2550" b="1" dirty="0">
              <a:solidFill>
                <a:srgbClr val="5A647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D5F118B-4EE7-439F-BB09-676B9D3F24AB}"/>
              </a:ext>
            </a:extLst>
          </p:cNvPr>
          <p:cNvSpPr>
            <a:spLocks noGrp="1"/>
          </p:cNvSpPr>
          <p:nvPr/>
        </p:nvSpPr>
        <p:spPr>
          <a:xfrm>
            <a:off x="1238250" y="9458325"/>
            <a:ext cx="15478125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80E54B6-C503-4850-9BA3-5A49EC66E814}"/>
              </a:ext>
            </a:extLst>
          </p:cNvPr>
          <p:cNvSpPr>
            <a:spLocks noGrp="1"/>
          </p:cNvSpPr>
          <p:nvPr/>
        </p:nvSpPr>
        <p:spPr>
          <a:xfrm>
            <a:off x="1238250" y="9591675"/>
            <a:ext cx="1200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</a:t>
            </a:r>
            <a:r>
              <a:rPr lang="en-US" sz="1125" dirty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Preserving understanding as execution changes</a:t>
            </a:r>
            <a:endParaRPr sz="1125" b="0" dirty="0">
              <a:solidFill>
                <a:srgbClr val="3D58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pager-pill">
            <a:extLst>
              <a:ext uri="{FF2B5EF4-FFF2-40B4-BE49-F238E27FC236}">
                <a16:creationId xmlns:a16="http://schemas.microsoft.com/office/drawing/2014/main" id="{F6488E47-2729-4A9F-907C-B6B2FC5350AE}"/>
              </a:ext>
            </a:extLst>
          </p:cNvPr>
          <p:cNvSpPr>
            <a:spLocks noGrp="1"/>
          </p:cNvSpPr>
          <p:nvPr/>
        </p:nvSpPr>
        <p:spPr>
          <a:xfrm>
            <a:off x="16935450" y="9525000"/>
            <a:ext cx="13906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D649310-03A5-44F5-992D-8D2DB350C6F0}"/>
              </a:ext>
            </a:extLst>
          </p:cNvPr>
          <p:cNvSpPr>
            <a:spLocks noGrp="1"/>
          </p:cNvSpPr>
          <p:nvPr/>
        </p:nvSpPr>
        <p:spPr>
          <a:xfrm>
            <a:off x="1706880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EEC8789-6BC9-4D3F-87A4-DD09ECEB5662}"/>
              </a:ext>
            </a:extLst>
          </p:cNvPr>
          <p:cNvSpPr>
            <a:spLocks noGrp="1"/>
          </p:cNvSpPr>
          <p:nvPr/>
        </p:nvSpPr>
        <p:spPr>
          <a:xfrm>
            <a:off x="1781175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37142BF-CE15-47A2-B2D5-1FF05E8D6D44}"/>
              </a:ext>
            </a:extLst>
          </p:cNvPr>
          <p:cNvSpPr>
            <a:spLocks noGrp="1"/>
          </p:cNvSpPr>
          <p:nvPr/>
        </p:nvSpPr>
        <p:spPr>
          <a:xfrm>
            <a:off x="17097375" y="9648825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9F84322-717A-416A-8DB7-3907A09D1B15}"/>
              </a:ext>
            </a:extLst>
          </p:cNvPr>
          <p:cNvSpPr>
            <a:spLocks noGrp="1"/>
          </p:cNvSpPr>
          <p:nvPr/>
        </p:nvSpPr>
        <p:spPr>
          <a:xfrm>
            <a:off x="17440275" y="96583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3759A1D-5F6E-4C25-AF29-BBCFF3A2FE5D}"/>
              </a:ext>
            </a:extLst>
          </p:cNvPr>
          <p:cNvSpPr>
            <a:spLocks noGrp="1"/>
          </p:cNvSpPr>
          <p:nvPr/>
        </p:nvSpPr>
        <p:spPr>
          <a:xfrm>
            <a:off x="17887950" y="96488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567001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5A82FF5-5ED8-459A-A59C-616F7AB8B2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D"/>
          </a:solidFill>
          <a:ln w="0">
            <a:solidFill>
              <a:srgbClr val="F8FAF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7ECFE0-88FA-402A-8D8E-430F25A27377}"/>
              </a:ext>
            </a:extLst>
          </p:cNvPr>
          <p:cNvSpPr>
            <a:spLocks noGrp="1"/>
          </p:cNvSpPr>
          <p:nvPr/>
        </p:nvSpPr>
        <p:spPr>
          <a:xfrm>
            <a:off x="1524000" y="41910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324361"/>
            <a:ext cx="609600" cy="60857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92C4FB6-A941-415C-A6DC-677780CF6708}"/>
              </a:ext>
            </a:extLst>
          </p:cNvPr>
          <p:cNvSpPr>
            <a:spLocks noGrp="1"/>
          </p:cNvSpPr>
          <p:nvPr/>
        </p:nvSpPr>
        <p:spPr>
          <a:xfrm>
            <a:off x="13525500" y="5143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INDUSTRY CONTEXT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8E22A8-05BB-4199-BBF5-4931CDE941B2}"/>
              </a:ext>
            </a:extLst>
          </p:cNvPr>
          <p:cNvSpPr>
            <a:spLocks noGrp="1"/>
          </p:cNvSpPr>
          <p:nvPr/>
        </p:nvSpPr>
        <p:spPr>
          <a:xfrm>
            <a:off x="1238250" y="971550"/>
            <a:ext cx="157162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D0A91E-DFEE-41CE-A1EC-43C8B4C065D9}"/>
              </a:ext>
            </a:extLst>
          </p:cNvPr>
          <p:cNvSpPr>
            <a:spLocks noGrp="1"/>
          </p:cNvSpPr>
          <p:nvPr/>
        </p:nvSpPr>
        <p:spPr>
          <a:xfrm>
            <a:off x="1238250" y="14097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INDUSTRIES WHERE SIMILAR CONVERSATIONS FREQUENTLY ARISE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6A974F-EADF-4BD3-B667-DDF0E86DD234}"/>
              </a:ext>
            </a:extLst>
          </p:cNvPr>
          <p:cNvSpPr>
            <a:spLocks noGrp="1"/>
          </p:cNvSpPr>
          <p:nvPr/>
        </p:nvSpPr>
        <p:spPr>
          <a:xfrm>
            <a:off x="1238250" y="1638300"/>
            <a:ext cx="10477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40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sectors.</a:t>
            </a:r>
          </a:p>
          <a:p>
            <a:pPr algn="l">
              <a:buNone/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40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Same confidence failure.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7CF940-0F9E-45E8-9047-CD5A2BED2B6F}"/>
              </a:ext>
            </a:extLst>
          </p:cNvPr>
          <p:cNvSpPr>
            <a:spLocks noGrp="1"/>
          </p:cNvSpPr>
          <p:nvPr/>
        </p:nvSpPr>
        <p:spPr>
          <a:xfrm>
            <a:off x="1238250" y="3776150"/>
            <a:ext cx="395287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A8AFCB-812F-4932-803A-F0C12D0723CF}"/>
              </a:ext>
            </a:extLst>
          </p:cNvPr>
          <p:cNvSpPr>
            <a:spLocks noGrp="1"/>
          </p:cNvSpPr>
          <p:nvPr/>
        </p:nvSpPr>
        <p:spPr>
          <a:xfrm>
            <a:off x="1504950" y="4585775"/>
            <a:ext cx="34194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Pharmaceuticals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B8ABD3-1605-4CD2-A14D-ADE51E0D23E7}"/>
              </a:ext>
            </a:extLst>
          </p:cNvPr>
          <p:cNvSpPr>
            <a:spLocks noGrp="1"/>
          </p:cNvSpPr>
          <p:nvPr/>
        </p:nvSpPr>
        <p:spPr>
          <a:xfrm>
            <a:off x="5191125" y="3776150"/>
            <a:ext cx="395287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460A09-D128-4C01-A6CE-5B043C7E0632}"/>
              </a:ext>
            </a:extLst>
          </p:cNvPr>
          <p:cNvSpPr>
            <a:spLocks noGrp="1"/>
          </p:cNvSpPr>
          <p:nvPr/>
        </p:nvSpPr>
        <p:spPr>
          <a:xfrm>
            <a:off x="5457825" y="4585775"/>
            <a:ext cx="34194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Consumer Health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57F3F1-B94F-4F5E-B3E7-4B8E5A3A08C2}"/>
              </a:ext>
            </a:extLst>
          </p:cNvPr>
          <p:cNvSpPr>
            <a:spLocks noGrp="1"/>
          </p:cNvSpPr>
          <p:nvPr/>
        </p:nvSpPr>
        <p:spPr>
          <a:xfrm>
            <a:off x="9144000" y="3776150"/>
            <a:ext cx="395287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E034EF-64B5-42FA-8365-E7CEDD62DDD8}"/>
              </a:ext>
            </a:extLst>
          </p:cNvPr>
          <p:cNvSpPr>
            <a:spLocks noGrp="1"/>
          </p:cNvSpPr>
          <p:nvPr/>
        </p:nvSpPr>
        <p:spPr>
          <a:xfrm>
            <a:off x="9410700" y="4585775"/>
            <a:ext cx="34194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Medical Technology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05705B-868D-4788-AA3C-1D2AF3CB9DA8}"/>
              </a:ext>
            </a:extLst>
          </p:cNvPr>
          <p:cNvSpPr>
            <a:spLocks noGrp="1"/>
          </p:cNvSpPr>
          <p:nvPr/>
        </p:nvSpPr>
        <p:spPr>
          <a:xfrm>
            <a:off x="13096875" y="3776150"/>
            <a:ext cx="395287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81E8DF-E3DD-4BF4-9270-5635B26B1476}"/>
              </a:ext>
            </a:extLst>
          </p:cNvPr>
          <p:cNvSpPr>
            <a:spLocks noGrp="1"/>
          </p:cNvSpPr>
          <p:nvPr/>
        </p:nvSpPr>
        <p:spPr>
          <a:xfrm>
            <a:off x="13363575" y="4585775"/>
            <a:ext cx="34194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7B3836-63D7-4C05-BB22-348F95409F56}"/>
              </a:ext>
            </a:extLst>
          </p:cNvPr>
          <p:cNvSpPr>
            <a:spLocks noGrp="1"/>
          </p:cNvSpPr>
          <p:nvPr/>
        </p:nvSpPr>
        <p:spPr>
          <a:xfrm>
            <a:off x="1238250" y="5204900"/>
            <a:ext cx="395287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468531-19A8-4756-8C97-77542CA43432}"/>
              </a:ext>
            </a:extLst>
          </p:cNvPr>
          <p:cNvSpPr>
            <a:spLocks noGrp="1"/>
          </p:cNvSpPr>
          <p:nvPr/>
        </p:nvSpPr>
        <p:spPr>
          <a:xfrm>
            <a:off x="1504950" y="6014525"/>
            <a:ext cx="34194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B831E7-8DE8-4F90-81CC-1F4BB92B6995}"/>
              </a:ext>
            </a:extLst>
          </p:cNvPr>
          <p:cNvSpPr>
            <a:spLocks noGrp="1"/>
          </p:cNvSpPr>
          <p:nvPr/>
        </p:nvSpPr>
        <p:spPr>
          <a:xfrm>
            <a:off x="5191125" y="5204900"/>
            <a:ext cx="395287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D083F8-FE68-46B1-96BB-DB08052F84F1}"/>
              </a:ext>
            </a:extLst>
          </p:cNvPr>
          <p:cNvSpPr>
            <a:spLocks noGrp="1"/>
          </p:cNvSpPr>
          <p:nvPr/>
        </p:nvSpPr>
        <p:spPr>
          <a:xfrm>
            <a:off x="5457825" y="6014525"/>
            <a:ext cx="34194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22EC38-4A5D-42D7-A27C-8F93BA395C28}"/>
              </a:ext>
            </a:extLst>
          </p:cNvPr>
          <p:cNvSpPr>
            <a:spLocks noGrp="1"/>
          </p:cNvSpPr>
          <p:nvPr/>
        </p:nvSpPr>
        <p:spPr>
          <a:xfrm>
            <a:off x="9144000" y="5204900"/>
            <a:ext cx="395287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FF6A661-9E38-4392-9E75-5F877A80479E}"/>
              </a:ext>
            </a:extLst>
          </p:cNvPr>
          <p:cNvSpPr>
            <a:spLocks noGrp="1"/>
          </p:cNvSpPr>
          <p:nvPr/>
        </p:nvSpPr>
        <p:spPr>
          <a:xfrm>
            <a:off x="9410700" y="6014525"/>
            <a:ext cx="34194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Professional Services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96F8EB8-E3C7-4003-A966-2213244E827C}"/>
              </a:ext>
            </a:extLst>
          </p:cNvPr>
          <p:cNvSpPr>
            <a:spLocks noGrp="1"/>
          </p:cNvSpPr>
          <p:nvPr/>
        </p:nvSpPr>
        <p:spPr>
          <a:xfrm>
            <a:off x="1238250" y="7658100"/>
            <a:ext cx="1047750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F6CEC9-BE86-47D5-B2DC-3646D75C0047}"/>
              </a:ext>
            </a:extLst>
          </p:cNvPr>
          <p:cNvSpPr>
            <a:spLocks noGrp="1"/>
          </p:cNvSpPr>
          <p:nvPr/>
        </p:nvSpPr>
        <p:spPr>
          <a:xfrm>
            <a:off x="1238250" y="7962900"/>
            <a:ext cx="12001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Understanding keeps evidence, ownership, and confidence connected across sectors.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27CEF3-708F-4CF4-B107-D1F067103B47}"/>
              </a:ext>
            </a:extLst>
          </p:cNvPr>
          <p:cNvSpPr>
            <a:spLocks noGrp="1"/>
          </p:cNvSpPr>
          <p:nvPr/>
        </p:nvSpPr>
        <p:spPr>
          <a:xfrm>
            <a:off x="1238250" y="9458325"/>
            <a:ext cx="15478125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6ABD05-B7F0-4209-888B-484594C1F24C}"/>
              </a:ext>
            </a:extLst>
          </p:cNvPr>
          <p:cNvSpPr>
            <a:spLocks noGrp="1"/>
          </p:cNvSpPr>
          <p:nvPr/>
        </p:nvSpPr>
        <p:spPr>
          <a:xfrm>
            <a:off x="1238250" y="9591675"/>
            <a:ext cx="1200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</a:t>
            </a:r>
            <a:r>
              <a:rPr lang="en-US" sz="1125" dirty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Preserving understanding as execution changes</a:t>
            </a:r>
            <a:endParaRPr sz="1125" b="0" dirty="0">
              <a:solidFill>
                <a:srgbClr val="3D58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pager-pill">
            <a:extLst>
              <a:ext uri="{FF2B5EF4-FFF2-40B4-BE49-F238E27FC236}">
                <a16:creationId xmlns:a16="http://schemas.microsoft.com/office/drawing/2014/main" id="{A8E9CBAF-DA15-4815-A661-959142C860EF}"/>
              </a:ext>
            </a:extLst>
          </p:cNvPr>
          <p:cNvSpPr>
            <a:spLocks noGrp="1"/>
          </p:cNvSpPr>
          <p:nvPr/>
        </p:nvSpPr>
        <p:spPr>
          <a:xfrm>
            <a:off x="16935450" y="9525000"/>
            <a:ext cx="13906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83314C9-CC67-4830-9E56-B7EE3F680E4D}"/>
              </a:ext>
            </a:extLst>
          </p:cNvPr>
          <p:cNvSpPr>
            <a:spLocks noGrp="1"/>
          </p:cNvSpPr>
          <p:nvPr/>
        </p:nvSpPr>
        <p:spPr>
          <a:xfrm>
            <a:off x="1706880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FF01737-8098-44AA-84B4-62FFDEE44E7B}"/>
              </a:ext>
            </a:extLst>
          </p:cNvPr>
          <p:cNvSpPr>
            <a:spLocks noGrp="1"/>
          </p:cNvSpPr>
          <p:nvPr/>
        </p:nvSpPr>
        <p:spPr>
          <a:xfrm>
            <a:off x="1781175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73FECEA-BF54-41B1-9A2F-AAC17CBF8E56}"/>
              </a:ext>
            </a:extLst>
          </p:cNvPr>
          <p:cNvSpPr>
            <a:spLocks noGrp="1"/>
          </p:cNvSpPr>
          <p:nvPr/>
        </p:nvSpPr>
        <p:spPr>
          <a:xfrm>
            <a:off x="17097375" y="9648825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EAC73D-738A-488D-9C8C-55A7F6635E15}"/>
              </a:ext>
            </a:extLst>
          </p:cNvPr>
          <p:cNvSpPr>
            <a:spLocks noGrp="1"/>
          </p:cNvSpPr>
          <p:nvPr/>
        </p:nvSpPr>
        <p:spPr>
          <a:xfrm>
            <a:off x="17440275" y="96583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96829B2-3AD0-4E02-BB04-C124541A19BD}"/>
              </a:ext>
            </a:extLst>
          </p:cNvPr>
          <p:cNvSpPr>
            <a:spLocks noGrp="1"/>
          </p:cNvSpPr>
          <p:nvPr/>
        </p:nvSpPr>
        <p:spPr>
          <a:xfrm>
            <a:off x="17887950" y="96488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981900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613BD6-796B-4E52-B7D4-78055049C881}"/>
              </a:ext>
            </a:extLst>
          </p:cNvPr>
          <p:cNvSpPr>
            <a:spLocks noGrp="1"/>
          </p:cNvSpPr>
          <p:nvPr/>
        </p:nvSpPr>
        <p:spPr>
          <a:xfrm>
            <a:off x="1524000" y="41910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324361"/>
            <a:ext cx="609600" cy="60857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4D5DD26-FDE8-4EB0-AD9B-444FA8C0BCE2}"/>
              </a:ext>
            </a:extLst>
          </p:cNvPr>
          <p:cNvSpPr>
            <a:spLocks noGrp="1"/>
          </p:cNvSpPr>
          <p:nvPr/>
        </p:nvSpPr>
        <p:spPr>
          <a:xfrm>
            <a:off x="13525500" y="5143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FUNCTIONAL CONTEXT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57C315-9191-405E-9D37-12BAEA18EB56}"/>
              </a:ext>
            </a:extLst>
          </p:cNvPr>
          <p:cNvSpPr>
            <a:spLocks noGrp="1"/>
          </p:cNvSpPr>
          <p:nvPr/>
        </p:nvSpPr>
        <p:spPr>
          <a:xfrm>
            <a:off x="1238250" y="971550"/>
            <a:ext cx="157162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200AC3-4C8D-45A0-907E-0130A4B81B46}"/>
              </a:ext>
            </a:extLst>
          </p:cNvPr>
          <p:cNvSpPr>
            <a:spLocks noGrp="1"/>
          </p:cNvSpPr>
          <p:nvPr/>
        </p:nvSpPr>
        <p:spPr>
          <a:xfrm>
            <a:off x="1238250" y="140970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lang="en-SG" sz="900" b="1" dirty="0"/>
              <a:t>WHERE SHIFTBY CONVERSATIONS BEGIN</a:t>
            </a:r>
            <a:endParaRPr sz="900" b="1" dirty="0">
              <a:solidFill>
                <a:srgbClr val="5863D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17120F-38CE-4261-B3EB-32B0B1E584F1}"/>
              </a:ext>
            </a:extLst>
          </p:cNvPr>
          <p:cNvSpPr>
            <a:spLocks noGrp="1"/>
          </p:cNvSpPr>
          <p:nvPr/>
        </p:nvSpPr>
        <p:spPr>
          <a:xfrm>
            <a:off x="1238249" y="1638300"/>
            <a:ext cx="12487375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40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conversations begin where</a:t>
            </a:r>
          </a:p>
          <a:p>
            <a:pPr algn="l">
              <a:buNone/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lang="en-SG" sz="440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Strategy, execution, </a:t>
            </a:r>
            <a:r>
              <a:rPr sz="440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assurance meet.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08BCE7-B93D-4BAF-9965-6B9E54FA23A9}"/>
              </a:ext>
            </a:extLst>
          </p:cNvPr>
          <p:cNvSpPr>
            <a:spLocks noGrp="1"/>
          </p:cNvSpPr>
          <p:nvPr/>
        </p:nvSpPr>
        <p:spPr>
          <a:xfrm>
            <a:off x="1238249" y="3924300"/>
            <a:ext cx="4762500" cy="2724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C7A52B-EF54-4E92-A3DB-4E6C93D1D9BF}"/>
              </a:ext>
            </a:extLst>
          </p:cNvPr>
          <p:cNvSpPr>
            <a:spLocks noGrp="1"/>
          </p:cNvSpPr>
          <p:nvPr/>
        </p:nvSpPr>
        <p:spPr>
          <a:xfrm>
            <a:off x="1504949" y="4191000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Strategy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80A810-AD6E-4EF4-9C23-B7A3F9B27530}"/>
              </a:ext>
            </a:extLst>
          </p:cNvPr>
          <p:cNvSpPr>
            <a:spLocks noGrp="1"/>
          </p:cNvSpPr>
          <p:nvPr/>
        </p:nvSpPr>
        <p:spPr>
          <a:xfrm>
            <a:off x="1504949" y="4800600"/>
            <a:ext cx="422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Decision traceability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1C80B3-99D5-40EB-B85D-651E1B9C8575}"/>
              </a:ext>
            </a:extLst>
          </p:cNvPr>
          <p:cNvSpPr>
            <a:spLocks noGrp="1"/>
          </p:cNvSpPr>
          <p:nvPr/>
        </p:nvSpPr>
        <p:spPr>
          <a:xfrm>
            <a:off x="1504949" y="5295900"/>
            <a:ext cx="422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Leadership ownership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0F5CC9-3E8E-4D16-AC77-6F6EAA51516A}"/>
              </a:ext>
            </a:extLst>
          </p:cNvPr>
          <p:cNvSpPr>
            <a:spLocks noGrp="1"/>
          </p:cNvSpPr>
          <p:nvPr/>
        </p:nvSpPr>
        <p:spPr>
          <a:xfrm>
            <a:off x="1504949" y="5791200"/>
            <a:ext cx="422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Enterprise direction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1C0EF5-9F55-4984-8E1D-D4461E55F6C1}"/>
              </a:ext>
            </a:extLst>
          </p:cNvPr>
          <p:cNvSpPr>
            <a:spLocks noGrp="1"/>
          </p:cNvSpPr>
          <p:nvPr/>
        </p:nvSpPr>
        <p:spPr>
          <a:xfrm>
            <a:off x="6286499" y="3924300"/>
            <a:ext cx="4762500" cy="2724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773E14-D1AE-4797-BB10-ED31239D58D2}"/>
              </a:ext>
            </a:extLst>
          </p:cNvPr>
          <p:cNvSpPr>
            <a:spLocks noGrp="1"/>
          </p:cNvSpPr>
          <p:nvPr/>
        </p:nvSpPr>
        <p:spPr>
          <a:xfrm>
            <a:off x="6553199" y="4191000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BA99C4-7A1F-4134-B150-5E14A7C42FC9}"/>
              </a:ext>
            </a:extLst>
          </p:cNvPr>
          <p:cNvSpPr>
            <a:spLocks noGrp="1"/>
          </p:cNvSpPr>
          <p:nvPr/>
        </p:nvSpPr>
        <p:spPr>
          <a:xfrm>
            <a:off x="6553199" y="4800600"/>
            <a:ext cx="422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Organizational memory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8C46FA-09BE-46CB-BC7E-ADDA5680E5FE}"/>
              </a:ext>
            </a:extLst>
          </p:cNvPr>
          <p:cNvSpPr>
            <a:spLocks noGrp="1"/>
          </p:cNvSpPr>
          <p:nvPr/>
        </p:nvSpPr>
        <p:spPr>
          <a:xfrm>
            <a:off x="6553199" y="5295900"/>
            <a:ext cx="422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Process context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8DEA6B-16AE-46C8-ADC9-55C62A39A403}"/>
              </a:ext>
            </a:extLst>
          </p:cNvPr>
          <p:cNvSpPr>
            <a:spLocks noGrp="1"/>
          </p:cNvSpPr>
          <p:nvPr/>
        </p:nvSpPr>
        <p:spPr>
          <a:xfrm>
            <a:off x="6553199" y="5791200"/>
            <a:ext cx="422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continuity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A4C15B-9BA5-436F-B450-7776E21306E2}"/>
              </a:ext>
            </a:extLst>
          </p:cNvPr>
          <p:cNvSpPr>
            <a:spLocks noGrp="1"/>
          </p:cNvSpPr>
          <p:nvPr/>
        </p:nvSpPr>
        <p:spPr>
          <a:xfrm>
            <a:off x="11334749" y="3924300"/>
            <a:ext cx="4762500" cy="2724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E829FC-4F3F-42C9-A033-031B799CD210}"/>
              </a:ext>
            </a:extLst>
          </p:cNvPr>
          <p:cNvSpPr>
            <a:spLocks noGrp="1"/>
          </p:cNvSpPr>
          <p:nvPr/>
        </p:nvSpPr>
        <p:spPr>
          <a:xfrm>
            <a:off x="11601449" y="4191000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Assurance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C7A548-E0AA-4648-905D-65ED9F7F2A3C}"/>
              </a:ext>
            </a:extLst>
          </p:cNvPr>
          <p:cNvSpPr>
            <a:spLocks noGrp="1"/>
          </p:cNvSpPr>
          <p:nvPr/>
        </p:nvSpPr>
        <p:spPr>
          <a:xfrm>
            <a:off x="11601449" y="4800600"/>
            <a:ext cx="422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2BE7D9-4B1B-4544-8247-2EA50D392F01}"/>
              </a:ext>
            </a:extLst>
          </p:cNvPr>
          <p:cNvSpPr>
            <a:spLocks noGrp="1"/>
          </p:cNvSpPr>
          <p:nvPr/>
        </p:nvSpPr>
        <p:spPr>
          <a:xfrm>
            <a:off x="11601449" y="5295900"/>
            <a:ext cx="422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Control evidence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007A3B-30F1-463C-A3B5-5DD4E5045494}"/>
              </a:ext>
            </a:extLst>
          </p:cNvPr>
          <p:cNvSpPr>
            <a:spLocks noGrp="1"/>
          </p:cNvSpPr>
          <p:nvPr/>
        </p:nvSpPr>
        <p:spPr>
          <a:xfrm>
            <a:off x="11601449" y="5791200"/>
            <a:ext cx="422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Audit readiness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3BEA4B1-20C7-44DE-AF0C-B8C9935B095D}"/>
              </a:ext>
            </a:extLst>
          </p:cNvPr>
          <p:cNvSpPr>
            <a:spLocks noGrp="1"/>
          </p:cNvSpPr>
          <p:nvPr/>
        </p:nvSpPr>
        <p:spPr>
          <a:xfrm>
            <a:off x="1238250" y="7658100"/>
            <a:ext cx="1066800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B14BEF-9B13-48E1-BB02-D03ECE57CE17}"/>
              </a:ext>
            </a:extLst>
          </p:cNvPr>
          <p:cNvSpPr>
            <a:spLocks noGrp="1"/>
          </p:cNvSpPr>
          <p:nvPr/>
        </p:nvSpPr>
        <p:spPr>
          <a:xfrm>
            <a:off x="1238250" y="79629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Decision traceability keeps ownership visible across functions.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68F8DD6-A3FF-4CF3-BF9F-067054241E51}"/>
              </a:ext>
            </a:extLst>
          </p:cNvPr>
          <p:cNvSpPr>
            <a:spLocks noGrp="1"/>
          </p:cNvSpPr>
          <p:nvPr/>
        </p:nvSpPr>
        <p:spPr>
          <a:xfrm>
            <a:off x="1238250" y="9458325"/>
            <a:ext cx="15478125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59D7875-5812-44AF-892B-AF5299EEE70A}"/>
              </a:ext>
            </a:extLst>
          </p:cNvPr>
          <p:cNvSpPr>
            <a:spLocks noGrp="1"/>
          </p:cNvSpPr>
          <p:nvPr/>
        </p:nvSpPr>
        <p:spPr>
          <a:xfrm>
            <a:off x="1238250" y="9591675"/>
            <a:ext cx="1200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</a:t>
            </a:r>
            <a:r>
              <a:rPr lang="en-US" sz="1125" dirty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Preserving understanding as execution changes</a:t>
            </a:r>
            <a:endParaRPr sz="1125" b="0" dirty="0">
              <a:solidFill>
                <a:srgbClr val="3D58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pager-pill">
            <a:extLst>
              <a:ext uri="{FF2B5EF4-FFF2-40B4-BE49-F238E27FC236}">
                <a16:creationId xmlns:a16="http://schemas.microsoft.com/office/drawing/2014/main" id="{F2D5D5AB-DA24-4840-A19A-BB9A57B77946}"/>
              </a:ext>
            </a:extLst>
          </p:cNvPr>
          <p:cNvSpPr>
            <a:spLocks noGrp="1"/>
          </p:cNvSpPr>
          <p:nvPr/>
        </p:nvSpPr>
        <p:spPr>
          <a:xfrm>
            <a:off x="16935450" y="9525000"/>
            <a:ext cx="13906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AC4FE3F-AF29-40A3-B6FD-A59DB96FC61A}"/>
              </a:ext>
            </a:extLst>
          </p:cNvPr>
          <p:cNvSpPr>
            <a:spLocks noGrp="1"/>
          </p:cNvSpPr>
          <p:nvPr/>
        </p:nvSpPr>
        <p:spPr>
          <a:xfrm>
            <a:off x="1706880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6B78A9E-1B54-43CA-B0BF-B63295E0B0E5}"/>
              </a:ext>
            </a:extLst>
          </p:cNvPr>
          <p:cNvSpPr>
            <a:spLocks noGrp="1"/>
          </p:cNvSpPr>
          <p:nvPr/>
        </p:nvSpPr>
        <p:spPr>
          <a:xfrm>
            <a:off x="1781175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CC4B7A-9DD6-4103-A2FF-9F93BA9528D2}"/>
              </a:ext>
            </a:extLst>
          </p:cNvPr>
          <p:cNvSpPr>
            <a:spLocks noGrp="1"/>
          </p:cNvSpPr>
          <p:nvPr/>
        </p:nvSpPr>
        <p:spPr>
          <a:xfrm>
            <a:off x="17097375" y="9648825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1AC7C26-EA05-40E3-979D-54BAABF9D945}"/>
              </a:ext>
            </a:extLst>
          </p:cNvPr>
          <p:cNvSpPr>
            <a:spLocks noGrp="1"/>
          </p:cNvSpPr>
          <p:nvPr/>
        </p:nvSpPr>
        <p:spPr>
          <a:xfrm>
            <a:off x="17440275" y="96583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64EEC6C-2B28-42EC-B9DB-AF5385BE457F}"/>
              </a:ext>
            </a:extLst>
          </p:cNvPr>
          <p:cNvSpPr>
            <a:spLocks noGrp="1"/>
          </p:cNvSpPr>
          <p:nvPr/>
        </p:nvSpPr>
        <p:spPr>
          <a:xfrm>
            <a:off x="17887950" y="96488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503569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ADDFFA-498C-47EC-A040-643D11B86C60}"/>
              </a:ext>
            </a:extLst>
          </p:cNvPr>
          <p:cNvSpPr>
            <a:spLocks noGrp="1"/>
          </p:cNvSpPr>
          <p:nvPr/>
        </p:nvSpPr>
        <p:spPr>
          <a:xfrm>
            <a:off x="1524000" y="41910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324361"/>
            <a:ext cx="609600" cy="60857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B5928A-503F-422C-8BFE-AB99422EE1B7}"/>
              </a:ext>
            </a:extLst>
          </p:cNvPr>
          <p:cNvSpPr>
            <a:spLocks noGrp="1"/>
          </p:cNvSpPr>
          <p:nvPr/>
        </p:nvSpPr>
        <p:spPr>
          <a:xfrm>
            <a:off x="13525500" y="5143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MOMENTS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A2A8E0-B4B9-499B-BBCB-DDD1E91B680F}"/>
              </a:ext>
            </a:extLst>
          </p:cNvPr>
          <p:cNvSpPr>
            <a:spLocks noGrp="1"/>
          </p:cNvSpPr>
          <p:nvPr/>
        </p:nvSpPr>
        <p:spPr>
          <a:xfrm>
            <a:off x="1238250" y="971550"/>
            <a:ext cx="157162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1FD86F-E418-4652-9C80-EDFF1BA0E3FC}"/>
              </a:ext>
            </a:extLst>
          </p:cNvPr>
          <p:cNvSpPr>
            <a:spLocks noGrp="1"/>
          </p:cNvSpPr>
          <p:nvPr/>
        </p:nvSpPr>
        <p:spPr>
          <a:xfrm>
            <a:off x="1238250" y="1409700"/>
            <a:ext cx="552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WHEN UNDERSTANDING STARTS TO FRAGMENT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DB701D-2757-4AF0-AF9A-AA8B2ADB1808}"/>
              </a:ext>
            </a:extLst>
          </p:cNvPr>
          <p:cNvSpPr>
            <a:spLocks noGrp="1"/>
          </p:cNvSpPr>
          <p:nvPr/>
        </p:nvSpPr>
        <p:spPr>
          <a:xfrm>
            <a:off x="1238250" y="1638300"/>
            <a:ext cx="11823232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40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40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These conditions often signal a</a:t>
            </a:r>
          </a:p>
          <a:p>
            <a:pPr algn="l">
              <a:buNone/>
              <a:defRPr sz="40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40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deeper need to preserve understanding.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0363DF-E25E-46A3-86DF-A4D772AAF0CA}"/>
              </a:ext>
            </a:extLst>
          </p:cNvPr>
          <p:cNvSpPr>
            <a:spLocks noGrp="1"/>
          </p:cNvSpPr>
          <p:nvPr/>
        </p:nvSpPr>
        <p:spPr>
          <a:xfrm>
            <a:off x="1196942" y="3943350"/>
            <a:ext cx="3190875" cy="2686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67721B-D0B1-4478-8155-28DF6C44DA29}"/>
              </a:ext>
            </a:extLst>
          </p:cNvPr>
          <p:cNvSpPr>
            <a:spLocks noGrp="1"/>
          </p:cNvSpPr>
          <p:nvPr/>
        </p:nvSpPr>
        <p:spPr>
          <a:xfrm>
            <a:off x="1463642" y="42100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AC649A-C103-4A5E-A820-AB71CBA2ECFD}"/>
              </a:ext>
            </a:extLst>
          </p:cNvPr>
          <p:cNvSpPr>
            <a:spLocks noGrp="1"/>
          </p:cNvSpPr>
          <p:nvPr/>
        </p:nvSpPr>
        <p:spPr>
          <a:xfrm>
            <a:off x="1463642" y="5372100"/>
            <a:ext cx="265747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172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lang="en-SG" sz="1725" b="1" dirty="0"/>
              <a:t>Decision rationale is becoming harder to trace.</a:t>
            </a:r>
            <a:endParaRPr sz="1725" b="1" dirty="0">
              <a:solidFill>
                <a:srgbClr val="0E14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D37A3F-709A-4725-B5BA-84D79414ED6B}"/>
              </a:ext>
            </a:extLst>
          </p:cNvPr>
          <p:cNvSpPr>
            <a:spLocks noGrp="1"/>
          </p:cNvSpPr>
          <p:nvPr/>
        </p:nvSpPr>
        <p:spPr>
          <a:xfrm>
            <a:off x="4387817" y="3943350"/>
            <a:ext cx="3190875" cy="2686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F4319D-373E-49E8-AFE6-F59F0B5186C4}"/>
              </a:ext>
            </a:extLst>
          </p:cNvPr>
          <p:cNvSpPr>
            <a:spLocks noGrp="1"/>
          </p:cNvSpPr>
          <p:nvPr/>
        </p:nvSpPr>
        <p:spPr>
          <a:xfrm>
            <a:off x="4654517" y="42100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56634B-655A-460F-BC23-8038A4C2B9D9}"/>
              </a:ext>
            </a:extLst>
          </p:cNvPr>
          <p:cNvSpPr>
            <a:spLocks noGrp="1"/>
          </p:cNvSpPr>
          <p:nvPr/>
        </p:nvSpPr>
        <p:spPr>
          <a:xfrm>
            <a:off x="4654517" y="5372100"/>
            <a:ext cx="265747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172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lang="en-US" sz="1725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Priorities are changing faster than alignment</a:t>
            </a:r>
            <a:r>
              <a:rPr sz="1725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CB9273-4E88-4356-8D39-8DF485186649}"/>
              </a:ext>
            </a:extLst>
          </p:cNvPr>
          <p:cNvSpPr>
            <a:spLocks noGrp="1"/>
          </p:cNvSpPr>
          <p:nvPr/>
        </p:nvSpPr>
        <p:spPr>
          <a:xfrm>
            <a:off x="7578692" y="3943350"/>
            <a:ext cx="3190875" cy="2686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952B86-B724-4C61-8C0C-EE1033C8C6F7}"/>
              </a:ext>
            </a:extLst>
          </p:cNvPr>
          <p:cNvSpPr>
            <a:spLocks noGrp="1"/>
          </p:cNvSpPr>
          <p:nvPr/>
        </p:nvSpPr>
        <p:spPr>
          <a:xfrm>
            <a:off x="7845392" y="42100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683BE4-6149-40B4-B7FD-FC39F0ACD9FB}"/>
              </a:ext>
            </a:extLst>
          </p:cNvPr>
          <p:cNvSpPr>
            <a:spLocks noGrp="1"/>
          </p:cNvSpPr>
          <p:nvPr/>
        </p:nvSpPr>
        <p:spPr>
          <a:xfrm>
            <a:off x="7845392" y="5372100"/>
            <a:ext cx="265747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172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lang="en-US" sz="1725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Ownership and accountability are becoming unclear.</a:t>
            </a:r>
            <a:endParaRPr sz="1725" b="1" dirty="0">
              <a:solidFill>
                <a:srgbClr val="0E14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735B5A-3A09-43BA-AEC9-5BD11C317D37}"/>
              </a:ext>
            </a:extLst>
          </p:cNvPr>
          <p:cNvSpPr>
            <a:spLocks noGrp="1"/>
          </p:cNvSpPr>
          <p:nvPr/>
        </p:nvSpPr>
        <p:spPr>
          <a:xfrm>
            <a:off x="10769567" y="3943350"/>
            <a:ext cx="3190875" cy="2686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2D5AF6-9AA3-4D48-86A4-FFF7243084E4}"/>
              </a:ext>
            </a:extLst>
          </p:cNvPr>
          <p:cNvSpPr>
            <a:spLocks noGrp="1"/>
          </p:cNvSpPr>
          <p:nvPr/>
        </p:nvSpPr>
        <p:spPr>
          <a:xfrm>
            <a:off x="11036267" y="42100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2B8CBE-A6AB-4E7C-A25F-07BD1A6A1FB6}"/>
              </a:ext>
            </a:extLst>
          </p:cNvPr>
          <p:cNvSpPr>
            <a:spLocks noGrp="1"/>
          </p:cNvSpPr>
          <p:nvPr/>
        </p:nvSpPr>
        <p:spPr>
          <a:xfrm>
            <a:off x="11036267" y="5372100"/>
            <a:ext cx="265747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172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lang="en-US" sz="1725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Critical context is becoming harder to retain.</a:t>
            </a:r>
            <a:endParaRPr sz="1725" b="1" dirty="0">
              <a:solidFill>
                <a:srgbClr val="0E14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C742729-C947-4D11-A729-78218659EB88}"/>
              </a:ext>
            </a:extLst>
          </p:cNvPr>
          <p:cNvSpPr>
            <a:spLocks noGrp="1"/>
          </p:cNvSpPr>
          <p:nvPr/>
        </p:nvSpPr>
        <p:spPr>
          <a:xfrm>
            <a:off x="13960442" y="3943350"/>
            <a:ext cx="3190875" cy="2686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0F4550-5AE2-4CB8-8C76-BAA58E6E8E2E}"/>
              </a:ext>
            </a:extLst>
          </p:cNvPr>
          <p:cNvSpPr>
            <a:spLocks noGrp="1"/>
          </p:cNvSpPr>
          <p:nvPr/>
        </p:nvSpPr>
        <p:spPr>
          <a:xfrm>
            <a:off x="14227142" y="42100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A77E3E-098A-4243-AC8F-700CEF5227A5}"/>
              </a:ext>
            </a:extLst>
          </p:cNvPr>
          <p:cNvSpPr>
            <a:spLocks noGrp="1"/>
          </p:cNvSpPr>
          <p:nvPr/>
        </p:nvSpPr>
        <p:spPr>
          <a:xfrm>
            <a:off x="14227142" y="5372100"/>
            <a:ext cx="265747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172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lang="en-US" sz="1725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 is becoming harder to transfer</a:t>
            </a:r>
            <a:r>
              <a:rPr sz="1725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54A581-B883-4143-98BB-B2BBE1CAC32D}"/>
              </a:ext>
            </a:extLst>
          </p:cNvPr>
          <p:cNvSpPr>
            <a:spLocks noGrp="1"/>
          </p:cNvSpPr>
          <p:nvPr/>
        </p:nvSpPr>
        <p:spPr>
          <a:xfrm>
            <a:off x="1238250" y="7658100"/>
            <a:ext cx="1066800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5B02E92-4535-41C3-98E2-14F78874426D}"/>
              </a:ext>
            </a:extLst>
          </p:cNvPr>
          <p:cNvSpPr>
            <a:spLocks noGrp="1"/>
          </p:cNvSpPr>
          <p:nvPr/>
        </p:nvSpPr>
        <p:spPr>
          <a:xfrm>
            <a:off x="1238250" y="79629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can be introduced before uncertainty becomes structural.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2276F32-9536-4DAF-8097-B2F0DBF7EF40}"/>
              </a:ext>
            </a:extLst>
          </p:cNvPr>
          <p:cNvSpPr>
            <a:spLocks noGrp="1"/>
          </p:cNvSpPr>
          <p:nvPr/>
        </p:nvSpPr>
        <p:spPr>
          <a:xfrm>
            <a:off x="1238250" y="9458325"/>
            <a:ext cx="15478125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C504CA8-75A4-45F2-97DA-37347CDE1EAC}"/>
              </a:ext>
            </a:extLst>
          </p:cNvPr>
          <p:cNvSpPr>
            <a:spLocks noGrp="1"/>
          </p:cNvSpPr>
          <p:nvPr/>
        </p:nvSpPr>
        <p:spPr>
          <a:xfrm>
            <a:off x="1238250" y="9591675"/>
            <a:ext cx="1200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</a:t>
            </a:r>
            <a:r>
              <a:rPr lang="en-US" sz="1125" dirty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Preserving understanding as execution changes</a:t>
            </a:r>
            <a:endParaRPr sz="1125" b="0" dirty="0">
              <a:solidFill>
                <a:srgbClr val="3D58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pager-pill">
            <a:extLst>
              <a:ext uri="{FF2B5EF4-FFF2-40B4-BE49-F238E27FC236}">
                <a16:creationId xmlns:a16="http://schemas.microsoft.com/office/drawing/2014/main" id="{6F8D18E2-ACC9-470D-8665-CEC1370898AC}"/>
              </a:ext>
            </a:extLst>
          </p:cNvPr>
          <p:cNvSpPr>
            <a:spLocks noGrp="1"/>
          </p:cNvSpPr>
          <p:nvPr/>
        </p:nvSpPr>
        <p:spPr>
          <a:xfrm>
            <a:off x="16935450" y="9525000"/>
            <a:ext cx="13906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7FE6D1C-63F4-4550-9155-B4994468CBCE}"/>
              </a:ext>
            </a:extLst>
          </p:cNvPr>
          <p:cNvSpPr>
            <a:spLocks noGrp="1"/>
          </p:cNvSpPr>
          <p:nvPr/>
        </p:nvSpPr>
        <p:spPr>
          <a:xfrm>
            <a:off x="1706880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E0F2BA9-12D4-4CFA-B454-6E650926DB35}"/>
              </a:ext>
            </a:extLst>
          </p:cNvPr>
          <p:cNvSpPr>
            <a:spLocks noGrp="1"/>
          </p:cNvSpPr>
          <p:nvPr/>
        </p:nvSpPr>
        <p:spPr>
          <a:xfrm>
            <a:off x="1781175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B2BA01-7012-42A3-9344-FB8CCC372203}"/>
              </a:ext>
            </a:extLst>
          </p:cNvPr>
          <p:cNvSpPr>
            <a:spLocks noGrp="1"/>
          </p:cNvSpPr>
          <p:nvPr/>
        </p:nvSpPr>
        <p:spPr>
          <a:xfrm>
            <a:off x="17097375" y="9648825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19E8B59-4F59-4EE2-AA9C-3B1534EF29EC}"/>
              </a:ext>
            </a:extLst>
          </p:cNvPr>
          <p:cNvSpPr>
            <a:spLocks noGrp="1"/>
          </p:cNvSpPr>
          <p:nvPr/>
        </p:nvSpPr>
        <p:spPr>
          <a:xfrm>
            <a:off x="17440275" y="96583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74ADF44-8FF6-48F4-B5CC-14A81A12E154}"/>
              </a:ext>
            </a:extLst>
          </p:cNvPr>
          <p:cNvSpPr>
            <a:spLocks noGrp="1"/>
          </p:cNvSpPr>
          <p:nvPr/>
        </p:nvSpPr>
        <p:spPr>
          <a:xfrm>
            <a:off x="17887950" y="96488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558255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FBBA7F-2475-4F19-847D-AA0A44E48B60}"/>
              </a:ext>
            </a:extLst>
          </p:cNvPr>
          <p:cNvSpPr>
            <a:spLocks noGrp="1"/>
          </p:cNvSpPr>
          <p:nvPr/>
        </p:nvSpPr>
        <p:spPr>
          <a:xfrm>
            <a:off x="1524000" y="41910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324361"/>
            <a:ext cx="609600" cy="60857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4CBC9B8-CA74-474B-BBB3-9B3F9E9B3358}"/>
              </a:ext>
            </a:extLst>
          </p:cNvPr>
          <p:cNvSpPr>
            <a:spLocks noGrp="1"/>
          </p:cNvSpPr>
          <p:nvPr/>
        </p:nvSpPr>
        <p:spPr>
          <a:xfrm>
            <a:off x="13525500" y="5143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READINESS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A1905C-7F1C-42AD-8ACD-F1482887E026}"/>
              </a:ext>
            </a:extLst>
          </p:cNvPr>
          <p:cNvSpPr>
            <a:spLocks noGrp="1"/>
          </p:cNvSpPr>
          <p:nvPr/>
        </p:nvSpPr>
        <p:spPr>
          <a:xfrm>
            <a:off x="1238250" y="971550"/>
            <a:ext cx="157162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DC69AB-C9D6-491B-A313-6BC52A22654B}"/>
              </a:ext>
            </a:extLst>
          </p:cNvPr>
          <p:cNvSpPr>
            <a:spLocks noGrp="1"/>
          </p:cNvSpPr>
          <p:nvPr/>
        </p:nvSpPr>
        <p:spPr>
          <a:xfrm>
            <a:off x="0" y="1047750"/>
            <a:ext cx="8382000" cy="8410575"/>
          </a:xfrm>
          <a:prstGeom prst="rect">
            <a:avLst/>
          </a:prstGeom>
          <a:solidFill>
            <a:srgbClr val="F7F6FB"/>
          </a:solidFill>
          <a:ln w="0">
            <a:solidFill>
              <a:srgbClr val="F7F6F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6CF746-6EA4-451A-B669-970A87729866}"/>
              </a:ext>
            </a:extLst>
          </p:cNvPr>
          <p:cNvSpPr>
            <a:spLocks noGrp="1"/>
          </p:cNvSpPr>
          <p:nvPr/>
        </p:nvSpPr>
        <p:spPr>
          <a:xfrm>
            <a:off x="1238250" y="22955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READINESS TO SUPPORT ADOPTION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B4570E-883C-480B-A7BE-AFCE6273719B}"/>
              </a:ext>
            </a:extLst>
          </p:cNvPr>
          <p:cNvSpPr>
            <a:spLocks noGrp="1"/>
          </p:cNvSpPr>
          <p:nvPr/>
        </p:nvSpPr>
        <p:spPr>
          <a:xfrm>
            <a:off x="1238250" y="3124200"/>
            <a:ext cx="5143500" cy="163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4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40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Readiness</a:t>
            </a:r>
          </a:p>
          <a:p>
            <a:pPr algn="l">
              <a:buNone/>
              <a:defRPr sz="4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40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&amp; Enablement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24FEB1-29DE-4389-A310-3DCC8C4E2444}"/>
              </a:ext>
            </a:extLst>
          </p:cNvPr>
          <p:cNvSpPr>
            <a:spLocks noGrp="1"/>
          </p:cNvSpPr>
          <p:nvPr/>
        </p:nvSpPr>
        <p:spPr>
          <a:xfrm>
            <a:off x="1238250" y="5429250"/>
            <a:ext cx="5143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People, knowledge, governance,</a:t>
            </a:r>
          </a:p>
          <a:p>
            <a:pPr algn="l">
              <a:buNone/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ways of working need to be ready.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62374E-9329-4E43-9E44-3B4B63E4E2B7}"/>
              </a:ext>
            </a:extLst>
          </p:cNvPr>
          <p:cNvSpPr>
            <a:spLocks noGrp="1"/>
          </p:cNvSpPr>
          <p:nvPr/>
        </p:nvSpPr>
        <p:spPr>
          <a:xfrm>
            <a:off x="9191625" y="2352675"/>
            <a:ext cx="3857625" cy="12223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AA798B-DD66-4A54-9ECB-3851D22E0AEB}"/>
              </a:ext>
            </a:extLst>
          </p:cNvPr>
          <p:cNvSpPr>
            <a:spLocks noGrp="1"/>
          </p:cNvSpPr>
          <p:nvPr/>
        </p:nvSpPr>
        <p:spPr>
          <a:xfrm>
            <a:off x="9439275" y="3162300"/>
            <a:ext cx="33623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workshops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5AFE0-B39E-4B34-A2D5-D24FBCE001BC}"/>
              </a:ext>
            </a:extLst>
          </p:cNvPr>
          <p:cNvSpPr>
            <a:spLocks noGrp="1"/>
          </p:cNvSpPr>
          <p:nvPr/>
        </p:nvSpPr>
        <p:spPr>
          <a:xfrm>
            <a:off x="13049250" y="2352675"/>
            <a:ext cx="3857625" cy="12223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F36736-1C26-4E67-85EE-101159706ACC}"/>
              </a:ext>
            </a:extLst>
          </p:cNvPr>
          <p:cNvSpPr>
            <a:spLocks noGrp="1"/>
          </p:cNvSpPr>
          <p:nvPr/>
        </p:nvSpPr>
        <p:spPr>
          <a:xfrm>
            <a:off x="13296900" y="3162300"/>
            <a:ext cx="33623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literacy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5BE892-3346-4F15-BCD3-4E221E36683D}"/>
              </a:ext>
            </a:extLst>
          </p:cNvPr>
          <p:cNvSpPr>
            <a:spLocks noGrp="1"/>
          </p:cNvSpPr>
          <p:nvPr/>
        </p:nvSpPr>
        <p:spPr>
          <a:xfrm>
            <a:off x="9191625" y="3575050"/>
            <a:ext cx="3857625" cy="12223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911FC9-E250-46B3-8B1E-FB19497DC1D4}"/>
              </a:ext>
            </a:extLst>
          </p:cNvPr>
          <p:cNvSpPr>
            <a:spLocks noGrp="1"/>
          </p:cNvSpPr>
          <p:nvPr/>
        </p:nvSpPr>
        <p:spPr>
          <a:xfrm>
            <a:off x="9439275" y="4384675"/>
            <a:ext cx="33623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5FB258-328F-443B-B9F1-1575B4390856}"/>
              </a:ext>
            </a:extLst>
          </p:cNvPr>
          <p:cNvSpPr>
            <a:spLocks noGrp="1"/>
          </p:cNvSpPr>
          <p:nvPr/>
        </p:nvSpPr>
        <p:spPr>
          <a:xfrm>
            <a:off x="13049250" y="3575050"/>
            <a:ext cx="3857625" cy="12223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573228-9E35-45F3-BFAA-329D2A86CAB8}"/>
              </a:ext>
            </a:extLst>
          </p:cNvPr>
          <p:cNvSpPr>
            <a:spLocks noGrp="1"/>
          </p:cNvSpPr>
          <p:nvPr/>
        </p:nvSpPr>
        <p:spPr>
          <a:xfrm>
            <a:off x="13296900" y="4384675"/>
            <a:ext cx="33623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 readiness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04DFF8-DFA9-4D28-AF00-CA22F6857465}"/>
              </a:ext>
            </a:extLst>
          </p:cNvPr>
          <p:cNvSpPr>
            <a:spLocks noGrp="1"/>
          </p:cNvSpPr>
          <p:nvPr/>
        </p:nvSpPr>
        <p:spPr>
          <a:xfrm>
            <a:off x="9191625" y="4797425"/>
            <a:ext cx="3857625" cy="12223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E4AE6C-98E4-4DF0-9666-8CA112C17C50}"/>
              </a:ext>
            </a:extLst>
          </p:cNvPr>
          <p:cNvSpPr>
            <a:spLocks noGrp="1"/>
          </p:cNvSpPr>
          <p:nvPr/>
        </p:nvSpPr>
        <p:spPr>
          <a:xfrm>
            <a:off x="9439275" y="5607050"/>
            <a:ext cx="33623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 readiness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38D964-D27B-4B10-86F0-CF7A6040CF02}"/>
              </a:ext>
            </a:extLst>
          </p:cNvPr>
          <p:cNvSpPr>
            <a:spLocks noGrp="1"/>
          </p:cNvSpPr>
          <p:nvPr/>
        </p:nvSpPr>
        <p:spPr>
          <a:xfrm>
            <a:off x="13049250" y="4797425"/>
            <a:ext cx="3857625" cy="12223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62A973-A234-4BF3-8F48-0CF2FE48637D}"/>
              </a:ext>
            </a:extLst>
          </p:cNvPr>
          <p:cNvSpPr>
            <a:spLocks noGrp="1"/>
          </p:cNvSpPr>
          <p:nvPr/>
        </p:nvSpPr>
        <p:spPr>
          <a:xfrm>
            <a:off x="13296900" y="5607050"/>
            <a:ext cx="33623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Workforce readiness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DF79B00-5AFE-4E00-A8AC-87EFCC8D39CE}"/>
              </a:ext>
            </a:extLst>
          </p:cNvPr>
          <p:cNvSpPr>
            <a:spLocks noGrp="1"/>
          </p:cNvSpPr>
          <p:nvPr/>
        </p:nvSpPr>
        <p:spPr>
          <a:xfrm>
            <a:off x="9191625" y="7658100"/>
            <a:ext cx="77152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9B448DD-A727-4905-8C20-4E88F1D6A631}"/>
              </a:ext>
            </a:extLst>
          </p:cNvPr>
          <p:cNvSpPr>
            <a:spLocks noGrp="1"/>
          </p:cNvSpPr>
          <p:nvPr/>
        </p:nvSpPr>
        <p:spPr>
          <a:xfrm>
            <a:off x="9191625" y="78676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0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Readiness becomes easier to mobilize</a:t>
            </a:r>
          </a:p>
          <a:p>
            <a:pPr algn="l">
              <a:buNone/>
              <a:defRPr sz="240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before adoption proceeds.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0551D3A-C0A3-411A-A846-35DFA4C0DCF8}"/>
              </a:ext>
            </a:extLst>
          </p:cNvPr>
          <p:cNvSpPr>
            <a:spLocks noGrp="1"/>
          </p:cNvSpPr>
          <p:nvPr/>
        </p:nvSpPr>
        <p:spPr>
          <a:xfrm>
            <a:off x="1238250" y="9458325"/>
            <a:ext cx="15478125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05E948C-7760-4504-BD64-9D2701A5731E}"/>
              </a:ext>
            </a:extLst>
          </p:cNvPr>
          <p:cNvSpPr>
            <a:spLocks noGrp="1"/>
          </p:cNvSpPr>
          <p:nvPr/>
        </p:nvSpPr>
        <p:spPr>
          <a:xfrm>
            <a:off x="1238250" y="9591675"/>
            <a:ext cx="1200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</a:t>
            </a:r>
            <a:r>
              <a:rPr lang="en-US" sz="1125" dirty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Preserving understanding as execution changes</a:t>
            </a:r>
            <a:endParaRPr sz="1125" b="0" dirty="0">
              <a:solidFill>
                <a:srgbClr val="3D58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pager-pill">
            <a:extLst>
              <a:ext uri="{FF2B5EF4-FFF2-40B4-BE49-F238E27FC236}">
                <a16:creationId xmlns:a16="http://schemas.microsoft.com/office/drawing/2014/main" id="{5EDCD20E-33B8-4111-BF34-1E3423D29CAE}"/>
              </a:ext>
            </a:extLst>
          </p:cNvPr>
          <p:cNvSpPr>
            <a:spLocks noGrp="1"/>
          </p:cNvSpPr>
          <p:nvPr/>
        </p:nvSpPr>
        <p:spPr>
          <a:xfrm>
            <a:off x="16935450" y="9525000"/>
            <a:ext cx="13906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713D8B6-5AA3-4DEF-BB70-8AA34D9085F5}"/>
              </a:ext>
            </a:extLst>
          </p:cNvPr>
          <p:cNvSpPr>
            <a:spLocks noGrp="1"/>
          </p:cNvSpPr>
          <p:nvPr/>
        </p:nvSpPr>
        <p:spPr>
          <a:xfrm>
            <a:off x="1706880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DD4B734-1A46-471C-9C17-17D71AC79EF9}"/>
              </a:ext>
            </a:extLst>
          </p:cNvPr>
          <p:cNvSpPr>
            <a:spLocks noGrp="1"/>
          </p:cNvSpPr>
          <p:nvPr/>
        </p:nvSpPr>
        <p:spPr>
          <a:xfrm>
            <a:off x="1781175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232C0D3-D61F-45C4-A727-6B7A43C19528}"/>
              </a:ext>
            </a:extLst>
          </p:cNvPr>
          <p:cNvSpPr>
            <a:spLocks noGrp="1"/>
          </p:cNvSpPr>
          <p:nvPr/>
        </p:nvSpPr>
        <p:spPr>
          <a:xfrm>
            <a:off x="17097375" y="9648825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959D6DD-91A7-4D4E-806A-9C0597263BFF}"/>
              </a:ext>
            </a:extLst>
          </p:cNvPr>
          <p:cNvSpPr>
            <a:spLocks noGrp="1"/>
          </p:cNvSpPr>
          <p:nvPr/>
        </p:nvSpPr>
        <p:spPr>
          <a:xfrm>
            <a:off x="17440275" y="96583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68B75F6-093B-4FB6-B263-64FC7D34389F}"/>
              </a:ext>
            </a:extLst>
          </p:cNvPr>
          <p:cNvSpPr>
            <a:spLocks noGrp="1"/>
          </p:cNvSpPr>
          <p:nvPr/>
        </p:nvSpPr>
        <p:spPr>
          <a:xfrm>
            <a:off x="17887950" y="96488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144168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837F1D9F-75E2-EC4E-8F54-D7FCEE6B0255}"/>
              </a:ext>
            </a:extLst>
          </p:cNvPr>
          <p:cNvSpPr>
            <a:spLocks noGrp="1"/>
          </p:cNvSpPr>
          <p:nvPr/>
        </p:nvSpPr>
        <p:spPr>
          <a:xfrm>
            <a:off x="13049748" y="3634262"/>
            <a:ext cx="3952877" cy="12858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7990FF-93D7-AF26-F409-DD5CBA4B76EA}"/>
              </a:ext>
            </a:extLst>
          </p:cNvPr>
          <p:cNvSpPr>
            <a:spLocks noGrp="1"/>
          </p:cNvSpPr>
          <p:nvPr/>
        </p:nvSpPr>
        <p:spPr>
          <a:xfrm>
            <a:off x="9192125" y="3652835"/>
            <a:ext cx="3857624" cy="12858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9BFE0F4-7345-4D3B-ABBA-38D6EFF6646D}"/>
              </a:ext>
            </a:extLst>
          </p:cNvPr>
          <p:cNvSpPr>
            <a:spLocks noGrp="1"/>
          </p:cNvSpPr>
          <p:nvPr/>
        </p:nvSpPr>
        <p:spPr>
          <a:xfrm>
            <a:off x="13049248" y="2338764"/>
            <a:ext cx="3952877" cy="12858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452D5D-9322-40EC-BE47-09D6BB32A7CC}"/>
              </a:ext>
            </a:extLst>
          </p:cNvPr>
          <p:cNvSpPr>
            <a:spLocks noGrp="1"/>
          </p:cNvSpPr>
          <p:nvPr/>
        </p:nvSpPr>
        <p:spPr>
          <a:xfrm>
            <a:off x="1524000" y="41910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324361"/>
            <a:ext cx="609600" cy="60857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CCE2702-930D-4258-B413-2855C3E0213B}"/>
              </a:ext>
            </a:extLst>
          </p:cNvPr>
          <p:cNvSpPr>
            <a:spLocks noGrp="1"/>
          </p:cNvSpPr>
          <p:nvPr/>
        </p:nvSpPr>
        <p:spPr>
          <a:xfrm>
            <a:off x="13525500" y="5143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VALUE PRIORITIES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B6D5F3-48D7-48E3-976C-34EC7027469E}"/>
              </a:ext>
            </a:extLst>
          </p:cNvPr>
          <p:cNvSpPr>
            <a:spLocks noGrp="1"/>
          </p:cNvSpPr>
          <p:nvPr/>
        </p:nvSpPr>
        <p:spPr>
          <a:xfrm>
            <a:off x="1238250" y="971550"/>
            <a:ext cx="157162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84D0CA-6BAD-49C1-945B-AADA8E4403D5}"/>
              </a:ext>
            </a:extLst>
          </p:cNvPr>
          <p:cNvSpPr>
            <a:spLocks noGrp="1"/>
          </p:cNvSpPr>
          <p:nvPr/>
        </p:nvSpPr>
        <p:spPr>
          <a:xfrm>
            <a:off x="0" y="1047750"/>
            <a:ext cx="8382000" cy="8410575"/>
          </a:xfrm>
          <a:prstGeom prst="rect">
            <a:avLst/>
          </a:prstGeom>
          <a:solidFill>
            <a:srgbClr val="F7F6FB"/>
          </a:solidFill>
          <a:ln w="0">
            <a:solidFill>
              <a:srgbClr val="F7F6F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94E7DF-1327-403C-9DEE-9E0B1DE9161B}"/>
              </a:ext>
            </a:extLst>
          </p:cNvPr>
          <p:cNvSpPr>
            <a:spLocks noGrp="1"/>
          </p:cNvSpPr>
          <p:nvPr/>
        </p:nvSpPr>
        <p:spPr>
          <a:xfrm>
            <a:off x="1238250" y="2295525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PRIORITIZING WHAT MATTERS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405792-62A9-446F-B003-07FDEABE2803}"/>
              </a:ext>
            </a:extLst>
          </p:cNvPr>
          <p:cNvSpPr>
            <a:spLocks noGrp="1"/>
          </p:cNvSpPr>
          <p:nvPr/>
        </p:nvSpPr>
        <p:spPr>
          <a:xfrm>
            <a:off x="1238250" y="3124200"/>
            <a:ext cx="6858000" cy="163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4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40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Adoption &amp;</a:t>
            </a:r>
          </a:p>
          <a:p>
            <a:pPr algn="l">
              <a:buNone/>
              <a:defRPr sz="4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40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51902E-A3F6-4E19-87C4-4A2788B7891F}"/>
              </a:ext>
            </a:extLst>
          </p:cNvPr>
          <p:cNvSpPr>
            <a:spLocks noGrp="1"/>
          </p:cNvSpPr>
          <p:nvPr/>
        </p:nvSpPr>
        <p:spPr>
          <a:xfrm>
            <a:off x="1238250" y="5429250"/>
            <a:ext cx="590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Greater confidence in where to invest,</a:t>
            </a:r>
          </a:p>
          <a:p>
            <a:pPr algn="l">
              <a:buNone/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what to prioritize, and how adoption should proceed.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E2E767-5900-4F10-94A2-80E61182B1EB}"/>
              </a:ext>
            </a:extLst>
          </p:cNvPr>
          <p:cNvSpPr>
            <a:spLocks noGrp="1"/>
          </p:cNvSpPr>
          <p:nvPr/>
        </p:nvSpPr>
        <p:spPr>
          <a:xfrm>
            <a:off x="9191625" y="2357337"/>
            <a:ext cx="3857624" cy="12858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4BD662-1943-49D9-9821-0A17B3A22369}"/>
              </a:ext>
            </a:extLst>
          </p:cNvPr>
          <p:cNvSpPr>
            <a:spLocks noGrp="1"/>
          </p:cNvSpPr>
          <p:nvPr/>
        </p:nvSpPr>
        <p:spPr>
          <a:xfrm>
            <a:off x="9208267" y="4929760"/>
            <a:ext cx="7810500" cy="12858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55BE46-C4BF-4224-92D3-8350BD8D1FA0}"/>
              </a:ext>
            </a:extLst>
          </p:cNvPr>
          <p:cNvSpPr>
            <a:spLocks noGrp="1"/>
          </p:cNvSpPr>
          <p:nvPr/>
        </p:nvSpPr>
        <p:spPr>
          <a:xfrm>
            <a:off x="9477374" y="2914650"/>
            <a:ext cx="32861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Opportunity assessment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8244C2-7A90-45DE-A56A-6D33BCD236B6}"/>
              </a:ext>
            </a:extLst>
          </p:cNvPr>
          <p:cNvSpPr>
            <a:spLocks noGrp="1"/>
          </p:cNvSpPr>
          <p:nvPr/>
        </p:nvSpPr>
        <p:spPr>
          <a:xfrm>
            <a:off x="13430250" y="3248725"/>
            <a:ext cx="3286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Use-case prioritization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E34AA6-EF88-4DED-8BBB-63D37D92A832}"/>
              </a:ext>
            </a:extLst>
          </p:cNvPr>
          <p:cNvSpPr>
            <a:spLocks noGrp="1"/>
          </p:cNvSpPr>
          <p:nvPr/>
        </p:nvSpPr>
        <p:spPr>
          <a:xfrm>
            <a:off x="9496625" y="4109936"/>
            <a:ext cx="2679332" cy="7429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Business process analysis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4ECBA9-B25C-4858-B090-27F708ED58B6}"/>
              </a:ext>
            </a:extLst>
          </p:cNvPr>
          <p:cNvSpPr>
            <a:spLocks noGrp="1"/>
          </p:cNvSpPr>
          <p:nvPr/>
        </p:nvSpPr>
        <p:spPr>
          <a:xfrm>
            <a:off x="13449500" y="4490134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roadmaps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1B41C5-3C6D-4D07-A7CA-872DFEE07ECB}"/>
              </a:ext>
            </a:extLst>
          </p:cNvPr>
          <p:cNvSpPr>
            <a:spLocks noGrp="1"/>
          </p:cNvSpPr>
          <p:nvPr/>
        </p:nvSpPr>
        <p:spPr>
          <a:xfrm>
            <a:off x="9477374" y="5429250"/>
            <a:ext cx="704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Operating model</a:t>
            </a:r>
          </a:p>
          <a:p>
            <a:pPr algn="l">
              <a:buNone/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considerations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094309-77AD-417E-AE07-E829F14AD5FF}"/>
              </a:ext>
            </a:extLst>
          </p:cNvPr>
          <p:cNvSpPr>
            <a:spLocks noGrp="1"/>
          </p:cNvSpPr>
          <p:nvPr/>
        </p:nvSpPr>
        <p:spPr>
          <a:xfrm>
            <a:off x="9191625" y="7658100"/>
            <a:ext cx="781050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315E97-776A-4F19-B67B-0DAE5CFF014E}"/>
              </a:ext>
            </a:extLst>
          </p:cNvPr>
          <p:cNvSpPr>
            <a:spLocks noGrp="1"/>
          </p:cNvSpPr>
          <p:nvPr/>
        </p:nvSpPr>
        <p:spPr>
          <a:xfrm>
            <a:off x="9191625" y="7848600"/>
            <a:ext cx="7810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240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lang="en-US" sz="2400" b="1" dirty="0">
                <a:solidFill>
                  <a:srgbClr val="5A6473"/>
                </a:solidFill>
                <a:latin typeface="Arial"/>
                <a:ea typeface="Arial"/>
                <a:cs typeface="Arial"/>
              </a:rPr>
              <a:t>Understanding helps leaders connect</a:t>
            </a:r>
          </a:p>
          <a:p>
            <a:pPr>
              <a:defRPr sz="240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lang="en-US" sz="2400" b="1" dirty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opportunity, ownership, and value.</a:t>
            </a:r>
            <a:endParaRPr sz="2400" b="1" dirty="0">
              <a:solidFill>
                <a:srgbClr val="5A647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30704B5-B8AC-48E7-BBB1-AADDCC9AA8F8}"/>
              </a:ext>
            </a:extLst>
          </p:cNvPr>
          <p:cNvSpPr>
            <a:spLocks noGrp="1"/>
          </p:cNvSpPr>
          <p:nvPr/>
        </p:nvSpPr>
        <p:spPr>
          <a:xfrm>
            <a:off x="1238250" y="9458325"/>
            <a:ext cx="15478125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596303-288F-4511-90A7-33C3293C308B}"/>
              </a:ext>
            </a:extLst>
          </p:cNvPr>
          <p:cNvSpPr>
            <a:spLocks noGrp="1"/>
          </p:cNvSpPr>
          <p:nvPr/>
        </p:nvSpPr>
        <p:spPr>
          <a:xfrm>
            <a:off x="1238250" y="9591675"/>
            <a:ext cx="1200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</a:t>
            </a:r>
            <a:r>
              <a:rPr lang="en-US" sz="1125" dirty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Preserving understanding as execution changes</a:t>
            </a:r>
            <a:endParaRPr sz="1125" b="0" dirty="0">
              <a:solidFill>
                <a:srgbClr val="3D58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pager-pill">
            <a:extLst>
              <a:ext uri="{FF2B5EF4-FFF2-40B4-BE49-F238E27FC236}">
                <a16:creationId xmlns:a16="http://schemas.microsoft.com/office/drawing/2014/main" id="{5AB45B0E-B408-48C0-99A9-4F6F927C6DDC}"/>
              </a:ext>
            </a:extLst>
          </p:cNvPr>
          <p:cNvSpPr>
            <a:spLocks noGrp="1"/>
          </p:cNvSpPr>
          <p:nvPr/>
        </p:nvSpPr>
        <p:spPr>
          <a:xfrm>
            <a:off x="16935450" y="9525000"/>
            <a:ext cx="13906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8A78466-58C6-4D50-8E94-C8B1C28A8045}"/>
              </a:ext>
            </a:extLst>
          </p:cNvPr>
          <p:cNvSpPr>
            <a:spLocks noGrp="1"/>
          </p:cNvSpPr>
          <p:nvPr/>
        </p:nvSpPr>
        <p:spPr>
          <a:xfrm>
            <a:off x="1706880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1E7E02F-DFBC-4A4B-A8BF-7A55FFB90CD1}"/>
              </a:ext>
            </a:extLst>
          </p:cNvPr>
          <p:cNvSpPr>
            <a:spLocks noGrp="1"/>
          </p:cNvSpPr>
          <p:nvPr/>
        </p:nvSpPr>
        <p:spPr>
          <a:xfrm>
            <a:off x="1781175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053723-0954-4087-A255-9E1F113D221D}"/>
              </a:ext>
            </a:extLst>
          </p:cNvPr>
          <p:cNvSpPr>
            <a:spLocks noGrp="1"/>
          </p:cNvSpPr>
          <p:nvPr/>
        </p:nvSpPr>
        <p:spPr>
          <a:xfrm>
            <a:off x="17097375" y="9648825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17E5D9-5F2B-403E-B5E1-4FBFB74A2054}"/>
              </a:ext>
            </a:extLst>
          </p:cNvPr>
          <p:cNvSpPr>
            <a:spLocks noGrp="1"/>
          </p:cNvSpPr>
          <p:nvPr/>
        </p:nvSpPr>
        <p:spPr>
          <a:xfrm>
            <a:off x="17440275" y="96583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1C50D0-C2A6-4363-B9CD-E454348E9112}"/>
              </a:ext>
            </a:extLst>
          </p:cNvPr>
          <p:cNvSpPr>
            <a:spLocks noGrp="1"/>
          </p:cNvSpPr>
          <p:nvPr/>
        </p:nvSpPr>
        <p:spPr>
          <a:xfrm>
            <a:off x="17887950" y="96488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971079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2520E2-BA04-4277-9DCE-638D19DB2CCF}"/>
              </a:ext>
            </a:extLst>
          </p:cNvPr>
          <p:cNvSpPr>
            <a:spLocks noGrp="1"/>
          </p:cNvSpPr>
          <p:nvPr/>
        </p:nvSpPr>
        <p:spPr>
          <a:xfrm>
            <a:off x="1524000" y="41910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324361"/>
            <a:ext cx="609600" cy="60857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809F8D3-7D26-49B5-8622-3A874F6C09D9}"/>
              </a:ext>
            </a:extLst>
          </p:cNvPr>
          <p:cNvSpPr>
            <a:spLocks noGrp="1"/>
          </p:cNvSpPr>
          <p:nvPr/>
        </p:nvSpPr>
        <p:spPr>
          <a:xfrm>
            <a:off x="13525500" y="5143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TRUST &amp; OVERSIGHT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D689FB-6AF4-4B97-9DCD-992BF431D22D}"/>
              </a:ext>
            </a:extLst>
          </p:cNvPr>
          <p:cNvSpPr>
            <a:spLocks noGrp="1"/>
          </p:cNvSpPr>
          <p:nvPr/>
        </p:nvSpPr>
        <p:spPr>
          <a:xfrm>
            <a:off x="1238250" y="971550"/>
            <a:ext cx="157162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0DFA1E-57B7-40B6-B45F-679111DFE818}"/>
              </a:ext>
            </a:extLst>
          </p:cNvPr>
          <p:cNvSpPr>
            <a:spLocks noGrp="1"/>
          </p:cNvSpPr>
          <p:nvPr/>
        </p:nvSpPr>
        <p:spPr>
          <a:xfrm>
            <a:off x="0" y="1047750"/>
            <a:ext cx="8382000" cy="8410575"/>
          </a:xfrm>
          <a:prstGeom prst="rect">
            <a:avLst/>
          </a:prstGeom>
          <a:solidFill>
            <a:srgbClr val="F7F6FB"/>
          </a:solidFill>
          <a:ln w="0">
            <a:solidFill>
              <a:srgbClr val="F7F6F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EFD7D6-B7FF-4442-A236-AF6E842096B5}"/>
              </a:ext>
            </a:extLst>
          </p:cNvPr>
          <p:cNvSpPr>
            <a:spLocks noGrp="1"/>
          </p:cNvSpPr>
          <p:nvPr/>
        </p:nvSpPr>
        <p:spPr>
          <a:xfrm>
            <a:off x="1238250" y="2295525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TRUST THAT CAN BE DEMONSTRATED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8C52AB-A2D6-4B39-9086-DC999C49233D}"/>
              </a:ext>
            </a:extLst>
          </p:cNvPr>
          <p:cNvSpPr>
            <a:spLocks noGrp="1"/>
          </p:cNvSpPr>
          <p:nvPr/>
        </p:nvSpPr>
        <p:spPr>
          <a:xfrm>
            <a:off x="1238250" y="3124200"/>
            <a:ext cx="5422432" cy="163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4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40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Governance,</a:t>
            </a:r>
          </a:p>
          <a:p>
            <a:pPr algn="l">
              <a:buNone/>
              <a:defRPr sz="4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40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Safety &amp; Resilience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FD2F0B-381E-4D4A-804F-2DE4DBF712C9}"/>
              </a:ext>
            </a:extLst>
          </p:cNvPr>
          <p:cNvSpPr>
            <a:spLocks noGrp="1"/>
          </p:cNvSpPr>
          <p:nvPr/>
        </p:nvSpPr>
        <p:spPr>
          <a:xfrm>
            <a:off x="1238250" y="5429250"/>
            <a:ext cx="4762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 WHILE KEEPING</a:t>
            </a:r>
          </a:p>
          <a:p>
            <a:pPr algn="l">
              <a:buNone/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OPERATIONAL AND GOVERNANCE RISK IN VIEW.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3CD0AC-29DC-4100-B158-C624C4247FE8}"/>
              </a:ext>
            </a:extLst>
          </p:cNvPr>
          <p:cNvSpPr>
            <a:spLocks noGrp="1"/>
          </p:cNvSpPr>
          <p:nvPr/>
        </p:nvSpPr>
        <p:spPr>
          <a:xfrm>
            <a:off x="9191625" y="1438275"/>
            <a:ext cx="3857625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6184FD-6792-45FA-AAB3-E73D0541E775}"/>
              </a:ext>
            </a:extLst>
          </p:cNvPr>
          <p:cNvSpPr>
            <a:spLocks noGrp="1"/>
          </p:cNvSpPr>
          <p:nvPr/>
        </p:nvSpPr>
        <p:spPr>
          <a:xfrm>
            <a:off x="9439275" y="1866900"/>
            <a:ext cx="33623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Responsible AI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30C218-12D9-4EEC-ACBC-96E5CCD6E675}"/>
              </a:ext>
            </a:extLst>
          </p:cNvPr>
          <p:cNvSpPr>
            <a:spLocks noGrp="1"/>
          </p:cNvSpPr>
          <p:nvPr/>
        </p:nvSpPr>
        <p:spPr>
          <a:xfrm>
            <a:off x="13049250" y="1438275"/>
            <a:ext cx="3857625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37B3E3-DF88-46E0-9B8D-0375D2B65F3B}"/>
              </a:ext>
            </a:extLst>
          </p:cNvPr>
          <p:cNvSpPr>
            <a:spLocks noGrp="1"/>
          </p:cNvSpPr>
          <p:nvPr/>
        </p:nvSpPr>
        <p:spPr>
          <a:xfrm>
            <a:off x="13296900" y="1866900"/>
            <a:ext cx="33623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9FEBD0-EFD0-4EA4-B08A-A319701D590B}"/>
              </a:ext>
            </a:extLst>
          </p:cNvPr>
          <p:cNvSpPr>
            <a:spLocks noGrp="1"/>
          </p:cNvSpPr>
          <p:nvPr/>
        </p:nvSpPr>
        <p:spPr>
          <a:xfrm>
            <a:off x="9191625" y="2676525"/>
            <a:ext cx="3857625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673817-334B-4774-9964-75C1AC556D79}"/>
              </a:ext>
            </a:extLst>
          </p:cNvPr>
          <p:cNvSpPr>
            <a:spLocks noGrp="1"/>
          </p:cNvSpPr>
          <p:nvPr/>
        </p:nvSpPr>
        <p:spPr>
          <a:xfrm>
            <a:off x="9439275" y="3105150"/>
            <a:ext cx="33623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risk management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A113D9-0CF8-4F3F-B2A2-8EB46116207E}"/>
              </a:ext>
            </a:extLst>
          </p:cNvPr>
          <p:cNvSpPr>
            <a:spLocks noGrp="1"/>
          </p:cNvSpPr>
          <p:nvPr/>
        </p:nvSpPr>
        <p:spPr>
          <a:xfrm>
            <a:off x="13049250" y="2676525"/>
            <a:ext cx="3857625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76DBA7-DE2F-478C-B716-9ED429F972E6}"/>
              </a:ext>
            </a:extLst>
          </p:cNvPr>
          <p:cNvSpPr>
            <a:spLocks noGrp="1"/>
          </p:cNvSpPr>
          <p:nvPr/>
        </p:nvSpPr>
        <p:spPr>
          <a:xfrm>
            <a:off x="13296900" y="3105150"/>
            <a:ext cx="33623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security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668D05-ED13-4A8A-B075-ABD038392EE5}"/>
              </a:ext>
            </a:extLst>
          </p:cNvPr>
          <p:cNvSpPr>
            <a:spLocks noGrp="1"/>
          </p:cNvSpPr>
          <p:nvPr/>
        </p:nvSpPr>
        <p:spPr>
          <a:xfrm>
            <a:off x="9191625" y="3914775"/>
            <a:ext cx="3857625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8D0B47-F78F-4232-905A-998E3E463847}"/>
              </a:ext>
            </a:extLst>
          </p:cNvPr>
          <p:cNvSpPr>
            <a:spLocks noGrp="1"/>
          </p:cNvSpPr>
          <p:nvPr/>
        </p:nvSpPr>
        <p:spPr>
          <a:xfrm>
            <a:off x="9439275" y="4343400"/>
            <a:ext cx="33623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safety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33DDAA-E95F-4B01-9880-9510AF48BE02}"/>
              </a:ext>
            </a:extLst>
          </p:cNvPr>
          <p:cNvSpPr>
            <a:spLocks noGrp="1"/>
          </p:cNvSpPr>
          <p:nvPr/>
        </p:nvSpPr>
        <p:spPr>
          <a:xfrm>
            <a:off x="13049250" y="3914775"/>
            <a:ext cx="3857625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B2AB9B-DCCD-42CF-98A4-6D4655A2BCD7}"/>
              </a:ext>
            </a:extLst>
          </p:cNvPr>
          <p:cNvSpPr>
            <a:spLocks noGrp="1"/>
          </p:cNvSpPr>
          <p:nvPr/>
        </p:nvSpPr>
        <p:spPr>
          <a:xfrm>
            <a:off x="13296900" y="4343400"/>
            <a:ext cx="33623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privacy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0F2C27-5479-4568-AAB6-C87BCF9BDF6A}"/>
              </a:ext>
            </a:extLst>
          </p:cNvPr>
          <p:cNvSpPr>
            <a:spLocks noGrp="1"/>
          </p:cNvSpPr>
          <p:nvPr/>
        </p:nvSpPr>
        <p:spPr>
          <a:xfrm>
            <a:off x="9191625" y="5153025"/>
            <a:ext cx="3857625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2E8F7F-20BA-4282-ABB3-A12EAD204031}"/>
              </a:ext>
            </a:extLst>
          </p:cNvPr>
          <p:cNvSpPr>
            <a:spLocks noGrp="1"/>
          </p:cNvSpPr>
          <p:nvPr/>
        </p:nvSpPr>
        <p:spPr>
          <a:xfrm>
            <a:off x="9439275" y="5581650"/>
            <a:ext cx="33623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assurance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FB881B-7D76-4DDF-BDBD-147CC581157C}"/>
              </a:ext>
            </a:extLst>
          </p:cNvPr>
          <p:cNvSpPr>
            <a:spLocks noGrp="1"/>
          </p:cNvSpPr>
          <p:nvPr/>
        </p:nvSpPr>
        <p:spPr>
          <a:xfrm>
            <a:off x="13049250" y="5153025"/>
            <a:ext cx="3857625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5C6CA41-20ED-4143-82CC-EB98D4A6BC47}"/>
              </a:ext>
            </a:extLst>
          </p:cNvPr>
          <p:cNvSpPr>
            <a:spLocks noGrp="1"/>
          </p:cNvSpPr>
          <p:nvPr/>
        </p:nvSpPr>
        <p:spPr>
          <a:xfrm>
            <a:off x="13296900" y="5581650"/>
            <a:ext cx="33623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Audit readiness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599224A-4DB2-449A-922E-02579047B85F}"/>
              </a:ext>
            </a:extLst>
          </p:cNvPr>
          <p:cNvSpPr>
            <a:spLocks noGrp="1"/>
          </p:cNvSpPr>
          <p:nvPr/>
        </p:nvSpPr>
        <p:spPr>
          <a:xfrm>
            <a:off x="9191625" y="6391275"/>
            <a:ext cx="77152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509D974-729F-465A-8E98-0B3A5E6C5949}"/>
              </a:ext>
            </a:extLst>
          </p:cNvPr>
          <p:cNvSpPr>
            <a:spLocks noGrp="1"/>
          </p:cNvSpPr>
          <p:nvPr/>
        </p:nvSpPr>
        <p:spPr>
          <a:xfrm>
            <a:off x="9525000" y="6734175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Third-party AI exposure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F73A4EA-B625-4D36-BDDB-B19026ED5235}"/>
              </a:ext>
            </a:extLst>
          </p:cNvPr>
          <p:cNvSpPr>
            <a:spLocks noGrp="1"/>
          </p:cNvSpPr>
          <p:nvPr/>
        </p:nvSpPr>
        <p:spPr>
          <a:xfrm>
            <a:off x="9191625" y="7658100"/>
            <a:ext cx="781050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7F095CE-4ACE-4C8B-894D-D86E32C9D9F0}"/>
              </a:ext>
            </a:extLst>
          </p:cNvPr>
          <p:cNvSpPr>
            <a:spLocks noGrp="1"/>
          </p:cNvSpPr>
          <p:nvPr/>
        </p:nvSpPr>
        <p:spPr>
          <a:xfrm>
            <a:off x="9191625" y="7962900"/>
            <a:ext cx="10477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22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lang="en-SG" sz="2250" b="1" dirty="0"/>
              <a:t>Trust that can be explained,</a:t>
            </a:r>
            <a:br>
              <a:rPr lang="en-SG" sz="2250" b="1" dirty="0"/>
            </a:br>
            <a:r>
              <a:rPr lang="en-SG" sz="2250" b="1" dirty="0"/>
              <a:t>reviewed, and defended</a:t>
            </a:r>
            <a:endParaRPr sz="2250" b="1" dirty="0">
              <a:solidFill>
                <a:srgbClr val="5A647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C0DB2D4-06E9-433E-9843-9F20BCCB9B71}"/>
              </a:ext>
            </a:extLst>
          </p:cNvPr>
          <p:cNvSpPr>
            <a:spLocks noGrp="1"/>
          </p:cNvSpPr>
          <p:nvPr/>
        </p:nvSpPr>
        <p:spPr>
          <a:xfrm>
            <a:off x="1238250" y="9458325"/>
            <a:ext cx="15478125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EB7F16-7A3E-4BCA-84ED-D0BC23D8E715}"/>
              </a:ext>
            </a:extLst>
          </p:cNvPr>
          <p:cNvSpPr>
            <a:spLocks noGrp="1"/>
          </p:cNvSpPr>
          <p:nvPr/>
        </p:nvSpPr>
        <p:spPr>
          <a:xfrm>
            <a:off x="1238250" y="9591675"/>
            <a:ext cx="1200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</a:t>
            </a:r>
            <a:r>
              <a:rPr lang="en-US" sz="1125" dirty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Preserving understanding as execution changes</a:t>
            </a:r>
            <a:endParaRPr sz="1125" b="0" dirty="0">
              <a:solidFill>
                <a:srgbClr val="3D58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pager-pill">
            <a:extLst>
              <a:ext uri="{FF2B5EF4-FFF2-40B4-BE49-F238E27FC236}">
                <a16:creationId xmlns:a16="http://schemas.microsoft.com/office/drawing/2014/main" id="{1421B3ED-1049-4572-BAAA-B96E3724F31B}"/>
              </a:ext>
            </a:extLst>
          </p:cNvPr>
          <p:cNvSpPr>
            <a:spLocks noGrp="1"/>
          </p:cNvSpPr>
          <p:nvPr/>
        </p:nvSpPr>
        <p:spPr>
          <a:xfrm>
            <a:off x="16935450" y="9525000"/>
            <a:ext cx="13906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1E167F8-8612-4ECA-A3A6-85D9A3050A4F}"/>
              </a:ext>
            </a:extLst>
          </p:cNvPr>
          <p:cNvSpPr>
            <a:spLocks noGrp="1"/>
          </p:cNvSpPr>
          <p:nvPr/>
        </p:nvSpPr>
        <p:spPr>
          <a:xfrm>
            <a:off x="1706880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0B3D0EE-04D8-4D56-8285-4BF6D4994444}"/>
              </a:ext>
            </a:extLst>
          </p:cNvPr>
          <p:cNvSpPr>
            <a:spLocks noGrp="1"/>
          </p:cNvSpPr>
          <p:nvPr/>
        </p:nvSpPr>
        <p:spPr>
          <a:xfrm>
            <a:off x="1781175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3A6FA0B-22E7-4A7C-8B72-B7D5BEAA3CA3}"/>
              </a:ext>
            </a:extLst>
          </p:cNvPr>
          <p:cNvSpPr>
            <a:spLocks noGrp="1"/>
          </p:cNvSpPr>
          <p:nvPr/>
        </p:nvSpPr>
        <p:spPr>
          <a:xfrm>
            <a:off x="17097375" y="9648825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68D43D1-319E-4A4D-90E7-24BF8A66B230}"/>
              </a:ext>
            </a:extLst>
          </p:cNvPr>
          <p:cNvSpPr>
            <a:spLocks noGrp="1"/>
          </p:cNvSpPr>
          <p:nvPr/>
        </p:nvSpPr>
        <p:spPr>
          <a:xfrm>
            <a:off x="17440275" y="96583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34076EB-30AD-4E03-80C8-CB872907C6E5}"/>
              </a:ext>
            </a:extLst>
          </p:cNvPr>
          <p:cNvSpPr>
            <a:spLocks noGrp="1"/>
          </p:cNvSpPr>
          <p:nvPr/>
        </p:nvSpPr>
        <p:spPr>
          <a:xfrm>
            <a:off x="17887950" y="96488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40895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00A2910-DDE7-4FAC-BD7D-C75F5D571E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D"/>
          </a:solidFill>
          <a:ln w="0">
            <a:solidFill>
              <a:srgbClr val="F8FAF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4C1BF9-6DF3-42DF-B7C9-BA0B8547F768}"/>
              </a:ext>
            </a:extLst>
          </p:cNvPr>
          <p:cNvSpPr>
            <a:spLocks noGrp="1"/>
          </p:cNvSpPr>
          <p:nvPr/>
        </p:nvSpPr>
        <p:spPr>
          <a:xfrm>
            <a:off x="1524000" y="41910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324361"/>
            <a:ext cx="609600" cy="60857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DF85D5A-5811-4CCF-8CA8-33E00258AE55}"/>
              </a:ext>
            </a:extLst>
          </p:cNvPr>
          <p:cNvSpPr>
            <a:spLocks noGrp="1"/>
          </p:cNvSpPr>
          <p:nvPr/>
        </p:nvSpPr>
        <p:spPr>
          <a:xfrm>
            <a:off x="13525500" y="5143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FUTURE OPERATIONS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C76E3A-CF63-4E81-855A-E6782A1E8B25}"/>
              </a:ext>
            </a:extLst>
          </p:cNvPr>
          <p:cNvSpPr>
            <a:spLocks noGrp="1"/>
          </p:cNvSpPr>
          <p:nvPr/>
        </p:nvSpPr>
        <p:spPr>
          <a:xfrm>
            <a:off x="1238250" y="971550"/>
            <a:ext cx="157162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A74F51-CAB3-4071-93DC-59CF4EAC2E83}"/>
              </a:ext>
            </a:extLst>
          </p:cNvPr>
          <p:cNvSpPr>
            <a:spLocks noGrp="1"/>
          </p:cNvSpPr>
          <p:nvPr/>
        </p:nvSpPr>
        <p:spPr>
          <a:xfrm>
            <a:off x="0" y="1047750"/>
            <a:ext cx="8382000" cy="8410575"/>
          </a:xfrm>
          <a:prstGeom prst="rect">
            <a:avLst/>
          </a:prstGeom>
          <a:solidFill>
            <a:srgbClr val="F7F6FB"/>
          </a:solidFill>
          <a:ln w="0">
            <a:solidFill>
              <a:srgbClr val="F7F6F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3AA845-3CC4-42D7-A95E-553D3EFF4885}"/>
              </a:ext>
            </a:extLst>
          </p:cNvPr>
          <p:cNvSpPr>
            <a:spLocks noGrp="1"/>
          </p:cNvSpPr>
          <p:nvPr/>
        </p:nvSpPr>
        <p:spPr>
          <a:xfrm>
            <a:off x="1238250" y="2295525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EXPLAINABLE HUMAN-AI WORK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1507B8-8334-409E-ACA8-A6D6981C61FD}"/>
              </a:ext>
            </a:extLst>
          </p:cNvPr>
          <p:cNvSpPr>
            <a:spLocks noGrp="1"/>
          </p:cNvSpPr>
          <p:nvPr/>
        </p:nvSpPr>
        <p:spPr>
          <a:xfrm>
            <a:off x="1238250" y="3124200"/>
            <a:ext cx="5905500" cy="163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4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40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&amp;</a:t>
            </a:r>
          </a:p>
          <a:p>
            <a:pPr algn="l">
              <a:buNone/>
              <a:defRPr sz="4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40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Intelligent Operations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B75C50-BBAD-4F7F-9C9B-FAAFF74DAC5A}"/>
              </a:ext>
            </a:extLst>
          </p:cNvPr>
          <p:cNvSpPr>
            <a:spLocks noGrp="1"/>
          </p:cNvSpPr>
          <p:nvPr/>
        </p:nvSpPr>
        <p:spPr>
          <a:xfrm>
            <a:off x="1238250" y="5429250"/>
            <a:ext cx="4953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 work stays explainable as execution changes.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B0FB1D-8DF3-4768-8BCA-F83C883C6178}"/>
              </a:ext>
            </a:extLst>
          </p:cNvPr>
          <p:cNvSpPr>
            <a:spLocks noGrp="1"/>
          </p:cNvSpPr>
          <p:nvPr/>
        </p:nvSpPr>
        <p:spPr>
          <a:xfrm>
            <a:off x="9224810" y="2387770"/>
            <a:ext cx="3857625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56BA00-03A0-4D65-B09A-28AE8E03C042}"/>
              </a:ext>
            </a:extLst>
          </p:cNvPr>
          <p:cNvSpPr>
            <a:spLocks noGrp="1"/>
          </p:cNvSpPr>
          <p:nvPr/>
        </p:nvSpPr>
        <p:spPr>
          <a:xfrm>
            <a:off x="9472460" y="2816395"/>
            <a:ext cx="33623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ABD6FE-F32E-4204-BEDE-EC80AB8E1132}"/>
              </a:ext>
            </a:extLst>
          </p:cNvPr>
          <p:cNvSpPr>
            <a:spLocks noGrp="1"/>
          </p:cNvSpPr>
          <p:nvPr/>
        </p:nvSpPr>
        <p:spPr>
          <a:xfrm>
            <a:off x="13082435" y="2387770"/>
            <a:ext cx="3857625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1BE7E7-1FAB-4C82-A161-2B920FFEC1CB}"/>
              </a:ext>
            </a:extLst>
          </p:cNvPr>
          <p:cNvSpPr>
            <a:spLocks noGrp="1"/>
          </p:cNvSpPr>
          <p:nvPr/>
        </p:nvSpPr>
        <p:spPr>
          <a:xfrm>
            <a:off x="13330085" y="2816395"/>
            <a:ext cx="33623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 collaboration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11F6B9-BE80-463C-90A8-78CFFA29714A}"/>
              </a:ext>
            </a:extLst>
          </p:cNvPr>
          <p:cNvSpPr>
            <a:spLocks noGrp="1"/>
          </p:cNvSpPr>
          <p:nvPr/>
        </p:nvSpPr>
        <p:spPr>
          <a:xfrm>
            <a:off x="9224810" y="3626020"/>
            <a:ext cx="3857625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6F4724-7759-4347-8DE8-F53D5F9A27D9}"/>
              </a:ext>
            </a:extLst>
          </p:cNvPr>
          <p:cNvSpPr>
            <a:spLocks noGrp="1"/>
          </p:cNvSpPr>
          <p:nvPr/>
        </p:nvSpPr>
        <p:spPr>
          <a:xfrm>
            <a:off x="9472460" y="4054645"/>
            <a:ext cx="33623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Knowledge-</a:t>
            </a:r>
          </a:p>
          <a:p>
            <a:pPr algn="l">
              <a:buNone/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connected workflows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5B5E7D-2CF4-4FC8-8CE9-2E8B5F3A7BFF}"/>
              </a:ext>
            </a:extLst>
          </p:cNvPr>
          <p:cNvSpPr>
            <a:spLocks noGrp="1"/>
          </p:cNvSpPr>
          <p:nvPr/>
        </p:nvSpPr>
        <p:spPr>
          <a:xfrm>
            <a:off x="13082435" y="3626020"/>
            <a:ext cx="3857625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859F44-80FE-43E2-94D7-91D8A35948DE}"/>
              </a:ext>
            </a:extLst>
          </p:cNvPr>
          <p:cNvSpPr>
            <a:spLocks noGrp="1"/>
          </p:cNvSpPr>
          <p:nvPr/>
        </p:nvSpPr>
        <p:spPr>
          <a:xfrm>
            <a:off x="13330085" y="4054645"/>
            <a:ext cx="33623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F34EED-D138-433C-90CD-317AAB8E5F4C}"/>
              </a:ext>
            </a:extLst>
          </p:cNvPr>
          <p:cNvSpPr>
            <a:spLocks noGrp="1"/>
          </p:cNvSpPr>
          <p:nvPr/>
        </p:nvSpPr>
        <p:spPr>
          <a:xfrm>
            <a:off x="9230625" y="4864271"/>
            <a:ext cx="7709435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24E1D5-7ECF-44AB-AA9F-D18E233F7291}"/>
              </a:ext>
            </a:extLst>
          </p:cNvPr>
          <p:cNvSpPr>
            <a:spLocks noGrp="1"/>
          </p:cNvSpPr>
          <p:nvPr/>
        </p:nvSpPr>
        <p:spPr>
          <a:xfrm>
            <a:off x="9472460" y="5292895"/>
            <a:ext cx="73152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Governed output generation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410855-EE61-4B7A-9582-E643DF7D3EAB}"/>
              </a:ext>
            </a:extLst>
          </p:cNvPr>
          <p:cNvSpPr>
            <a:spLocks noGrp="1"/>
          </p:cNvSpPr>
          <p:nvPr/>
        </p:nvSpPr>
        <p:spPr>
          <a:xfrm>
            <a:off x="9278250" y="7658100"/>
            <a:ext cx="781050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F932DD-8AE8-44D9-A66F-BEF8F7D62AFE}"/>
              </a:ext>
            </a:extLst>
          </p:cNvPr>
          <p:cNvSpPr>
            <a:spLocks noGrp="1"/>
          </p:cNvSpPr>
          <p:nvPr/>
        </p:nvSpPr>
        <p:spPr>
          <a:xfrm>
            <a:off x="9191625" y="7962900"/>
            <a:ext cx="8763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0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Accountability stays visible as human-AI work changes.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266CD4-7BAA-4908-8DD2-4D3B1EC0291A}"/>
              </a:ext>
            </a:extLst>
          </p:cNvPr>
          <p:cNvSpPr>
            <a:spLocks noGrp="1"/>
          </p:cNvSpPr>
          <p:nvPr/>
        </p:nvSpPr>
        <p:spPr>
          <a:xfrm>
            <a:off x="1238250" y="9458325"/>
            <a:ext cx="15478125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3E961B7-98F2-4B7E-99E4-EBB2AD63C4B5}"/>
              </a:ext>
            </a:extLst>
          </p:cNvPr>
          <p:cNvSpPr>
            <a:spLocks noGrp="1"/>
          </p:cNvSpPr>
          <p:nvPr/>
        </p:nvSpPr>
        <p:spPr>
          <a:xfrm>
            <a:off x="1238250" y="9591675"/>
            <a:ext cx="1200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</a:t>
            </a:r>
            <a:r>
              <a:rPr lang="en-US" sz="1125" dirty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Preserving understanding as execution changes</a:t>
            </a:r>
            <a:endParaRPr sz="1125" b="0" dirty="0">
              <a:solidFill>
                <a:srgbClr val="3D58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pager-pill">
            <a:extLst>
              <a:ext uri="{FF2B5EF4-FFF2-40B4-BE49-F238E27FC236}">
                <a16:creationId xmlns:a16="http://schemas.microsoft.com/office/drawing/2014/main" id="{0882C6C5-1B8B-4AA8-85FE-BF2F1A276911}"/>
              </a:ext>
            </a:extLst>
          </p:cNvPr>
          <p:cNvSpPr>
            <a:spLocks noGrp="1"/>
          </p:cNvSpPr>
          <p:nvPr/>
        </p:nvSpPr>
        <p:spPr>
          <a:xfrm>
            <a:off x="16935450" y="9525000"/>
            <a:ext cx="13906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3BD24D2-A9D1-4A79-9F54-696AA21094D8}"/>
              </a:ext>
            </a:extLst>
          </p:cNvPr>
          <p:cNvSpPr>
            <a:spLocks noGrp="1"/>
          </p:cNvSpPr>
          <p:nvPr/>
        </p:nvSpPr>
        <p:spPr>
          <a:xfrm>
            <a:off x="1706880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44E56CB-03F6-4028-A22A-E48D07106A70}"/>
              </a:ext>
            </a:extLst>
          </p:cNvPr>
          <p:cNvSpPr>
            <a:spLocks noGrp="1"/>
          </p:cNvSpPr>
          <p:nvPr/>
        </p:nvSpPr>
        <p:spPr>
          <a:xfrm>
            <a:off x="1781175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CCBA765-8C1A-426D-BC0E-DA74E8236A28}"/>
              </a:ext>
            </a:extLst>
          </p:cNvPr>
          <p:cNvSpPr>
            <a:spLocks noGrp="1"/>
          </p:cNvSpPr>
          <p:nvPr/>
        </p:nvSpPr>
        <p:spPr>
          <a:xfrm>
            <a:off x="17097375" y="9648825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531BBC8-7D69-4CB1-B7AF-FF9893DFDFDE}"/>
              </a:ext>
            </a:extLst>
          </p:cNvPr>
          <p:cNvSpPr>
            <a:spLocks noGrp="1"/>
          </p:cNvSpPr>
          <p:nvPr/>
        </p:nvSpPr>
        <p:spPr>
          <a:xfrm>
            <a:off x="17440275" y="96583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5670CCF-8E25-4C26-9C9E-9772DD53A353}"/>
              </a:ext>
            </a:extLst>
          </p:cNvPr>
          <p:cNvSpPr>
            <a:spLocks noGrp="1"/>
          </p:cNvSpPr>
          <p:nvPr/>
        </p:nvSpPr>
        <p:spPr>
          <a:xfrm>
            <a:off x="17887950" y="96488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657764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8C3D7CE-2CFB-4030-BD50-12A333AC98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D"/>
          </a:solidFill>
          <a:ln w="0">
            <a:solidFill>
              <a:srgbClr val="F8FAF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AA7DF6-4B88-42A3-9E03-8F797D373B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668000" cy="10287000"/>
          </a:xfrm>
          <a:prstGeom prst="rect">
            <a:avLst/>
          </a:prstGeom>
          <a:solidFill>
            <a:srgbClr val="F7F0F8"/>
          </a:solidFill>
          <a:ln w="0">
            <a:solidFill>
              <a:srgbClr val="F7F0F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A204F7-2CC0-4889-BDD9-18758C0A9A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D"/>
          </a:solidFill>
          <a:ln w="0">
            <a:solidFill>
              <a:srgbClr val="F8FAF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E5D48E-A9E3-4533-AD84-920AA57C6395}"/>
              </a:ext>
            </a:extLst>
          </p:cNvPr>
          <p:cNvSpPr>
            <a:spLocks noGrp="1"/>
          </p:cNvSpPr>
          <p:nvPr/>
        </p:nvSpPr>
        <p:spPr>
          <a:xfrm>
            <a:off x="1524000" y="41910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324361"/>
            <a:ext cx="609600" cy="60857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365C02D-C350-4B88-BCD1-594E93AC2495}"/>
              </a:ext>
            </a:extLst>
          </p:cNvPr>
          <p:cNvSpPr>
            <a:spLocks noGrp="1"/>
          </p:cNvSpPr>
          <p:nvPr/>
        </p:nvSpPr>
        <p:spPr>
          <a:xfrm>
            <a:off x="13525500" y="5143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CCB6DF-32E5-4562-99B7-EE74645A0CD0}"/>
              </a:ext>
            </a:extLst>
          </p:cNvPr>
          <p:cNvSpPr>
            <a:spLocks noGrp="1"/>
          </p:cNvSpPr>
          <p:nvPr/>
        </p:nvSpPr>
        <p:spPr>
          <a:xfrm>
            <a:off x="1238250" y="971550"/>
            <a:ext cx="157162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FA6563-6BEF-4CEE-93D4-CA39B964D56C}"/>
              </a:ext>
            </a:extLst>
          </p:cNvPr>
          <p:cNvSpPr>
            <a:spLocks noGrp="1"/>
          </p:cNvSpPr>
          <p:nvPr/>
        </p:nvSpPr>
        <p:spPr>
          <a:xfrm>
            <a:off x="1238250" y="2200275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UNDERSTANDING MATTERS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78F2AE-295A-499B-BFE8-76FD7DF6B8CD}"/>
              </a:ext>
            </a:extLst>
          </p:cNvPr>
          <p:cNvSpPr>
            <a:spLocks noGrp="1"/>
          </p:cNvSpPr>
          <p:nvPr/>
        </p:nvSpPr>
        <p:spPr>
          <a:xfrm>
            <a:off x="1238249" y="2724150"/>
            <a:ext cx="10167687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4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lang="en-SG" sz="4350" b="1" dirty="0"/>
              <a:t>Organizations do not lose confidence</a:t>
            </a:r>
            <a:br>
              <a:rPr lang="en-SG" sz="4350" b="1" dirty="0"/>
            </a:br>
            <a:r>
              <a:rPr lang="en-SG" sz="4350" b="1" dirty="0"/>
              <a:t>because execution changes.</a:t>
            </a:r>
            <a:endParaRPr sz="4400" b="1" dirty="0">
              <a:solidFill>
                <a:srgbClr val="0E14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D688CB-F385-4F36-98AB-A4DDFD864713}"/>
              </a:ext>
            </a:extLst>
          </p:cNvPr>
          <p:cNvSpPr>
            <a:spLocks noGrp="1"/>
          </p:cNvSpPr>
          <p:nvPr/>
        </p:nvSpPr>
        <p:spPr>
          <a:xfrm>
            <a:off x="1238250" y="7658100"/>
            <a:ext cx="1047750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8F1B1F-7650-4E65-B60E-5326F73C7B90}"/>
              </a:ext>
            </a:extLst>
          </p:cNvPr>
          <p:cNvSpPr>
            <a:spLocks noGrp="1"/>
          </p:cNvSpPr>
          <p:nvPr/>
        </p:nvSpPr>
        <p:spPr>
          <a:xfrm>
            <a:off x="1238250" y="7962900"/>
            <a:ext cx="1047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lang="en-SG" sz="2550" b="1" dirty="0"/>
              <a:t>Confidence depends on preserving understanding.</a:t>
            </a:r>
            <a:endParaRPr sz="2550" b="1" dirty="0">
              <a:solidFill>
                <a:srgbClr val="5A647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2715875" y="2243088"/>
            <a:ext cx="5619750" cy="561032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6313B34-AFF2-4B0F-AA27-544784B37AE4}"/>
              </a:ext>
            </a:extLst>
          </p:cNvPr>
          <p:cNvSpPr>
            <a:spLocks noGrp="1"/>
          </p:cNvSpPr>
          <p:nvPr/>
        </p:nvSpPr>
        <p:spPr>
          <a:xfrm>
            <a:off x="1238250" y="9458325"/>
            <a:ext cx="15478125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34A81C-E67A-4B4D-A8A7-9223A69D18E7}"/>
              </a:ext>
            </a:extLst>
          </p:cNvPr>
          <p:cNvSpPr>
            <a:spLocks noGrp="1"/>
          </p:cNvSpPr>
          <p:nvPr/>
        </p:nvSpPr>
        <p:spPr>
          <a:xfrm>
            <a:off x="1238250" y="9591675"/>
            <a:ext cx="1200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</a:t>
            </a:r>
            <a:r>
              <a:rPr lang="en-US" sz="1125" dirty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Preserving understanding as execution changes</a:t>
            </a:r>
            <a:endParaRPr sz="1125" b="0" dirty="0">
              <a:solidFill>
                <a:srgbClr val="3D58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pager-pill">
            <a:extLst>
              <a:ext uri="{FF2B5EF4-FFF2-40B4-BE49-F238E27FC236}">
                <a16:creationId xmlns:a16="http://schemas.microsoft.com/office/drawing/2014/main" id="{6B37CFCB-2003-4103-944F-FD45A85DE869}"/>
              </a:ext>
            </a:extLst>
          </p:cNvPr>
          <p:cNvSpPr>
            <a:spLocks noGrp="1"/>
          </p:cNvSpPr>
          <p:nvPr/>
        </p:nvSpPr>
        <p:spPr>
          <a:xfrm>
            <a:off x="16935450" y="9525000"/>
            <a:ext cx="13906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77E0CC9-5045-4156-89D6-140A75C3676C}"/>
              </a:ext>
            </a:extLst>
          </p:cNvPr>
          <p:cNvSpPr>
            <a:spLocks noGrp="1"/>
          </p:cNvSpPr>
          <p:nvPr/>
        </p:nvSpPr>
        <p:spPr>
          <a:xfrm>
            <a:off x="1706880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FAA260A-AC9A-47A1-9EE0-D2CAD39FFDBF}"/>
              </a:ext>
            </a:extLst>
          </p:cNvPr>
          <p:cNvSpPr>
            <a:spLocks noGrp="1"/>
          </p:cNvSpPr>
          <p:nvPr/>
        </p:nvSpPr>
        <p:spPr>
          <a:xfrm>
            <a:off x="1781175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A0119D-692F-4545-8636-69CAA2C8603B}"/>
              </a:ext>
            </a:extLst>
          </p:cNvPr>
          <p:cNvSpPr>
            <a:spLocks noGrp="1"/>
          </p:cNvSpPr>
          <p:nvPr/>
        </p:nvSpPr>
        <p:spPr>
          <a:xfrm>
            <a:off x="17097375" y="9648825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2BF4F3-89D3-412F-A4DE-BCA3261ED204}"/>
              </a:ext>
            </a:extLst>
          </p:cNvPr>
          <p:cNvSpPr>
            <a:spLocks noGrp="1"/>
          </p:cNvSpPr>
          <p:nvPr/>
        </p:nvSpPr>
        <p:spPr>
          <a:xfrm>
            <a:off x="17440275" y="96583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7FDD3C-3BEF-47B3-A6DC-0AFAB12B972A}"/>
              </a:ext>
            </a:extLst>
          </p:cNvPr>
          <p:cNvSpPr>
            <a:spLocks noGrp="1"/>
          </p:cNvSpPr>
          <p:nvPr/>
        </p:nvSpPr>
        <p:spPr>
          <a:xfrm>
            <a:off x="17887950" y="96488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D53C6DC-3076-32DC-EBFA-CDAECD464197}"/>
              </a:ext>
            </a:extLst>
          </p:cNvPr>
          <p:cNvSpPr>
            <a:spLocks noGrp="1"/>
          </p:cNvSpPr>
          <p:nvPr/>
        </p:nvSpPr>
        <p:spPr>
          <a:xfrm>
            <a:off x="1238250" y="5557838"/>
            <a:ext cx="9334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22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lang="en-US" sz="2250" b="1" dirty="0"/>
              <a:t>Understanding connects decisions,</a:t>
            </a:r>
          </a:p>
          <a:p>
            <a:pPr>
              <a:defRPr sz="22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lang="en-US" sz="2250" b="1" dirty="0"/>
              <a:t>evidence, ownership, and outcomes.</a:t>
            </a:r>
          </a:p>
          <a:p>
            <a:pPr>
              <a:defRPr sz="22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endParaRPr lang="en-US" sz="2250" b="1" dirty="0"/>
          </a:p>
          <a:p>
            <a:pPr>
              <a:defRPr sz="22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lang="en-US" sz="2250" b="1" dirty="0"/>
              <a:t>It preserves the context that explains</a:t>
            </a:r>
          </a:p>
          <a:p>
            <a:pPr>
              <a:defRPr sz="22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lang="en-US" sz="2250" b="1" dirty="0"/>
              <a:t>why decisions were made and why they mattered.</a:t>
            </a:r>
            <a:endParaRPr sz="2250" b="1" dirty="0">
              <a:solidFill>
                <a:srgbClr val="5A647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D3974D-2381-47B3-85AB-9B483F264D6D}"/>
              </a:ext>
            </a:extLst>
          </p:cNvPr>
          <p:cNvSpPr>
            <a:spLocks noGrp="1"/>
          </p:cNvSpPr>
          <p:nvPr/>
        </p:nvSpPr>
        <p:spPr>
          <a:xfrm>
            <a:off x="1238250" y="4514850"/>
            <a:ext cx="9334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22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lang="en-SG" sz="2250" b="1" dirty="0"/>
              <a:t>Organizations lose confidence when understanding is lost.</a:t>
            </a:r>
            <a:endParaRPr sz="2250" b="1" dirty="0">
              <a:solidFill>
                <a:srgbClr val="5A647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7127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C5129E9-7197-41AB-B049-8E76CD7960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D"/>
          </a:solidFill>
          <a:ln w="0">
            <a:solidFill>
              <a:srgbClr val="F8FAF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876B57-A49B-4653-9AAB-29A5130890A3}"/>
              </a:ext>
            </a:extLst>
          </p:cNvPr>
          <p:cNvSpPr>
            <a:spLocks noGrp="1"/>
          </p:cNvSpPr>
          <p:nvPr/>
        </p:nvSpPr>
        <p:spPr>
          <a:xfrm>
            <a:off x="1524000" y="41910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324361"/>
            <a:ext cx="609600" cy="60857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6E0EE09-1372-45B3-9F9E-71A0DF454EFB}"/>
              </a:ext>
            </a:extLst>
          </p:cNvPr>
          <p:cNvSpPr>
            <a:spLocks noGrp="1"/>
          </p:cNvSpPr>
          <p:nvPr/>
        </p:nvSpPr>
        <p:spPr>
          <a:xfrm>
            <a:off x="13525500" y="5143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CAPABILITIES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7C10B0-9272-4CB1-B282-68611AB0B997}"/>
              </a:ext>
            </a:extLst>
          </p:cNvPr>
          <p:cNvSpPr>
            <a:spLocks noGrp="1"/>
          </p:cNvSpPr>
          <p:nvPr/>
        </p:nvSpPr>
        <p:spPr>
          <a:xfrm>
            <a:off x="1238250" y="971550"/>
            <a:ext cx="157162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A90F8E-B0BB-44BB-B4D6-9F8A7ED4111C}"/>
              </a:ext>
            </a:extLst>
          </p:cNvPr>
          <p:cNvSpPr>
            <a:spLocks noGrp="1"/>
          </p:cNvSpPr>
          <p:nvPr/>
        </p:nvSpPr>
        <p:spPr>
          <a:xfrm>
            <a:off x="1238250" y="14287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CAPABILITIES THAT PRESERVE UNDERSTANDING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DAA45A-7940-4323-8E4B-3E6F30A70439}"/>
              </a:ext>
            </a:extLst>
          </p:cNvPr>
          <p:cNvSpPr>
            <a:spLocks noGrp="1"/>
          </p:cNvSpPr>
          <p:nvPr/>
        </p:nvSpPr>
        <p:spPr>
          <a:xfrm>
            <a:off x="1238250" y="1676400"/>
            <a:ext cx="1028700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40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Four capabilities help</a:t>
            </a:r>
          </a:p>
          <a:p>
            <a:pPr algn="l">
              <a:buNone/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40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preserve</a:t>
            </a:r>
          </a:p>
          <a:p>
            <a:pPr algn="l">
              <a:buNone/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400" b="1" dirty="0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as execution changes.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7B3155-6946-429E-8891-A196D9945F7A}"/>
              </a:ext>
            </a:extLst>
          </p:cNvPr>
          <p:cNvSpPr>
            <a:spLocks noGrp="1"/>
          </p:cNvSpPr>
          <p:nvPr/>
        </p:nvSpPr>
        <p:spPr>
          <a:xfrm>
            <a:off x="1238250" y="5048250"/>
            <a:ext cx="3952875" cy="2762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C762A0-4D87-49D1-8DFF-C4193AD14E17}"/>
              </a:ext>
            </a:extLst>
          </p:cNvPr>
          <p:cNvSpPr>
            <a:spLocks noGrp="1"/>
          </p:cNvSpPr>
          <p:nvPr/>
        </p:nvSpPr>
        <p:spPr>
          <a:xfrm>
            <a:off x="1485900" y="5772150"/>
            <a:ext cx="345757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Decision Traceability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4B886E-6263-4353-8583-B9EFA44F01E6}"/>
              </a:ext>
            </a:extLst>
          </p:cNvPr>
          <p:cNvSpPr>
            <a:spLocks noGrp="1"/>
          </p:cNvSpPr>
          <p:nvPr/>
        </p:nvSpPr>
        <p:spPr>
          <a:xfrm>
            <a:off x="1485900" y="7000875"/>
            <a:ext cx="34575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Decision rationale remains visible.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DB88C8-0AB3-4821-813A-DFF55E3E2990}"/>
              </a:ext>
            </a:extLst>
          </p:cNvPr>
          <p:cNvSpPr>
            <a:spLocks noGrp="1"/>
          </p:cNvSpPr>
          <p:nvPr/>
        </p:nvSpPr>
        <p:spPr>
          <a:xfrm>
            <a:off x="5191125" y="5048250"/>
            <a:ext cx="3952875" cy="2762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ED9820-49DF-4B77-9E75-D05B08B3B0DE}"/>
              </a:ext>
            </a:extLst>
          </p:cNvPr>
          <p:cNvSpPr>
            <a:spLocks noGrp="1"/>
          </p:cNvSpPr>
          <p:nvPr/>
        </p:nvSpPr>
        <p:spPr>
          <a:xfrm>
            <a:off x="5438775" y="5772150"/>
            <a:ext cx="345757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Organizational</a:t>
            </a:r>
          </a:p>
          <a:p>
            <a:pPr algn="l">
              <a:buNone/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115175-6D31-4D52-B424-A6FA6513FF49}"/>
              </a:ext>
            </a:extLst>
          </p:cNvPr>
          <p:cNvSpPr>
            <a:spLocks noGrp="1"/>
          </p:cNvSpPr>
          <p:nvPr/>
        </p:nvSpPr>
        <p:spPr>
          <a:xfrm>
            <a:off x="5438775" y="7000875"/>
            <a:ext cx="34575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Operational meaning stays recoverable.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9F48C2-7707-48C6-92E7-95CA1BFB659A}"/>
              </a:ext>
            </a:extLst>
          </p:cNvPr>
          <p:cNvSpPr>
            <a:spLocks noGrp="1"/>
          </p:cNvSpPr>
          <p:nvPr/>
        </p:nvSpPr>
        <p:spPr>
          <a:xfrm>
            <a:off x="9144000" y="5048250"/>
            <a:ext cx="3952875" cy="2762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5883AD-0507-40FA-8D2D-B9FFD20A277C}"/>
              </a:ext>
            </a:extLst>
          </p:cNvPr>
          <p:cNvSpPr>
            <a:spLocks noGrp="1"/>
          </p:cNvSpPr>
          <p:nvPr/>
        </p:nvSpPr>
        <p:spPr>
          <a:xfrm>
            <a:off x="9391650" y="5772150"/>
            <a:ext cx="345757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</a:t>
            </a:r>
          </a:p>
          <a:p>
            <a:pPr algn="l">
              <a:buNone/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2C76B2-710E-4756-80C1-E05064AAB17F}"/>
              </a:ext>
            </a:extLst>
          </p:cNvPr>
          <p:cNvSpPr>
            <a:spLocks noGrp="1"/>
          </p:cNvSpPr>
          <p:nvPr/>
        </p:nvSpPr>
        <p:spPr>
          <a:xfrm>
            <a:off x="9391650" y="7000875"/>
            <a:ext cx="34575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Ownership and escalation stay clear.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8B44D-EC75-405E-83CB-3585A15FAAB4}"/>
              </a:ext>
            </a:extLst>
          </p:cNvPr>
          <p:cNvSpPr>
            <a:spLocks noGrp="1"/>
          </p:cNvSpPr>
          <p:nvPr/>
        </p:nvSpPr>
        <p:spPr>
          <a:xfrm>
            <a:off x="13096875" y="5048250"/>
            <a:ext cx="3952875" cy="2762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02CD80-0E60-4F3A-88BF-66AD84D53A42}"/>
              </a:ext>
            </a:extLst>
          </p:cNvPr>
          <p:cNvSpPr>
            <a:spLocks noGrp="1"/>
          </p:cNvSpPr>
          <p:nvPr/>
        </p:nvSpPr>
        <p:spPr>
          <a:xfrm>
            <a:off x="13344525" y="5772150"/>
            <a:ext cx="345757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Adaptive Execution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F09D77-3C4E-4E90-B6E7-74A1C50561DB}"/>
              </a:ext>
            </a:extLst>
          </p:cNvPr>
          <p:cNvSpPr>
            <a:spLocks noGrp="1"/>
          </p:cNvSpPr>
          <p:nvPr/>
        </p:nvSpPr>
        <p:spPr>
          <a:xfrm>
            <a:off x="13344525" y="7000875"/>
            <a:ext cx="34575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Execution adapts without losing intent.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1795855-DD74-4CD1-B6EB-FFC95280D0E0}"/>
              </a:ext>
            </a:extLst>
          </p:cNvPr>
          <p:cNvSpPr>
            <a:spLocks noGrp="1"/>
          </p:cNvSpPr>
          <p:nvPr/>
        </p:nvSpPr>
        <p:spPr>
          <a:xfrm>
            <a:off x="1238250" y="9458325"/>
            <a:ext cx="15478125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F8699A-FB3A-44AC-A9D8-14ABC9088B81}"/>
              </a:ext>
            </a:extLst>
          </p:cNvPr>
          <p:cNvSpPr>
            <a:spLocks noGrp="1"/>
          </p:cNvSpPr>
          <p:nvPr/>
        </p:nvSpPr>
        <p:spPr>
          <a:xfrm>
            <a:off x="1238250" y="9591675"/>
            <a:ext cx="1200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</a:t>
            </a:r>
            <a:r>
              <a:rPr lang="en-US" sz="1125" dirty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Preserving understanding as execution changes</a:t>
            </a:r>
            <a:endParaRPr sz="1125" b="0" dirty="0">
              <a:solidFill>
                <a:srgbClr val="3D58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pager-pill">
            <a:extLst>
              <a:ext uri="{FF2B5EF4-FFF2-40B4-BE49-F238E27FC236}">
                <a16:creationId xmlns:a16="http://schemas.microsoft.com/office/drawing/2014/main" id="{75270349-C14A-48BF-80AC-86653061887C}"/>
              </a:ext>
            </a:extLst>
          </p:cNvPr>
          <p:cNvSpPr>
            <a:spLocks noGrp="1"/>
          </p:cNvSpPr>
          <p:nvPr/>
        </p:nvSpPr>
        <p:spPr>
          <a:xfrm>
            <a:off x="16935450" y="9525000"/>
            <a:ext cx="13906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2EFF166-1049-4BBD-9785-6C7F6B165E71}"/>
              </a:ext>
            </a:extLst>
          </p:cNvPr>
          <p:cNvSpPr>
            <a:spLocks noGrp="1"/>
          </p:cNvSpPr>
          <p:nvPr/>
        </p:nvSpPr>
        <p:spPr>
          <a:xfrm>
            <a:off x="1706880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F83E857-A0D1-4254-9907-D060B37F1FB3}"/>
              </a:ext>
            </a:extLst>
          </p:cNvPr>
          <p:cNvSpPr>
            <a:spLocks noGrp="1"/>
          </p:cNvSpPr>
          <p:nvPr/>
        </p:nvSpPr>
        <p:spPr>
          <a:xfrm>
            <a:off x="1781175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2E0A17-B938-4B8D-A3F6-75980CC17E0C}"/>
              </a:ext>
            </a:extLst>
          </p:cNvPr>
          <p:cNvSpPr>
            <a:spLocks noGrp="1"/>
          </p:cNvSpPr>
          <p:nvPr/>
        </p:nvSpPr>
        <p:spPr>
          <a:xfrm>
            <a:off x="17097375" y="9648825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F5340A-CF98-4C29-9D63-F43785F298AC}"/>
              </a:ext>
            </a:extLst>
          </p:cNvPr>
          <p:cNvSpPr>
            <a:spLocks noGrp="1"/>
          </p:cNvSpPr>
          <p:nvPr/>
        </p:nvSpPr>
        <p:spPr>
          <a:xfrm>
            <a:off x="17440275" y="96583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C8663FC-395D-4B51-9357-B6789D1F793E}"/>
              </a:ext>
            </a:extLst>
          </p:cNvPr>
          <p:cNvSpPr>
            <a:spLocks noGrp="1"/>
          </p:cNvSpPr>
          <p:nvPr/>
        </p:nvSpPr>
        <p:spPr>
          <a:xfrm>
            <a:off x="17887950" y="96488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101653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C08D018-9A18-4D91-8845-7B6D288C6E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D"/>
          </a:solidFill>
          <a:ln w="0">
            <a:solidFill>
              <a:srgbClr val="F8FAF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3BB69B-B498-4F5E-BA4B-C57E0E9469BE}"/>
              </a:ext>
            </a:extLst>
          </p:cNvPr>
          <p:cNvSpPr>
            <a:spLocks noGrp="1"/>
          </p:cNvSpPr>
          <p:nvPr/>
        </p:nvSpPr>
        <p:spPr>
          <a:xfrm>
            <a:off x="1524000" y="41910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324361"/>
            <a:ext cx="609600" cy="60857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1EE488E-FC10-4989-99E6-5459847007B7}"/>
              </a:ext>
            </a:extLst>
          </p:cNvPr>
          <p:cNvSpPr>
            <a:spLocks noGrp="1"/>
          </p:cNvSpPr>
          <p:nvPr/>
        </p:nvSpPr>
        <p:spPr>
          <a:xfrm>
            <a:off x="13525500" y="5143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MOMENT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F7BBA0-23A0-4E51-BF6A-726B42D21858}"/>
              </a:ext>
            </a:extLst>
          </p:cNvPr>
          <p:cNvSpPr>
            <a:spLocks noGrp="1"/>
          </p:cNvSpPr>
          <p:nvPr/>
        </p:nvSpPr>
        <p:spPr>
          <a:xfrm>
            <a:off x="1238250" y="971550"/>
            <a:ext cx="157162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91D7FC-2983-4A63-BDB0-C7B59A0E9AE1}"/>
              </a:ext>
            </a:extLst>
          </p:cNvPr>
          <p:cNvSpPr>
            <a:spLocks noGrp="1"/>
          </p:cNvSpPr>
          <p:nvPr/>
        </p:nvSpPr>
        <p:spPr>
          <a:xfrm>
            <a:off x="0" y="1047750"/>
            <a:ext cx="6286500" cy="8410575"/>
          </a:xfrm>
          <a:prstGeom prst="rect">
            <a:avLst/>
          </a:prstGeom>
          <a:solidFill>
            <a:srgbClr val="F7F0F8"/>
          </a:solidFill>
          <a:ln w="0">
            <a:solidFill>
              <a:srgbClr val="F7F0F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359E4F-78DE-4AC4-9EEF-D480DE17337E}"/>
              </a:ext>
            </a:extLst>
          </p:cNvPr>
          <p:cNvSpPr>
            <a:spLocks noGrp="1"/>
          </p:cNvSpPr>
          <p:nvPr/>
        </p:nvSpPr>
        <p:spPr>
          <a:xfrm>
            <a:off x="1238250" y="1815261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INTRODUCE SHIFTBY WHEN...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4B6C8C-5410-451E-8FA1-02B9FB35732D}"/>
              </a:ext>
            </a:extLst>
          </p:cNvPr>
          <p:cNvSpPr>
            <a:spLocks noGrp="1"/>
          </p:cNvSpPr>
          <p:nvPr/>
        </p:nvSpPr>
        <p:spPr>
          <a:xfrm>
            <a:off x="1238250" y="2377236"/>
            <a:ext cx="49530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lang="en-SG" sz="4950" b="1" dirty="0"/>
              <a:t>The right conversation</a:t>
            </a:r>
            <a:br>
              <a:rPr lang="en-SG" sz="4950" b="1" dirty="0"/>
            </a:br>
            <a:r>
              <a:rPr lang="en-SG" sz="4950" b="1" dirty="0"/>
              <a:t>often starts before</a:t>
            </a:r>
            <a:br>
              <a:rPr lang="en-SG" sz="4950" b="1" dirty="0"/>
            </a:br>
            <a:r>
              <a:rPr lang="en-SG" sz="4950" b="1" dirty="0"/>
              <a:t>understanding is lost.</a:t>
            </a:r>
            <a:endParaRPr sz="4950" b="1" dirty="0">
              <a:solidFill>
                <a:srgbClr val="0E14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1E402A-5D88-4365-835F-21718516A435}"/>
              </a:ext>
            </a:extLst>
          </p:cNvPr>
          <p:cNvSpPr>
            <a:spLocks noGrp="1"/>
          </p:cNvSpPr>
          <p:nvPr/>
        </p:nvSpPr>
        <p:spPr>
          <a:xfrm>
            <a:off x="1285875" y="7225461"/>
            <a:ext cx="47625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 referral works once the</a:t>
            </a:r>
          </a:p>
          <a:p>
            <a:pPr algn="l">
              <a:buNone/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signal is visible.</a:t>
            </a:r>
            <a:br>
              <a:rPr lang="en-SG" sz="2100" b="0" dirty="0">
                <a:solidFill>
                  <a:srgbClr val="5A6473"/>
                </a:solidFill>
                <a:latin typeface="Arial"/>
                <a:ea typeface="Arial"/>
                <a:cs typeface="Arial"/>
              </a:rPr>
            </a:br>
            <a:endParaRPr sz="2100" b="0" dirty="0">
              <a:solidFill>
                <a:srgbClr val="5A6473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moment matters.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20C1AA-2636-48A1-A43E-18ABE115B25E}"/>
              </a:ext>
            </a:extLst>
          </p:cNvPr>
          <p:cNvSpPr>
            <a:spLocks noGrp="1"/>
          </p:cNvSpPr>
          <p:nvPr/>
        </p:nvSpPr>
        <p:spPr>
          <a:xfrm>
            <a:off x="6619875" y="2476500"/>
            <a:ext cx="105727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33896F-E6F3-44F7-8331-48946044322F}"/>
              </a:ext>
            </a:extLst>
          </p:cNvPr>
          <p:cNvSpPr>
            <a:spLocks noGrp="1"/>
          </p:cNvSpPr>
          <p:nvPr/>
        </p:nvSpPr>
        <p:spPr>
          <a:xfrm>
            <a:off x="6619875" y="3324225"/>
            <a:ext cx="105727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96C4A4-DA48-4693-B573-762D2F961BF8}"/>
              </a:ext>
            </a:extLst>
          </p:cNvPr>
          <p:cNvSpPr>
            <a:spLocks noGrp="1"/>
          </p:cNvSpPr>
          <p:nvPr/>
        </p:nvSpPr>
        <p:spPr>
          <a:xfrm>
            <a:off x="6600825" y="28956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6A8ABB-C847-4DCB-B3F7-92FB71B6AC69}"/>
              </a:ext>
            </a:extLst>
          </p:cNvPr>
          <p:cNvSpPr>
            <a:spLocks noGrp="1"/>
          </p:cNvSpPr>
          <p:nvPr/>
        </p:nvSpPr>
        <p:spPr>
          <a:xfrm>
            <a:off x="7858125" y="2857500"/>
            <a:ext cx="8763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 starting point is missing.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506C99-205A-4089-900F-F44945F38FBD}"/>
              </a:ext>
            </a:extLst>
          </p:cNvPr>
          <p:cNvSpPr>
            <a:spLocks noGrp="1"/>
          </p:cNvSpPr>
          <p:nvPr/>
        </p:nvSpPr>
        <p:spPr>
          <a:xfrm>
            <a:off x="6619875" y="4476750"/>
            <a:ext cx="105727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E52D1E-E7C1-4521-86F9-C6CB019A5E9B}"/>
              </a:ext>
            </a:extLst>
          </p:cNvPr>
          <p:cNvSpPr>
            <a:spLocks noGrp="1"/>
          </p:cNvSpPr>
          <p:nvPr/>
        </p:nvSpPr>
        <p:spPr>
          <a:xfrm>
            <a:off x="6600825" y="404812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62CF62-601C-460E-8DB9-C1B60BABB9EA}"/>
              </a:ext>
            </a:extLst>
          </p:cNvPr>
          <p:cNvSpPr>
            <a:spLocks noGrp="1"/>
          </p:cNvSpPr>
          <p:nvPr/>
        </p:nvSpPr>
        <p:spPr>
          <a:xfrm>
            <a:off x="7858125" y="4010025"/>
            <a:ext cx="8763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priorities are unclear.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C04B62-F288-4B9B-8673-2B192CBC1246}"/>
              </a:ext>
            </a:extLst>
          </p:cNvPr>
          <p:cNvSpPr>
            <a:spLocks noGrp="1"/>
          </p:cNvSpPr>
          <p:nvPr/>
        </p:nvSpPr>
        <p:spPr>
          <a:xfrm>
            <a:off x="6619875" y="5629275"/>
            <a:ext cx="105727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4AD5B1-70B4-4698-8297-B5E3ADF0EB9B}"/>
              </a:ext>
            </a:extLst>
          </p:cNvPr>
          <p:cNvSpPr>
            <a:spLocks noGrp="1"/>
          </p:cNvSpPr>
          <p:nvPr/>
        </p:nvSpPr>
        <p:spPr>
          <a:xfrm>
            <a:off x="6600825" y="52006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7598BD-AF8A-4EBD-A66E-A4B9207D5B9B}"/>
              </a:ext>
            </a:extLst>
          </p:cNvPr>
          <p:cNvSpPr>
            <a:spLocks noGrp="1"/>
          </p:cNvSpPr>
          <p:nvPr/>
        </p:nvSpPr>
        <p:spPr>
          <a:xfrm>
            <a:off x="7858125" y="5162550"/>
            <a:ext cx="8763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Ownership is not visible.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CBF12A-6B13-4328-B947-CC76E6BB3002}"/>
              </a:ext>
            </a:extLst>
          </p:cNvPr>
          <p:cNvSpPr>
            <a:spLocks noGrp="1"/>
          </p:cNvSpPr>
          <p:nvPr/>
        </p:nvSpPr>
        <p:spPr>
          <a:xfrm>
            <a:off x="6619875" y="6781800"/>
            <a:ext cx="105727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FD6CF22-5B81-4253-B3E0-ED101E615799}"/>
              </a:ext>
            </a:extLst>
          </p:cNvPr>
          <p:cNvSpPr>
            <a:spLocks noGrp="1"/>
          </p:cNvSpPr>
          <p:nvPr/>
        </p:nvSpPr>
        <p:spPr>
          <a:xfrm>
            <a:off x="6600825" y="63531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4C2A14-931C-4B93-B90F-DD119D8D30B2}"/>
              </a:ext>
            </a:extLst>
          </p:cNvPr>
          <p:cNvSpPr>
            <a:spLocks noGrp="1"/>
          </p:cNvSpPr>
          <p:nvPr/>
        </p:nvSpPr>
        <p:spPr>
          <a:xfrm>
            <a:off x="7858125" y="6315075"/>
            <a:ext cx="8763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are moving into live workflows.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4DFCAD5-D3DC-4DA0-AC20-7A51D1969491}"/>
              </a:ext>
            </a:extLst>
          </p:cNvPr>
          <p:cNvSpPr>
            <a:spLocks noGrp="1"/>
          </p:cNvSpPr>
          <p:nvPr/>
        </p:nvSpPr>
        <p:spPr>
          <a:xfrm>
            <a:off x="6619875" y="7934325"/>
            <a:ext cx="105727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AEC584-99FE-46AE-B8D0-14A262497CE8}"/>
              </a:ext>
            </a:extLst>
          </p:cNvPr>
          <p:cNvSpPr>
            <a:spLocks noGrp="1"/>
          </p:cNvSpPr>
          <p:nvPr/>
        </p:nvSpPr>
        <p:spPr>
          <a:xfrm>
            <a:off x="6600825" y="75057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7EA36F1-8BAC-44BB-98F2-12E7C0E6556E}"/>
              </a:ext>
            </a:extLst>
          </p:cNvPr>
          <p:cNvSpPr>
            <a:spLocks noGrp="1"/>
          </p:cNvSpPr>
          <p:nvPr/>
        </p:nvSpPr>
        <p:spPr>
          <a:xfrm>
            <a:off x="7858125" y="7467600"/>
            <a:ext cx="8763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Critical knowledge is at risk of loss.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58797B8-C7BD-4AA1-B2FC-8730A9E7FE55}"/>
              </a:ext>
            </a:extLst>
          </p:cNvPr>
          <p:cNvSpPr>
            <a:spLocks noGrp="1"/>
          </p:cNvSpPr>
          <p:nvPr/>
        </p:nvSpPr>
        <p:spPr>
          <a:xfrm>
            <a:off x="1238250" y="9458325"/>
            <a:ext cx="15478125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50BD818-E690-4E0C-A701-29A8F411D791}"/>
              </a:ext>
            </a:extLst>
          </p:cNvPr>
          <p:cNvSpPr>
            <a:spLocks noGrp="1"/>
          </p:cNvSpPr>
          <p:nvPr/>
        </p:nvSpPr>
        <p:spPr>
          <a:xfrm>
            <a:off x="1238250" y="9591675"/>
            <a:ext cx="1200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</a:t>
            </a:r>
            <a:r>
              <a:rPr lang="en-US" sz="1125" dirty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Preserving understanding as execution changes</a:t>
            </a:r>
            <a:endParaRPr sz="1125" b="0" dirty="0">
              <a:solidFill>
                <a:srgbClr val="3D58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pager-pill">
            <a:extLst>
              <a:ext uri="{FF2B5EF4-FFF2-40B4-BE49-F238E27FC236}">
                <a16:creationId xmlns:a16="http://schemas.microsoft.com/office/drawing/2014/main" id="{DFB1147A-7583-441E-B3A2-B2E81FD3D710}"/>
              </a:ext>
            </a:extLst>
          </p:cNvPr>
          <p:cNvSpPr>
            <a:spLocks noGrp="1"/>
          </p:cNvSpPr>
          <p:nvPr/>
        </p:nvSpPr>
        <p:spPr>
          <a:xfrm>
            <a:off x="16935450" y="9525000"/>
            <a:ext cx="13906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8FA1076-257C-481B-8D17-5D550B350583}"/>
              </a:ext>
            </a:extLst>
          </p:cNvPr>
          <p:cNvSpPr>
            <a:spLocks noGrp="1"/>
          </p:cNvSpPr>
          <p:nvPr/>
        </p:nvSpPr>
        <p:spPr>
          <a:xfrm>
            <a:off x="1706880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9FE7960-7225-4219-9E2E-B97B1BAD5CD8}"/>
              </a:ext>
            </a:extLst>
          </p:cNvPr>
          <p:cNvSpPr>
            <a:spLocks noGrp="1"/>
          </p:cNvSpPr>
          <p:nvPr/>
        </p:nvSpPr>
        <p:spPr>
          <a:xfrm>
            <a:off x="1781175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CD0109C-05A4-434E-90DE-A8982378E3BF}"/>
              </a:ext>
            </a:extLst>
          </p:cNvPr>
          <p:cNvSpPr>
            <a:spLocks noGrp="1"/>
          </p:cNvSpPr>
          <p:nvPr/>
        </p:nvSpPr>
        <p:spPr>
          <a:xfrm>
            <a:off x="17097375" y="9648825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6ABBB34-BA55-4D80-8B0D-544692AA7F59}"/>
              </a:ext>
            </a:extLst>
          </p:cNvPr>
          <p:cNvSpPr>
            <a:spLocks noGrp="1"/>
          </p:cNvSpPr>
          <p:nvPr/>
        </p:nvSpPr>
        <p:spPr>
          <a:xfrm>
            <a:off x="17440275" y="96583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0F1505E-FD65-4F6E-A5A7-4ED5853A1C2A}"/>
              </a:ext>
            </a:extLst>
          </p:cNvPr>
          <p:cNvSpPr>
            <a:spLocks noGrp="1"/>
          </p:cNvSpPr>
          <p:nvPr/>
        </p:nvSpPr>
        <p:spPr>
          <a:xfrm>
            <a:off x="17887950" y="96488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823457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6BB840E-8E4F-495E-B8AA-FC8F2E2F50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D"/>
          </a:solidFill>
          <a:ln w="0">
            <a:solidFill>
              <a:srgbClr val="F8FAF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9AE4DB-C3BE-4F27-8CFA-2CD313A1F6F4}"/>
              </a:ext>
            </a:extLst>
          </p:cNvPr>
          <p:cNvSpPr>
            <a:spLocks noGrp="1"/>
          </p:cNvSpPr>
          <p:nvPr/>
        </p:nvSpPr>
        <p:spPr>
          <a:xfrm>
            <a:off x="1524000" y="41910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5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324361"/>
            <a:ext cx="609600" cy="60857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B332865-BC35-449F-B650-08D173B20E2D}"/>
              </a:ext>
            </a:extLst>
          </p:cNvPr>
          <p:cNvSpPr>
            <a:spLocks noGrp="1"/>
          </p:cNvSpPr>
          <p:nvPr/>
        </p:nvSpPr>
        <p:spPr>
          <a:xfrm>
            <a:off x="13525500" y="5143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F41803-A6F0-47B1-A0DF-3FBCBC8FC891}"/>
              </a:ext>
            </a:extLst>
          </p:cNvPr>
          <p:cNvSpPr>
            <a:spLocks noGrp="1"/>
          </p:cNvSpPr>
          <p:nvPr/>
        </p:nvSpPr>
        <p:spPr>
          <a:xfrm>
            <a:off x="1238250" y="971550"/>
            <a:ext cx="1571625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B9B31D-6BDB-46A6-9B5B-F207FDF611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D"/>
          </a:solidFill>
          <a:ln w="0">
            <a:solidFill>
              <a:srgbClr val="F8FAF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D5BEC9-D064-4458-9722-8B4A4D34E7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D"/>
          </a:solidFill>
          <a:ln w="0">
            <a:solidFill>
              <a:srgbClr val="F8FAF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BD32B4-2346-43AB-A125-776CD10CBBE1}"/>
              </a:ext>
            </a:extLst>
          </p:cNvPr>
          <p:cNvSpPr>
            <a:spLocks noGrp="1"/>
          </p:cNvSpPr>
          <p:nvPr/>
        </p:nvSpPr>
        <p:spPr>
          <a:xfrm>
            <a:off x="1238250" y="2200275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MAKE AN INTRODUCTION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6EC002-15EC-4B09-9C7B-94596FF7E512}"/>
              </a:ext>
            </a:extLst>
          </p:cNvPr>
          <p:cNvSpPr>
            <a:spLocks noGrp="1"/>
          </p:cNvSpPr>
          <p:nvPr/>
        </p:nvSpPr>
        <p:spPr>
          <a:xfrm>
            <a:off x="1238250" y="2724150"/>
            <a:ext cx="61912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</a:t>
            </a:r>
          </a:p>
          <a:p>
            <a:pPr algn="l">
              <a:buNone/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changes.</a:t>
            </a:r>
          </a:p>
          <a:p>
            <a:pPr algn="l">
              <a:buNone/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</a:t>
            </a:r>
          </a:p>
          <a:p>
            <a:pPr algn="l">
              <a:buNone/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preserves</a:t>
            </a:r>
          </a:p>
          <a:p>
            <a:pPr algn="l">
              <a:buNone/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045E2F-E8DC-48F2-A9FF-03C4392EE99E}"/>
              </a:ext>
            </a:extLst>
          </p:cNvPr>
          <p:cNvSpPr>
            <a:spLocks noGrp="1"/>
          </p:cNvSpPr>
          <p:nvPr/>
        </p:nvSpPr>
        <p:spPr>
          <a:xfrm>
            <a:off x="1238250" y="7620000"/>
            <a:ext cx="4762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Introduce ShiftBy when understanding</a:t>
            </a:r>
          </a:p>
          <a:p>
            <a:pPr algn="l">
              <a:buNone/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needs to survive change.</a:t>
            </a: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239750" y="2385564"/>
            <a:ext cx="5143500" cy="513487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A31B4E1-9A30-48F0-8EE5-E9CC92BD6445}"/>
              </a:ext>
            </a:extLst>
          </p:cNvPr>
          <p:cNvSpPr>
            <a:spLocks noGrp="1"/>
          </p:cNvSpPr>
          <p:nvPr/>
        </p:nvSpPr>
        <p:spPr>
          <a:xfrm>
            <a:off x="10668000" y="5334000"/>
            <a:ext cx="6096000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B01115-8AA7-4957-AFD9-7621C9FD0723}"/>
              </a:ext>
            </a:extLst>
          </p:cNvPr>
          <p:cNvSpPr>
            <a:spLocks noGrp="1"/>
          </p:cNvSpPr>
          <p:nvPr/>
        </p:nvSpPr>
        <p:spPr>
          <a:xfrm>
            <a:off x="10668000" y="5715000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43425B-6EAC-4532-8BBC-02215E36C228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9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B3521E-7595-4257-9AAE-A7B93FF7F9CF}"/>
              </a:ext>
            </a:extLst>
          </p:cNvPr>
          <p:cNvSpPr>
            <a:spLocks noGrp="1"/>
          </p:cNvSpPr>
          <p:nvPr/>
        </p:nvSpPr>
        <p:spPr>
          <a:xfrm>
            <a:off x="10668000" y="68389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9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427104-EC89-4DE5-AE95-A10AD245FF77}"/>
              </a:ext>
            </a:extLst>
          </p:cNvPr>
          <p:cNvSpPr>
            <a:spLocks noGrp="1"/>
          </p:cNvSpPr>
          <p:nvPr/>
        </p:nvSpPr>
        <p:spPr>
          <a:xfrm>
            <a:off x="10668000" y="74104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4DEA23-7981-4D24-93B3-C75AD6B8305A}"/>
              </a:ext>
            </a:extLst>
          </p:cNvPr>
          <p:cNvSpPr>
            <a:spLocks noGrp="1"/>
          </p:cNvSpPr>
          <p:nvPr/>
        </p:nvSpPr>
        <p:spPr>
          <a:xfrm>
            <a:off x="10668000" y="79438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E314F0-9C85-4A85-8BC8-6048AEC45EB4}"/>
              </a:ext>
            </a:extLst>
          </p:cNvPr>
          <p:cNvSpPr>
            <a:spLocks noGrp="1"/>
          </p:cNvSpPr>
          <p:nvPr/>
        </p:nvSpPr>
        <p:spPr>
          <a:xfrm>
            <a:off x="10668000" y="84772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056B6E5-9C64-4903-ACE6-B7CC45F01C12}"/>
              </a:ext>
            </a:extLst>
          </p:cNvPr>
          <p:cNvSpPr>
            <a:spLocks noGrp="1"/>
          </p:cNvSpPr>
          <p:nvPr/>
        </p:nvSpPr>
        <p:spPr>
          <a:xfrm>
            <a:off x="1238250" y="9458325"/>
            <a:ext cx="15478125" cy="9525"/>
          </a:xfrm>
          <a:prstGeom prst="rect">
            <a:avLst/>
          </a:prstGeom>
          <a:solidFill>
            <a:srgbClr val="D8DBE6"/>
          </a:solidFill>
          <a:ln w="0">
            <a:solidFill>
              <a:srgbClr val="D8DBE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763C7-9498-4690-8F0B-B1E4F442C293}"/>
              </a:ext>
            </a:extLst>
          </p:cNvPr>
          <p:cNvSpPr>
            <a:spLocks noGrp="1"/>
          </p:cNvSpPr>
          <p:nvPr/>
        </p:nvSpPr>
        <p:spPr>
          <a:xfrm>
            <a:off x="1238250" y="9591675"/>
            <a:ext cx="1200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</a:t>
            </a:r>
            <a:r>
              <a:rPr lang="en-US" sz="1125" dirty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Preserving understanding as execution changes</a:t>
            </a:r>
            <a:endParaRPr sz="1125" b="0" dirty="0">
              <a:solidFill>
                <a:srgbClr val="3D58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pager-pill">
            <a:extLst>
              <a:ext uri="{FF2B5EF4-FFF2-40B4-BE49-F238E27FC236}">
                <a16:creationId xmlns:a16="http://schemas.microsoft.com/office/drawing/2014/main" id="{36905E88-C851-43A9-8A20-F4044B0CC060}"/>
              </a:ext>
            </a:extLst>
          </p:cNvPr>
          <p:cNvSpPr>
            <a:spLocks noGrp="1"/>
          </p:cNvSpPr>
          <p:nvPr/>
        </p:nvSpPr>
        <p:spPr>
          <a:xfrm>
            <a:off x="16935450" y="9525000"/>
            <a:ext cx="13906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1B8AB3E-5824-4F9C-9636-E284AF03427F}"/>
              </a:ext>
            </a:extLst>
          </p:cNvPr>
          <p:cNvSpPr>
            <a:spLocks noGrp="1"/>
          </p:cNvSpPr>
          <p:nvPr/>
        </p:nvSpPr>
        <p:spPr>
          <a:xfrm>
            <a:off x="1706880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D3A00AE-4A29-4A46-9920-3B1515BD2034}"/>
              </a:ext>
            </a:extLst>
          </p:cNvPr>
          <p:cNvSpPr>
            <a:spLocks noGrp="1"/>
          </p:cNvSpPr>
          <p:nvPr/>
        </p:nvSpPr>
        <p:spPr>
          <a:xfrm>
            <a:off x="17811750" y="9610725"/>
            <a:ext cx="361950" cy="361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9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84D5C2-A400-4603-AC73-E08B63EE2899}"/>
              </a:ext>
            </a:extLst>
          </p:cNvPr>
          <p:cNvSpPr>
            <a:spLocks noGrp="1"/>
          </p:cNvSpPr>
          <p:nvPr/>
        </p:nvSpPr>
        <p:spPr>
          <a:xfrm>
            <a:off x="17097375" y="9648825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6B37B8-DDEF-4F93-8A8A-017F34C418CB}"/>
              </a:ext>
            </a:extLst>
          </p:cNvPr>
          <p:cNvSpPr>
            <a:spLocks noGrp="1"/>
          </p:cNvSpPr>
          <p:nvPr/>
        </p:nvSpPr>
        <p:spPr>
          <a:xfrm>
            <a:off x="17440275" y="96583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965B7B-81A1-46BD-84A0-A16EA3CFE11A}"/>
              </a:ext>
            </a:extLst>
          </p:cNvPr>
          <p:cNvSpPr>
            <a:spLocks noGrp="1"/>
          </p:cNvSpPr>
          <p:nvPr/>
        </p:nvSpPr>
        <p:spPr>
          <a:xfrm>
            <a:off x="17887950" y="96488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919610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887</Words>
  <Application>Microsoft Office PowerPoint</Application>
  <DocSecurity>0</DocSecurity>
  <PresentationFormat>Custom</PresentationFormat>
  <Paragraphs>263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Ananda Krishna</cp:lastModifiedBy>
  <cp:revision>11</cp:revision>
  <dcterms:created xsi:type="dcterms:W3CDTF">2026-06-16T07:38:23Z</dcterms:created>
  <dcterms:modified xsi:type="dcterms:W3CDTF">2026-06-16T13:16:16Z</dcterms:modified>
</cp:coreProperties>
</file>