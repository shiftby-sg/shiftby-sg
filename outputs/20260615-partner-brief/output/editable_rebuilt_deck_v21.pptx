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fadbe2db3704cfc" /><Relationship Type="http://schemas.openxmlformats.org/officeDocument/2006/relationships/extended-properties" Target="/docProps/app.xml" Id="R415a818c26624140" /><Relationship Type="http://schemas.openxmlformats.org/officeDocument/2006/relationships/officeDocument" Target="/ppt/presentation.xml" Id="R9b4f6962261e45e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be8c764a7f34027"/>
  </p:sldMasterIdLst>
  <p:notesMasterIdLst>
    <p:notesMasterId xmlns:r="http://schemas.openxmlformats.org/officeDocument/2006/relationships" r:id="R1e01033b9fb24faa"/>
  </p:notesMasterIdLst>
  <p:sldIdLst>
    <p:sldId xmlns:r="http://schemas.openxmlformats.org/officeDocument/2006/relationships" id="256" r:id="Rcac8be5915334c25"/>
    <p:sldId xmlns:r="http://schemas.openxmlformats.org/officeDocument/2006/relationships" id="257" r:id="Rb2160c2a4a284658"/>
    <p:sldId xmlns:r="http://schemas.openxmlformats.org/officeDocument/2006/relationships" id="258" r:id="R014eb9037aea44a8"/>
    <p:sldId xmlns:r="http://schemas.openxmlformats.org/officeDocument/2006/relationships" id="259" r:id="Rcbcad0cbf93f4a7f"/>
    <p:sldId xmlns:r="http://schemas.openxmlformats.org/officeDocument/2006/relationships" id="260" r:id="Rd39c6f596f244db3"/>
    <p:sldId xmlns:r="http://schemas.openxmlformats.org/officeDocument/2006/relationships" id="261" r:id="R4754768bf9f3443d"/>
    <p:sldId xmlns:r="http://schemas.openxmlformats.org/officeDocument/2006/relationships" id="262" r:id="R85de2aec83934970"/>
    <p:sldId xmlns:r="http://schemas.openxmlformats.org/officeDocument/2006/relationships" id="263" r:id="Rf866ab9c61f74ce7"/>
    <p:sldId xmlns:r="http://schemas.openxmlformats.org/officeDocument/2006/relationships" id="264" r:id="Ra375693701914a5c"/>
    <p:sldId xmlns:r="http://schemas.openxmlformats.org/officeDocument/2006/relationships" id="265" r:id="R495e16cd31ca44a5"/>
    <p:sldId xmlns:r="http://schemas.openxmlformats.org/officeDocument/2006/relationships" id="266" r:id="Rabe670128d624b4d"/>
    <p:sldId xmlns:r="http://schemas.openxmlformats.org/officeDocument/2006/relationships" id="267" r:id="R29d04357c874467c"/>
    <p:sldId xmlns:r="http://schemas.openxmlformats.org/officeDocument/2006/relationships" id="268" r:id="R393510c63a1b4a63"/>
    <p:sldId xmlns:r="http://schemas.openxmlformats.org/officeDocument/2006/relationships" id="269" r:id="R018d161b6c43442d"/>
    <p:sldId xmlns:r="http://schemas.openxmlformats.org/officeDocument/2006/relationships" id="270" r:id="R36dada8685f4418c"/>
    <p:sldId xmlns:r="http://schemas.openxmlformats.org/officeDocument/2006/relationships" id="271" r:id="R4febc39879e54ea7"/>
    <p:sldId xmlns:r="http://schemas.openxmlformats.org/officeDocument/2006/relationships" id="272" r:id="Rf662575bffaa482e"/>
    <p:sldId xmlns:r="http://schemas.openxmlformats.org/officeDocument/2006/relationships" id="273" r:id="R5b31b660634b4f0e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9c08537c62944a0" /><Relationship Type="http://schemas.openxmlformats.org/officeDocument/2006/relationships/slideMaster" Target="/ppt/slideMasters/slideMaster1.xml" Id="Rcbe8c764a7f34027" /><Relationship Type="http://schemas.openxmlformats.org/officeDocument/2006/relationships/notesMaster" Target="/ppt/notesMasters/notesMaster1.xml" Id="R1e01033b9fb24faa" /><Relationship Type="http://schemas.openxmlformats.org/officeDocument/2006/relationships/presProps" Target="/ppt/presProps.xml" Id="Raa9d29624356498d" /><Relationship Type="http://schemas.openxmlformats.org/officeDocument/2006/relationships/tableStyles" Target="/ppt/tableStyles.xml" Id="Rcc4e23223e1a47cf" /><Relationship Type="http://schemas.openxmlformats.org/officeDocument/2006/relationships/slide" Target="/ppt/slides/slide1.xml" Id="Rcac8be5915334c25" /><Relationship Type="http://schemas.openxmlformats.org/officeDocument/2006/relationships/slide" Target="/ppt/slides/slide2.xml" Id="Rb2160c2a4a284658" /><Relationship Type="http://schemas.openxmlformats.org/officeDocument/2006/relationships/slide" Target="/ppt/slides/slide3.xml" Id="R014eb9037aea44a8" /><Relationship Type="http://schemas.openxmlformats.org/officeDocument/2006/relationships/slide" Target="/ppt/slides/slide4.xml" Id="Rcbcad0cbf93f4a7f" /><Relationship Type="http://schemas.openxmlformats.org/officeDocument/2006/relationships/slide" Target="/ppt/slides/slide5.xml" Id="Rd39c6f596f244db3" /><Relationship Type="http://schemas.openxmlformats.org/officeDocument/2006/relationships/slide" Target="/ppt/slides/slide6.xml" Id="R4754768bf9f3443d" /><Relationship Type="http://schemas.openxmlformats.org/officeDocument/2006/relationships/slide" Target="/ppt/slides/slide7.xml" Id="R85de2aec83934970" /><Relationship Type="http://schemas.openxmlformats.org/officeDocument/2006/relationships/slide" Target="/ppt/slides/slide8.xml" Id="Rf866ab9c61f74ce7" /><Relationship Type="http://schemas.openxmlformats.org/officeDocument/2006/relationships/slide" Target="/ppt/slides/slide9.xml" Id="Ra375693701914a5c" /><Relationship Type="http://schemas.openxmlformats.org/officeDocument/2006/relationships/slide" Target="/ppt/slides/slide10.xml" Id="R495e16cd31ca44a5" /><Relationship Type="http://schemas.openxmlformats.org/officeDocument/2006/relationships/slide" Target="/ppt/slides/slide11.xml" Id="Rabe670128d624b4d" /><Relationship Type="http://schemas.openxmlformats.org/officeDocument/2006/relationships/slide" Target="/ppt/slides/slide12.xml" Id="R29d04357c874467c" /><Relationship Type="http://schemas.openxmlformats.org/officeDocument/2006/relationships/slide" Target="/ppt/slides/slide13.xml" Id="R393510c63a1b4a63" /><Relationship Type="http://schemas.openxmlformats.org/officeDocument/2006/relationships/slide" Target="/ppt/slides/slide14.xml" Id="R018d161b6c43442d" /><Relationship Type="http://schemas.openxmlformats.org/officeDocument/2006/relationships/slide" Target="/ppt/slides/slide15.xml" Id="R36dada8685f4418c" /><Relationship Type="http://schemas.openxmlformats.org/officeDocument/2006/relationships/slide" Target="/ppt/slides/slide16.xml" Id="R4febc39879e54ea7" /><Relationship Type="http://schemas.openxmlformats.org/officeDocument/2006/relationships/slide" Target="/ppt/slides/slide17.xml" Id="Rf662575bffaa482e" /><Relationship Type="http://schemas.openxmlformats.org/officeDocument/2006/relationships/slide" Target="/ppt/slides/slide18.xml" Id="R5b31b660634b4f0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2477d9b6a0e45f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4c19b24e3d94d18" /><Relationship Type="http://schemas.openxmlformats.org/officeDocument/2006/relationships/notesMaster" Target="/ppt/notesMasters/notesMaster1.xml" Id="R4a04aebf3626423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3b3232bb288490c" /><Relationship Type="http://schemas.openxmlformats.org/officeDocument/2006/relationships/notesMaster" Target="/ppt/notesMasters/notesMaster1.xml" Id="Rdf1903273b9d4e8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33b9255f8134711" /><Relationship Type="http://schemas.openxmlformats.org/officeDocument/2006/relationships/notesMaster" Target="/ppt/notesMasters/notesMaster1.xml" Id="R7fb57acdb7be4d1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27b085a8d344292" /><Relationship Type="http://schemas.openxmlformats.org/officeDocument/2006/relationships/notesMaster" Target="/ppt/notesMasters/notesMaster1.xml" Id="Ra7235ff629c146c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cd92b5f7f374342" /><Relationship Type="http://schemas.openxmlformats.org/officeDocument/2006/relationships/notesMaster" Target="/ppt/notesMasters/notesMaster1.xml" Id="R1d6cb05fb0d34d8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8a98278c4d2448f" /><Relationship Type="http://schemas.openxmlformats.org/officeDocument/2006/relationships/notesMaster" Target="/ppt/notesMasters/notesMaster1.xml" Id="R2f6a58b7be014ca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7ab99bcc6c54560" /><Relationship Type="http://schemas.openxmlformats.org/officeDocument/2006/relationships/notesMaster" Target="/ppt/notesMasters/notesMaster1.xml" Id="Rf9d24a36752d4aa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f8ac61898e14ffb" /><Relationship Type="http://schemas.openxmlformats.org/officeDocument/2006/relationships/notesMaster" Target="/ppt/notesMasters/notesMaster1.xml" Id="R20829cf3e3814e4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b7375ae477240ce" /><Relationship Type="http://schemas.openxmlformats.org/officeDocument/2006/relationships/notesMaster" Target="/ppt/notesMasters/notesMaster1.xml" Id="Ra573f087b867491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6589216b1854b6e" /><Relationship Type="http://schemas.openxmlformats.org/officeDocument/2006/relationships/notesMaster" Target="/ppt/notesMasters/notesMaster1.xml" Id="R8cb557d9337d418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40e98b583f84d2c" /><Relationship Type="http://schemas.openxmlformats.org/officeDocument/2006/relationships/notesMaster" Target="/ppt/notesMasters/notesMaster1.xml" Id="Rffa8c5a77364404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8a7ebc249b44a0d" /><Relationship Type="http://schemas.openxmlformats.org/officeDocument/2006/relationships/notesMaster" Target="/ppt/notesMasters/notesMaster1.xml" Id="R1dc88415e14e40c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916e21116984aa6" /><Relationship Type="http://schemas.openxmlformats.org/officeDocument/2006/relationships/notesMaster" Target="/ppt/notesMasters/notesMaster1.xml" Id="R4b21b8028f434b8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c6be75423c4469f" /><Relationship Type="http://schemas.openxmlformats.org/officeDocument/2006/relationships/notesMaster" Target="/ppt/notesMasters/notesMaster1.xml" Id="Rbc8f617795a74be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2d651994a4a485f" /><Relationship Type="http://schemas.openxmlformats.org/officeDocument/2006/relationships/notesMaster" Target="/ppt/notesMasters/notesMaster1.xml" Id="Red6c54e72491425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9dde4cd494b4c7b" /><Relationship Type="http://schemas.openxmlformats.org/officeDocument/2006/relationships/notesMaster" Target="/ppt/notesMasters/notesMaster1.xml" Id="Rbcce58aa8ca84af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19b3635aad0f4801" /><Relationship Type="http://schemas.openxmlformats.org/officeDocument/2006/relationships/notesMaster" Target="/ppt/notesMasters/notesMaster1.xml" Id="Rae04a33008144d01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e0ccbae015ed4cdd" /><Relationship Type="http://schemas.openxmlformats.org/officeDocument/2006/relationships/notesMaster" Target="/ppt/notesMasters/notesMaster1.xml" Id="Rbbd479fb6b6447b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83c8c08176448b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8583fa346234ae1" /><Relationship Type="http://schemas.openxmlformats.org/officeDocument/2006/relationships/slideLayout" Target="/ppt/slideLayouts/slideLayout1.xml" Id="R0177d17bcb1c4e7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177d17bcb1c4e7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73c595f42040d6" /><Relationship Type="http://schemas.openxmlformats.org/officeDocument/2006/relationships/notesSlide" Target="/ppt/notesSlides/notesSlide1.xml" Id="Rf2a827912555444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3dd80a97b34c5d" /><Relationship Type="http://schemas.openxmlformats.org/officeDocument/2006/relationships/notesSlide" Target="/ppt/notesSlides/notesSlide2.xml" Id="Rcb985f9752654fc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6dc9c75f654b7b" /><Relationship Type="http://schemas.openxmlformats.org/officeDocument/2006/relationships/notesSlide" Target="/ppt/notesSlides/notesSlide3.xml" Id="R6e08cba232b744b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06751a5cc04e15" /><Relationship Type="http://schemas.openxmlformats.org/officeDocument/2006/relationships/notesSlide" Target="/ppt/notesSlides/notesSlide4.xml" Id="R96fbc7d7b7704b1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9c34cd51e24cd7" /><Relationship Type="http://schemas.openxmlformats.org/officeDocument/2006/relationships/notesSlide" Target="/ppt/notesSlides/notesSlide5.xml" Id="R4aaf23e2f4e94ad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ae2aada70a4512" /><Relationship Type="http://schemas.openxmlformats.org/officeDocument/2006/relationships/notesSlide" Target="/ppt/notesSlides/notesSlide6.xml" Id="Rce26b172999648c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0d5e5bbe01488d" /><Relationship Type="http://schemas.openxmlformats.org/officeDocument/2006/relationships/notesSlide" Target="/ppt/notesSlides/notesSlide7.xml" Id="R79a4efb76426486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f0b751965242a3" /><Relationship Type="http://schemas.openxmlformats.org/officeDocument/2006/relationships/notesSlide" Target="/ppt/notesSlides/notesSlide8.xml" Id="Ra5e56b2d29914cc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8caadb2b8f4624" /><Relationship Type="http://schemas.openxmlformats.org/officeDocument/2006/relationships/notesSlide" Target="/ppt/notesSlides/notesSlide9.xml" Id="Rceb65c4a2df2480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8ce63e45bb439b" /><Relationship Type="http://schemas.openxmlformats.org/officeDocument/2006/relationships/notesSlide" Target="/ppt/notesSlides/notesSlide10.xml" Id="R5470fd0b2c3b451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722f2348404953" /><Relationship Type="http://schemas.openxmlformats.org/officeDocument/2006/relationships/notesSlide" Target="/ppt/notesSlides/notesSlide11.xml" Id="R46f444e57c93401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c5f037fc704800" /><Relationship Type="http://schemas.openxmlformats.org/officeDocument/2006/relationships/notesSlide" Target="/ppt/notesSlides/notesSlide12.xml" Id="R70a43bdd5b7940e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068716b0934a4f" /><Relationship Type="http://schemas.openxmlformats.org/officeDocument/2006/relationships/notesSlide" Target="/ppt/notesSlides/notesSlide13.xml" Id="R28ba9b03c608483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5666719e604d73" /><Relationship Type="http://schemas.openxmlformats.org/officeDocument/2006/relationships/notesSlide" Target="/ppt/notesSlides/notesSlide14.xml" Id="Re167ec74f73946e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98353803554986" /><Relationship Type="http://schemas.openxmlformats.org/officeDocument/2006/relationships/notesSlide" Target="/ppt/notesSlides/notesSlide15.xml" Id="R66c12852aa67454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f623e9da89436e" /><Relationship Type="http://schemas.openxmlformats.org/officeDocument/2006/relationships/notesSlide" Target="/ppt/notesSlides/notesSlide16.xml" Id="R17f30fb801fc49c2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ce7ca6d2df422a" /><Relationship Type="http://schemas.openxmlformats.org/officeDocument/2006/relationships/notesSlide" Target="/ppt/notesSlides/notesSlide17.xml" Id="R6b9e3be3f9ce440c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a95c9111b2457d" /><Relationship Type="http://schemas.openxmlformats.org/officeDocument/2006/relationships/notesSlide" Target="/ppt/notesSlides/notesSlide18.xml" Id="Re08e53059e3642e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FC0F1F5-C835-472D-8988-893685A53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6FB9B4-6B2D-4ABC-BB42-D43CE06F4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0673B8-5B1B-4140-B93B-96D4B5C52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27A7B9-3A89-4742-95FA-89F9CA12F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171045-D9D9-40F4-99AB-EC1ED306D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766781-7FED-45A2-9899-9F7893B4F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PARTNER BRIEFING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9B8DCC-A3D0-4C8A-9EAF-3CB45486E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17D5ED-DE4B-430E-BE44-E0E6203E2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428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INTRODUCTION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071B9A-3337-4A30-BB80-5EC793B96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666875"/>
            <a:ext cx="93345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Execution changes.</a:t>
            </a:r>
          </a:p>
          <a:p xmlns:a="http://schemas.openxmlformats.org/drawingml/2006/main">
            <a:pPr algn="l">
              <a:defRPr sz="5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Understanding preserves confidence.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65AB59-1FEE-4675-A896-28CB3D35F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714875"/>
            <a:ext cx="6858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AI advisory, coaching, and thought leadership for organizations navigating AI, governance, knowledge, and transformation.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79C2BE-5523-4EE9-BDE5-97AB2A17A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2286000"/>
            <a:ext cx="5334000" cy="53340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52400">
            <a:solidFill>
              <a:srgbClr val="EAEAF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9C5015-3D38-4066-8C3F-E07DCC34C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0" y="3810000"/>
            <a:ext cx="2286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EA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4453B8-86B3-41CD-97AD-9D675845C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5B9359-418D-4609-A011-7018F5E4D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A trusted partner's guide to when ShiftBy can help.</a:t>
            </a:r>
          </a:p>
        </p:txBody>
      </p:sp>
      <p:sp>
        <p:nvSpPr>
          <p:cNvPr id="15" name="pager-pill">
            <a:extLst xmlns:a="http://schemas.openxmlformats.org/drawingml/2006/main">
              <a:ext uri="{FF2B5EF4-FFF2-40B4-BE49-F238E27FC236}">
                <a16:creationId xmlns:a16="http://schemas.microsoft.com/office/drawing/2014/main" id="{9583F949-DA8D-45DC-8AB8-B24C7AA81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E834E7-1AE0-461E-AF19-626595252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26029E-D15B-4C24-AC75-5F8A2A42C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9A4E41-AA95-40FB-BBD7-4C502CD77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7F23AE-382A-4DC9-8A39-BD49E5C45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01 / 14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80A0C4-32DC-462C-A777-DE9677C95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47355655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D5D42C2-EF75-4D6F-92F0-227372674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1C2EF0-10C0-4A95-83D1-3E92A13B2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69B453-A39D-4FCE-844B-547C3C89C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FD1F12-6EF7-423D-931C-DBE48FE65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AD60EF-5F1E-4746-8F54-62D8BC2C2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4E22F9-91DA-4B53-8BBE-4A9E5FE26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WHY SHIFTBY EXISTS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BB7A28-409E-4BA8-9C88-B5DD740E8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6FAF56-308F-403A-B63D-0C182CA60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766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CORE OBSERVATION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A60740-BE3F-4FA0-9AE9-95F2D741A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114800"/>
            <a:ext cx="533400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Organizations preserve</a:t>
            </a:r>
          </a:p>
          <a:p xmlns:a="http://schemas.openxmlformats.org/drawingml/2006/main">
            <a:pPr algn="l">
              <a:defRPr sz="48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records.</a:t>
            </a:r>
          </a:p>
          <a:p xmlns:a="http://schemas.openxmlformats.org/drawingml/2006/main">
            <a:pPr algn="l">
              <a:defRPr sz="48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They lose operating context.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44FF6D-BE50-474C-85B9-55AC5BBEC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7734300"/>
            <a:ext cx="723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ShiftBy exists to help leaders preserve the rationale behind execution.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6D1FDB-1D6D-452A-A3C4-1E17D08D5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9570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B6D5F9-C5DE-444D-85AC-1C0C6E1D5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92430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The decision</a:t>
            </a:r>
          </a:p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survives.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1D0BF7-ADE9-4AD4-AABF-3F37F1A37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924300"/>
            <a:ext cx="304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The rationale</a:t>
            </a:r>
          </a:p>
          <a:p xmlns:a="http://schemas.openxmlformats.org/drawingml/2006/main">
            <a:pPr algn="l">
              <a:defRPr sz="22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often does not.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F353F7-D705-4402-B6CC-0ACE87374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07682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CC1756-FC33-4360-A4CD-B98A4F7FF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305425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The process</a:t>
            </a:r>
          </a:p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survives.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5C0352-1705-47DD-8569-6F7945DFA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5305425"/>
            <a:ext cx="304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The context</a:t>
            </a:r>
          </a:p>
          <a:p xmlns:a="http://schemas.openxmlformats.org/drawingml/2006/main">
            <a:pPr algn="l">
              <a:defRPr sz="22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often does not.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4D297E-CD2F-44C4-A628-420950B24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45795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7ABAC6-5E66-4EB8-A482-9FF3DCBD8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68655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The system survives.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61151D-0271-481C-87E2-4CE8D3099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6686550"/>
            <a:ext cx="304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The knowledge</a:t>
            </a:r>
          </a:p>
          <a:p xmlns:a="http://schemas.openxmlformats.org/drawingml/2006/main">
            <a:pPr algn="l">
              <a:defRPr sz="22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often does not.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35DE693-9114-4D07-AC48-2CED0C919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783907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A956A96-8055-4470-9266-9A9D55A1D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5A84BB1-0635-4938-81E1-29749A66F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ShiftBy exists to help understanding remain available when execution changes.</a:t>
            </a:r>
          </a:p>
        </p:txBody>
      </p:sp>
      <p:sp>
        <p:nvSpPr>
          <p:cNvPr id="23" name="pager-pill">
            <a:extLst xmlns:a="http://schemas.openxmlformats.org/drawingml/2006/main">
              <a:ext uri="{FF2B5EF4-FFF2-40B4-BE49-F238E27FC236}">
                <a16:creationId xmlns:a16="http://schemas.microsoft.com/office/drawing/2014/main" id="{60447FD4-9F30-4FAE-BF6F-6931AC763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4B98BE4-D696-4049-B25C-93DFD1433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E5492E3-E685-4770-B116-4AA8B815B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B0ED0B1-D00A-47CF-818B-CC37B6EFD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C1CCB0E-5D95-4DF0-9738-8C41889DA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02 / 14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09D812A-091B-4013-B769-E20024633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28098673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F7ABB2A-48C2-4336-BB6E-15930011A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398326-1211-4954-9DA3-0DB87AF77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B2BD1E-903D-47D4-B8AA-4779EACDC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0CF064-678F-4162-BCA8-D286007B2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239AD0-8C19-4B8C-A9EE-9387B27A4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A4B6D7-F6F4-40AD-99FA-B76D227EA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PARTNER VALUE FRAME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558F0E-50A4-4173-983D-B0305C514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52EAE1-54C1-48E6-960D-46A4EB05B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42875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WHY ORGANIZATIONS ENGAGE SHIFTBY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C91132-6246-4C70-AE0A-765B44ABF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638300"/>
            <a:ext cx="10668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Value, risk, and trust are</a:t>
            </a:r>
          </a:p>
          <a:p xmlns:a="http://schemas.openxmlformats.org/drawingml/2006/main">
            <a:pPr algn="l">
              <a:defRPr sz="5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increasingly connected.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CA0DA1-7D01-4DA9-A3E5-F6808523E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429000"/>
            <a:ext cx="5334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347261-2853-44E0-9693-AB04EA16F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676650"/>
            <a:ext cx="4800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CREATE VALUE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7F74FA-D806-4297-922D-6CF64484A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33387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Clarify where AI can create meaningful value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A10484-665B-45BD-B744-BFE28DE4F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857750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Prioritize AI opportunities and investments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99D19D-2B1D-4988-94A5-F5B8BF574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38162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Improve decision quality and visibility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C72CA5-0CB3-4C02-B27F-63FDCBA8D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905500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Accelerate responsible AI adoption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1491E1-F247-430C-B909-8A1230DBB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642937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Improve organizational effectiveness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09829E-1CE9-4D34-9851-572626530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429000"/>
            <a:ext cx="5334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379FF8-64DF-4A29-8AAF-6BF4D607B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676650"/>
            <a:ext cx="4800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REDUCE RISK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A31CC0D-CF23-4EA6-808F-DBDAB5269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33387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Strengthen governance and oversight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A1E1004-12FC-486D-A43E-3D445CC5B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857750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Improve audit readiness and assurance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0B499D2-D31D-4FD7-86ED-FD0E1DF8B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538162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Address AI security and privacy concerns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1714B1-E176-43A7-BB44-BA0F90804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5905500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Improve accountability and traceability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E22D918-7205-46F1-A427-F35C6D51E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642937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Improve visibility of AI-related risks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302169E-362F-41F1-BC0C-CCC6B1B96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3429000"/>
            <a:ext cx="5334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6520FDD-4B57-488D-8A7A-3B0C67295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3676650"/>
            <a:ext cx="4800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PRESERVE TRUST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B8D75B2-EC7F-4A05-A3F9-811220332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433387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Preserve organizational knowledge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01FF1B7-D1E0-4A8E-82D5-1950621FD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4857750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Maintain explainability of important decisions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589460E-9FAC-4065-A839-4AAAC7752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538162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Retain rationale as systems evolve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EAC891D-F1F6-452C-88C3-1EB9DCBD2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5905500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Maintain accountability as execution changes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F19AEC6-7ECB-4F96-B9ED-5BAB1E764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642937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Increase confidence in AI-enabled operations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F4AAE9D-291B-4A67-BF54-C17F0B610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80010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F54BF0C-D9CA-42EB-ABFF-33E740256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833437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Understanding helps organizations navigate all</a:t>
            </a:r>
          </a:p>
          <a:p xmlns:a="http://schemas.openxmlformats.org/drawingml/2006/main">
            <a:pPr algn="l">
              <a:defRPr sz="31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three.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698C36A-DF39-4D48-8966-3AA618062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D511FF9-7E17-4001-BD27-45E38CB32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A partner should be able to connect ShiftBy to value creation, risk reduction, and trust preservation.</a:t>
            </a:r>
          </a:p>
        </p:txBody>
      </p:sp>
      <p:sp>
        <p:nvSpPr>
          <p:cNvPr id="35" name="pager-pill">
            <a:extLst xmlns:a="http://schemas.openxmlformats.org/drawingml/2006/main">
              <a:ext uri="{FF2B5EF4-FFF2-40B4-BE49-F238E27FC236}">
                <a16:creationId xmlns:a16="http://schemas.microsoft.com/office/drawing/2014/main" id="{177C63C2-E3BB-4A56-97DF-4B717B01D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C3C7456-2C05-4DA5-BE96-4990E4D1C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D47ACD2-B87D-41AC-B98F-E7A073E5A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9D0A576-4040-4346-8173-4CF68D285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183BED1-B646-418F-BF38-00B347778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03 / 14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8F153BA-60DC-499A-A70A-B20B6E243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206379415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5C754D3-D9AD-4289-A120-1C320913D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8FAC2A-04E6-41AB-9F62-D723E361A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BDE391-F6BF-450B-A02E-94F704A19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A1D29E-2089-499D-82DF-FDD56E3AD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5D884F-20B2-4AC7-864E-3837B4F4B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691089-E6BB-40FE-B075-B36CAF866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INDUSTRY RECOGNITION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98400B-2636-431E-8455-8E8886FAC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136BC7-BB0D-474C-833B-B9ECE0971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4097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INDUSTRIES WHERE SIMILAR CONVERSATIONS FREQUENTLY ARISE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9CA3DA-8428-4336-995A-24481FBFE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638300"/>
            <a:ext cx="10477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Different industries. Similar</a:t>
            </a:r>
          </a:p>
          <a:p xmlns:a="http://schemas.openxmlformats.org/drawingml/2006/main">
            <a:pPr algn="l">
              <a:defRPr sz="5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challenges around confidence.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FD58B2-0AC4-4E28-8F08-2191CCD87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429000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1BDD4C-E436-4828-9455-89382DE63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23862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Pharmaceuticals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26BF0D-9552-4246-90E1-FEF95CE62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429000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91E59A-025F-47F6-A490-1A5C47DC7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423862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Consumer Health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6C1994-A515-492D-B488-9A1B01ADC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429000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5CD414-DCAB-4654-B458-79C2B7AF8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23862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Medical Technology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57751F-1C97-40A1-B940-1A06D53C6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6875" y="3429000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5F623A-9E0D-43CF-8A0B-79FD7FE91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63575" y="423862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Manufacturing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294259-9D4E-4AA2-9CC9-2C36655D5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857750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2F4725-48C6-45F8-8B82-3D76A6151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6673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Supply Chain &amp; Logistics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6B04F2C-8EF6-4E5E-80BC-29BC65E45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857750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E765878-18A9-42BC-905A-432AA4EF5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56673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Technology &amp; Digital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8F2D329-FA14-4D48-B2D0-BB7BF2E70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857750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1EEC209-A77B-4272-B9AC-525308631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56673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Professional Services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B16B208-8AD6-4FCC-9E4E-02A2723E1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81990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17AC470-28CE-4BBF-A179-D1A20EA3E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7143750"/>
            <a:ext cx="10668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Different industries.</a:t>
            </a:r>
          </a:p>
          <a:p xmlns:a="http://schemas.openxmlformats.org/drawingml/2006/main">
            <a:pPr algn="l">
              <a:defRPr sz="37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Similar challenges around change, knowledge,</a:t>
            </a:r>
          </a:p>
          <a:p xmlns:a="http://schemas.openxmlformats.org/drawingml/2006/main">
            <a:pPr algn="l">
              <a:defRPr sz="37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accountability, and confidence.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A4B23FE-D798-4DE3-968F-9C8FFB7A2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C464D12-768A-4FF7-9FBE-FB44A1BF7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Use this slide to help partners recognize familiar industry contexts.</a:t>
            </a:r>
          </a:p>
        </p:txBody>
      </p:sp>
      <p:sp>
        <p:nvSpPr>
          <p:cNvPr id="28" name="pager-pill">
            <a:extLst xmlns:a="http://schemas.openxmlformats.org/drawingml/2006/main">
              <a:ext uri="{FF2B5EF4-FFF2-40B4-BE49-F238E27FC236}">
                <a16:creationId xmlns:a16="http://schemas.microsoft.com/office/drawing/2014/main" id="{4786DDF7-6741-4BBE-963B-194AA7951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9B9276D-0D0C-43EA-B6C8-AC7D8FC25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1E2AD7D-FDBF-434F-B51D-831A1C85E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3D5DE4E-4926-43AE-A773-AD27215B4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B608FF0-3B06-445B-9463-65A0DC49A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04 / 14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10E69D9-102C-460D-B68D-8BE4CDF41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209207377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4D7F17D-D606-49BA-A2A4-0C018B632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43C420-5A69-4FA1-9E4C-E515569C0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0F5047-9AFC-4347-AFE5-EA1084E3A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72B15B-49EA-4A84-859B-0AF75D702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5539DD-0D3B-4C91-AA43-BFF617FDF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DCA6E1-1F5A-4DC4-B754-4EBB407A9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ORGANIZATIONAL RECOGNITION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7AD49E-211E-4AAA-8DC0-49F274C7F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70D534-C883-4862-A960-BBF5AE0E0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40970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BUSINESS FUNCTIONS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F560D8-4068-48D0-BF0B-BE6B6CAD6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638300"/>
            <a:ext cx="10668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 conversations often</a:t>
            </a:r>
          </a:p>
          <a:p xmlns:a="http://schemas.openxmlformats.org/drawingml/2006/main">
            <a:pPr algn="l">
              <a:defRPr sz="5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start where responsibility,</a:t>
            </a:r>
          </a:p>
          <a:p xmlns:a="http://schemas.openxmlformats.org/drawingml/2006/main">
            <a:pPr algn="l">
              <a:defRPr sz="5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change, and control meet.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F4D766-2ADC-4737-8818-62A75644E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10527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591B9A-354E-44E6-B834-3F79F8614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9434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Executive Leadership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EE356A-B95E-48E1-AEEB-874833BB2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10527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032F8C-931C-42F1-A4D1-E3FD31A5C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49434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Research &amp; Development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B36B37-67CB-4AAD-85F3-28F4A50A5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10527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FB254E-CBDF-421E-BF07-6A0805C61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9434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Manufacturing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808114-F2BD-43DE-93AB-1A8818F57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6875" y="410527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4C55E9-0BF6-4D9E-8BA5-0A87F4A03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63575" y="49434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Supply Chain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72E265-C418-498E-A4CE-E3A7B2240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53402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430D40-4455-46A8-A110-28CDEF0A7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637222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Quality &amp; Compliance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BC919E5-228F-45BE-8DFA-29045768A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553402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D839810-BB36-42CC-8FFE-DB29D88AD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637222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Procurement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C83677B-19B3-425D-B409-13B3D1732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53402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D7193C7-FEF8-41EF-8B52-1A58F9DFA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637222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Technology &amp; Digital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95B2D1C-481B-4867-ACA4-C853579B3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6875" y="553402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FC1259E-3102-45D3-8D57-10E6D92AE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63575" y="637222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Data &amp; AI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CCCF00B-426E-4FBF-802A-910D55290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96277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DA2B6A1-B060-4F13-AB3E-6539522FE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78009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Enterprise Architecture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2A36830-51EB-48DD-A40C-9124A5B4F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696277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ADE5979-85F9-4030-842B-9877E958A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78009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Risk &amp; Governance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075E94C-CB52-4EA1-8D62-074825565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96277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75E244B-D110-485A-935D-752654ABE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78009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Internal Audit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84FF0D7-604B-480E-A366-62DC78C40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6875" y="696277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6DA6C43-91AE-4495-B0E3-CE9B88935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63575" y="78009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Transformation Offices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8940474-D455-4B30-BED7-5C3241A98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85725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19DD42F-3CBE-4A51-A8BE-69FD9A824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874395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5A6473"/>
                </a:solidFill>
                <a:latin typeface="Arial"/>
                <a:ea typeface="Arial"/>
                <a:cs typeface="Arial"/>
              </a:rPr>
              <a:t>Many functions inherit AI-enabled change</a:t>
            </a:r>
          </a:p>
          <a:p xmlns:a="http://schemas.openxmlformats.org/drawingml/2006/main">
            <a:pPr algn="l">
              <a:defRPr sz="1950" b="1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5A6473"/>
                </a:solidFill>
                <a:latin typeface="Arial"/>
                <a:ea typeface="Arial"/>
                <a:cs typeface="Arial"/>
              </a:rPr>
              <a:t>before they own it.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C78F280-15B1-434A-87D3-97F064421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4C2E53A-3A29-4BE7-8FCC-7BC7F7294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Many functions inherit AI-enabled change before they own it.</a:t>
            </a:r>
          </a:p>
        </p:txBody>
      </p:sp>
      <p:sp>
        <p:nvSpPr>
          <p:cNvPr id="38" name="pager-pill">
            <a:extLst xmlns:a="http://schemas.openxmlformats.org/drawingml/2006/main">
              <a:ext uri="{FF2B5EF4-FFF2-40B4-BE49-F238E27FC236}">
                <a16:creationId xmlns:a16="http://schemas.microsoft.com/office/drawing/2014/main" id="{F4F77F2C-8893-4CD4-AF76-AAB9CF353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E82E232-3578-43FA-A03C-5840F3D6A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C1A81C5-4E14-45FB-B620-C9147F9D5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7B86DBD-A569-4DBC-9986-6204B8D98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0627884-1900-4AEA-88C0-FF70D56F8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05 / 14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7559963-A008-4D85-8FD4-EEDC5A31B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2826855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535D033-FBDB-4A94-9C7E-38EAAA8FA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FF7DAF-2E26-4E3E-B14A-6BE6FB722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932924-B608-470B-B741-629450C34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5A1E1E-77DB-45E9-BD11-183E56E05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F4BFAF-2AD0-4915-96A6-2563DDCC3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C99E2A-14E4-4969-8B2A-6BA0A22C9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REFERRAL TRIGGERS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839218-393D-41EF-B16B-76AD8674E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80B16A-E9A8-4917-840C-C8DAF7BC5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40970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TYPICAL SITUATIONS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1EF0BB-CF8F-42E1-9755-7838BA9D5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638300"/>
            <a:ext cx="88582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When you hear this,</a:t>
            </a:r>
          </a:p>
          <a:p xmlns:a="http://schemas.openxmlformats.org/drawingml/2006/main">
            <a:pPr algn="l">
              <a:defRPr sz="48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there may be a ShiftBy conversation.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407786-F52D-437B-8694-AE8CC2F79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095750"/>
            <a:ext cx="319087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1F4965-2B26-4147-BA63-72CD56958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3624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066E2C-DBCE-43F6-AD7B-15DC8D2AC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886450"/>
            <a:ext cx="26574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We are exploring AI but do not know where to start.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AB66C8-7D63-4686-B172-0A99F2D5A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095750"/>
            <a:ext cx="319087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F73818-2DAB-4BD2-A716-FCC558E65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43624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BE2AE6-DDD6-4F39-AE2D-E52F1C2E0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5886450"/>
            <a:ext cx="26574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We have many AI ideas but cannot prioritize.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80BB04-C250-44DD-8AAC-52E0BC2B1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095750"/>
            <a:ext cx="319087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A7324B-AEFB-4C94-A8A9-0ECCDCD9B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3624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EE99D9-CAAC-401A-83CF-8B134D6CB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886450"/>
            <a:ext cx="26574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We need governance, audit readiness, and oversight.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44B50A-ADA5-44F7-B762-F4E37E1A8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4095750"/>
            <a:ext cx="319087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B4F030-8821-403F-85DC-C0F7C6084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43624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CFAD1D3-D5A7-4693-8225-D79740889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5886450"/>
            <a:ext cx="26574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We are introducing AI agents into operational workflows.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8843A8B-9DBA-4EC3-AD05-3403E0E9A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4095750"/>
            <a:ext cx="319087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B4791D9-B181-4334-AAEE-F08D93122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8450" y="43624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F03F0B8-A744-44EC-BBFB-F4C3E367F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8450" y="5886450"/>
            <a:ext cx="26574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We are concerned about losing critical knowledge.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0DBBB2B-409C-42DC-BF94-6C8F9A2E4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FF97F9B-FAED-4085-903E-E38D72426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This is the partner's recognition slide: listen for uncertainty, prioritization, trust, operations, and knowledge loss.</a:t>
            </a:r>
          </a:p>
        </p:txBody>
      </p:sp>
      <p:sp>
        <p:nvSpPr>
          <p:cNvPr id="27" name="pager-pill">
            <a:extLst xmlns:a="http://schemas.openxmlformats.org/drawingml/2006/main">
              <a:ext uri="{FF2B5EF4-FFF2-40B4-BE49-F238E27FC236}">
                <a16:creationId xmlns:a16="http://schemas.microsoft.com/office/drawing/2014/main" id="{D1DEE4FD-C088-4085-9344-13936B5CA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433635F-089C-420C-947A-B79B3DD4D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73927FD-2995-4BA0-856A-3F0A69C20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98C4898-DD37-4F5B-A3EB-B8FCA99AC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2F7A5E1-CA23-44CB-A994-0C425AE8F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06 / 14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77E7ABC-137A-4F68-A73E-824D1B48A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3352575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55398B2-945E-4A95-9BD0-8B17A5D0F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24EF3C-0339-4236-A54E-B3A443FA1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DD8496-D402-4D59-AED5-C1B61DD0D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6D6905-7A1C-4F99-B318-07492F4DE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9BE3CB-0744-43F9-9C6F-800140ED3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EFF653-2DE9-409E-8B68-18C982EF6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CONVERSATION DOMAIN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DA2E75-2C2D-46CE-A5BE-255AC7DBF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39A015-3548-4FF1-BA83-9DD7FA177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47750"/>
            <a:ext cx="838200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B"/>
          </a:solidFill>
          <a:ln xmlns:a="http://schemas.openxmlformats.org/drawingml/2006/main" w="0">
            <a:solidFill>
              <a:srgbClr val="F7F6F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DCCCE2-6DCE-40CF-9C5D-3CFD19BB0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9552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PREPARING FOR AI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A32C8A-C1D9-4EC6-A831-0426800BF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990850"/>
            <a:ext cx="51435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Readiness</a:t>
            </a:r>
          </a:p>
          <a:p xmlns:a="http://schemas.openxmlformats.org/drawingml/2006/main">
            <a:pPr algn="l">
              <a:defRPr sz="48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&amp; Enablement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5A74E8-E347-4B7B-94DF-5068F4100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19700"/>
            <a:ext cx="5143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REDUCE UNCERTAINTY BEFORE</a:t>
            </a:r>
          </a:p>
          <a:p xmlns:a="http://schemas.openxmlformats.org/drawingml/2006/main">
            <a:pPr algn="l">
              <a:defRPr sz="2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MAJOR AI DECISIONS.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3B8A6F-1BF2-4A41-85AF-B7047229E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1619250"/>
            <a:ext cx="5905500" cy="5905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71450">
            <a:solidFill>
              <a:srgbClr val="E8EAF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91C7C6-9941-4960-B0A1-6C8620268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0" y="3429000"/>
            <a:ext cx="2286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A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39DE94-BF13-4065-97CA-CE5AA554E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676525"/>
            <a:ext cx="3857625" cy="1222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1FDB60-C83C-4059-A33E-A6A1445E7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3486150"/>
            <a:ext cx="33623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Executive workshops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C312ED-95C0-4173-918E-C7A1712BE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2676525"/>
            <a:ext cx="3857625" cy="1222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A918FC-071F-48E9-93D7-B17EAABD5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3486150"/>
            <a:ext cx="33623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literacy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F4C4A0-93E9-4A27-B36C-6F1BB77D9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898900"/>
            <a:ext cx="3857625" cy="1222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6FF1F4-C985-4A5A-A994-C3F8E9F22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4708525"/>
            <a:ext cx="33623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Data readiness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151163-D9D8-4E99-823B-771FE0BFA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3898900"/>
            <a:ext cx="3857625" cy="1222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04A0FF0-C46A-48BB-ACE7-B86C8BF7A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4708525"/>
            <a:ext cx="33623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Knowledge readiness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C3A6CFE-5218-4EC1-8C2F-09248EEDD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5121275"/>
            <a:ext cx="3857625" cy="1222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EB45881-3990-4F00-A61C-F464AA073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5930900"/>
            <a:ext cx="33623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Governance readiness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46B5627-69E0-4F9F-A024-9DA8412D7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5121275"/>
            <a:ext cx="3857625" cy="1222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FCC4E03-F838-45C5-8587-9B8027127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5930900"/>
            <a:ext cx="33623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Workforce readiness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505549C-9AA6-47F6-8327-C6C8C48BE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6457950"/>
            <a:ext cx="7715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624C3EA-05A2-401E-B1BE-53606B256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678180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Organizations often know AI matters.</a:t>
            </a:r>
          </a:p>
          <a:p xmlns:a="http://schemas.openxmlformats.org/drawingml/2006/main">
            <a:pPr algn="l">
              <a:defRPr sz="2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The harder question is whether their data, knowledge,</a:t>
            </a:r>
          </a:p>
          <a:p xmlns:a="http://schemas.openxmlformats.org/drawingml/2006/main">
            <a:pPr algn="l">
              <a:defRPr sz="2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people, governance, and operating model are ready.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A3B3E69-D9D7-4E17-B08E-2C3860BB2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FE24B86-8130-449D-890E-68D868A62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Purpose: Map situations to conversation domain.</a:t>
            </a:r>
          </a:p>
        </p:txBody>
      </p:sp>
      <p:sp>
        <p:nvSpPr>
          <p:cNvPr id="30" name="pager-pill">
            <a:extLst xmlns:a="http://schemas.openxmlformats.org/drawingml/2006/main">
              <a:ext uri="{FF2B5EF4-FFF2-40B4-BE49-F238E27FC236}">
                <a16:creationId xmlns:a16="http://schemas.microsoft.com/office/drawing/2014/main" id="{7D157A24-E7ED-475C-9059-20BF3B592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5A831BC-BEE0-400B-8728-E77CB60E0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5691C68-4AF6-44DE-B586-3A272969C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EBE7B4C-8C11-415F-9727-7856281C2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09F4D7E-5ACB-44B3-A16F-84B099110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07 / 14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A63DAA6-97CD-41CA-BE57-7B61CBAFA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5523763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D2DD1F6-F7CA-46A4-8CC6-3BA51E6EA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A006D2-6098-43FD-84EF-2841CBB92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438957-0F1B-4BBC-945C-F7B2B0E60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6F6B52-57E8-4BBE-B0D2-08E650510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0AAEC0-782B-468B-A54F-72FF41BC7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A1FEEE-9C92-4D05-A4B5-EFAD4B649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BUSINESS VALUE CONVERSATION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1A3A1C-99CA-40AB-8C27-287EC4D73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5FFE98-AB60-43A5-A5D6-6C53134EB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47750"/>
            <a:ext cx="838200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B"/>
          </a:solidFill>
          <a:ln xmlns:a="http://schemas.openxmlformats.org/drawingml/2006/main" w="0">
            <a:solidFill>
              <a:srgbClr val="F7F6F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66A829-88A2-4B8A-A6C5-3735171D5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95525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CHOOSING WHERE TO ACT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DE1D2E-D10F-4A13-BE09-C3F8DCC23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990850"/>
            <a:ext cx="666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Adoption &amp;</a:t>
            </a:r>
          </a:p>
          <a:p xmlns:a="http://schemas.openxmlformats.org/drawingml/2006/main">
            <a:pPr algn="l">
              <a:defRPr sz="45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Transformation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BC8E07-092B-46C5-B7A5-06642CEEB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762500"/>
            <a:ext cx="5905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TURN AI INTEREST INTO</a:t>
            </a:r>
          </a:p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FOCUSED BUSINESS VALUE.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A6643D-BD46-422F-AF61-16E88770B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1524000"/>
            <a:ext cx="5905500" cy="5905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71450">
            <a:solidFill>
              <a:srgbClr val="E8EAF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31AC34-B73E-47D1-88DE-628ACA6C3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0" y="3333750"/>
            <a:ext cx="2286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A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5384A6-8A9A-45D7-BFE8-8C3D85EFD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667000"/>
            <a:ext cx="781050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140875-545D-4D30-AA4E-FB843B47A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952875"/>
            <a:ext cx="781050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C0DE5F-AC53-4124-A3DE-EBA0F316D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5238750"/>
            <a:ext cx="3857625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B234E7-6579-4038-B42C-DAA430928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0" y="5238750"/>
            <a:ext cx="3857625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196450-8397-445E-8BF6-D7D9628D4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31432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Opportunity assessment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1ADEF1-9D76-4A2E-A2BF-34F045E52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31432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Use-case prioritization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244C2E-31A7-4BB3-991E-39D9C3DBC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44196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Business process analysis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7DD1895-E314-4D03-95D9-B22CBF94C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44196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roadmaps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B8A6022-C26F-4AB6-9640-6009DE4E9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5581650"/>
            <a:ext cx="323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Operating model</a:t>
            </a:r>
          </a:p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considerations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8923367-0E5E-47FE-B8DE-80BB422B2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6705600"/>
            <a:ext cx="781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B014A81-8213-4982-A019-47F9D2CA5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6991350"/>
            <a:ext cx="7429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Organizations often have more AI ideas</a:t>
            </a:r>
          </a:p>
          <a:p xmlns:a="http://schemas.openxmlformats.org/drawingml/2006/main">
            <a:pPr algn="l">
              <a:defRPr sz="2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than they can realistically pursue.</a:t>
            </a:r>
          </a:p>
          <a:p xmlns:a="http://schemas.openxmlformats.org/drawingml/2006/main">
            <a:pPr algn="l">
              <a:defRPr sz="2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The challenge is determining where value</a:t>
            </a:r>
          </a:p>
          <a:p xmlns:a="http://schemas.openxmlformats.org/drawingml/2006/main">
            <a:pPr algn="l">
              <a:defRPr sz="2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may emerge, what should be prioritized,</a:t>
            </a:r>
          </a:p>
          <a:p xmlns:a="http://schemas.openxmlformats.org/drawingml/2006/main">
            <a:pPr algn="l">
              <a:defRPr sz="2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and where ownership should remain visible.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DD6EDDE-72FC-4E77-B58F-9BA672503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7E88D6C-8C6D-4016-A535-4C5CDCF90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Organizations often have more AI ideas than they can realistically pursue.</a:t>
            </a:r>
          </a:p>
        </p:txBody>
      </p:sp>
      <p:sp>
        <p:nvSpPr>
          <p:cNvPr id="27" name="pager-pill">
            <a:extLst xmlns:a="http://schemas.openxmlformats.org/drawingml/2006/main">
              <a:ext uri="{FF2B5EF4-FFF2-40B4-BE49-F238E27FC236}">
                <a16:creationId xmlns:a16="http://schemas.microsoft.com/office/drawing/2014/main" id="{FBF1503B-DD9A-4C1A-8707-9D03B48D0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9086800-D67C-44A6-B837-476D3D9CC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8D4FF41-40F5-4638-9CE2-93C31B78A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D6E3251-559C-4D08-A0D4-2D1D952F3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629A7B1-E22E-49CA-A76F-7E77FF022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08 / 14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8D54787-0944-4D03-91ED-A7DC55BA5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171363578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2750E00-E204-4F25-B2EC-91B0C9770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728AE6-7538-4EA8-B426-39C4DF8D0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507CB8-46C2-4D49-89C1-0D1A2C223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23E83C-8949-4DF5-A4A7-B8F8D23C8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CC896D-2950-403C-A2D8-3ED25E351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72F7E3-629A-47EA-97C3-654DED513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TRUST AND OVERSIGHT CONVERSATION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F391C1-1CA1-4D3F-9B13-444361FAB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3B66B3-FC76-4B9F-B3D9-440CC50A3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47750"/>
            <a:ext cx="838200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B"/>
          </a:solidFill>
          <a:ln xmlns:a="http://schemas.openxmlformats.org/drawingml/2006/main" w="0">
            <a:solidFill>
              <a:srgbClr val="F7F6F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42902D-1F65-4DF8-9DE9-97A1461F8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95525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PRESERVING TRUST AS EXECUTION CHANGES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A7471D-0CF6-4222-B4A5-825E54546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990850"/>
            <a:ext cx="5334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Governance,</a:t>
            </a:r>
          </a:p>
          <a:p xmlns:a="http://schemas.openxmlformats.org/drawingml/2006/main">
            <a:pPr algn="l">
              <a:defRPr sz="48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Safety &amp; Resilience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52A513-653D-40E3-A993-35EF77623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19700"/>
            <a:ext cx="5048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PRESERVE TRUST WHILE REDUCING</a:t>
            </a:r>
          </a:p>
          <a:p xmlns:a="http://schemas.openxmlformats.org/drawingml/2006/main">
            <a:pPr algn="l">
              <a:defRPr sz="2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OPERATIONAL AND GOVERNANCE RISK.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56FB40-1BC4-4ADA-A2DB-5BACE6B68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1524000"/>
            <a:ext cx="5905500" cy="5905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71450">
            <a:solidFill>
              <a:srgbClr val="E8EAF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5F8EBD-8BEA-4481-BC6F-6CD268E32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0" y="3333750"/>
            <a:ext cx="2286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A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D3EB8A-5C47-470D-9A69-60656595A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142875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F7E31C-4BF6-4F26-8AF9-544E8A57E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1857375"/>
            <a:ext cx="3362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Responsible AI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E767E6-78AE-42F3-AA83-A97030B08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142875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D20E73-E7E9-4ED2-93CF-16D7C160A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1857375"/>
            <a:ext cx="3362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governance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E3D231-CA77-42DC-AD42-DC64B118A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66700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DF020F-BF01-4752-9F8B-4196C59FF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3095625"/>
            <a:ext cx="3362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risk management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98C315B-DC1F-4CF2-99A9-39913722B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266700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5763F60-A1FA-45D7-9937-8C3E9C9FF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3095625"/>
            <a:ext cx="3362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security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8048CCB-D449-495B-8765-E07F22535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90525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A11B2AB-EDEA-4BA5-839D-B7C74938A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4333875"/>
            <a:ext cx="3362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safety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402544F-45A9-44AE-9C74-7E6F27808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390525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EDF8E6A-A21C-4A58-B75E-91860EE9E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4333875"/>
            <a:ext cx="3362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Data privacy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7F20E54-F2FC-41E5-A1AB-F4F25F154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514350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008A630-7B9C-428E-B922-E4A08B75B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5572125"/>
            <a:ext cx="3362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assurance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FB34102-4654-4EB4-BA1C-DBFF62A35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514350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FAA8AC9-302D-4480-B777-DAE7C2EEB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5572125"/>
            <a:ext cx="3362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Audit readiness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F1B74B1-96FA-4DAC-B4FB-81AFB41BC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6381750"/>
            <a:ext cx="38576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667D74D-4AE7-4D2A-B522-836897157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7246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Third-party AI risk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AD58217-CCEB-4A29-A9AC-4C5261C53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7839075"/>
            <a:ext cx="781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C858992-71C2-48E7-9394-E806DC5F4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7962900"/>
            <a:ext cx="7810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As AI adoption grows, organizations</a:t>
            </a:r>
          </a:p>
          <a:p xmlns:a="http://schemas.openxmlformats.org/drawingml/2006/main">
            <a:pPr algn="l">
              <a:defRPr sz="27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increasingly need decisions that can be</a:t>
            </a:r>
          </a:p>
          <a:p xmlns:a="http://schemas.openxmlformats.org/drawingml/2006/main">
            <a:pPr algn="l">
              <a:defRPr sz="27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explained, reviewed, governed, and defended.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C887820-2C45-4F51-9A49-0FE21B0D1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732F128-6A50-4B1B-9278-BA9D31BC9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Purpose: Trust and oversight conversation.</a:t>
            </a:r>
          </a:p>
        </p:txBody>
      </p:sp>
      <p:sp>
        <p:nvSpPr>
          <p:cNvPr id="36" name="pager-pill">
            <a:extLst xmlns:a="http://schemas.openxmlformats.org/drawingml/2006/main">
              <a:ext uri="{FF2B5EF4-FFF2-40B4-BE49-F238E27FC236}">
                <a16:creationId xmlns:a16="http://schemas.microsoft.com/office/drawing/2014/main" id="{6481C50A-A8B1-48F1-AC0F-F90F1AEB3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3648068-6371-44BF-8C7F-F905CFF7A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C4CAAF2-A2F6-4C45-9AEA-A2CF502DE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EE844B4-85E9-4360-ACB0-AF9C62674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9314DC9-90D2-497B-9247-FDAC3E283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09 / 14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32F6518-845A-4256-809C-72C6D3D6B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80015758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0AB49EE-FE14-4CF8-9015-C42E94F15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DD1C55-63DD-4D37-B126-162C94561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41805D-1DF7-4322-883C-296165C2A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DD6866-6AA6-4D0A-9F21-3FE4932D3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CA082A-3C93-4A20-884C-2CA1D6F53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91A471-B22C-41AC-8F1B-F5416CF5A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FUTURE-STATE OPERATIONS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685F88-A875-42F7-983A-DD882D7EC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668AB6-4FB0-46C6-A6A0-B422AD8BC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47750"/>
            <a:ext cx="838200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B"/>
          </a:solidFill>
          <a:ln xmlns:a="http://schemas.openxmlformats.org/drawingml/2006/main" w="0">
            <a:solidFill>
              <a:srgbClr val="F7F6F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35470E-3078-46CF-81DE-E6E1E362D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95525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IMPROVING WORK WITHOUT LOSING CONTEXT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DCBC6B-BD30-4671-BBA6-95234263D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990850"/>
            <a:ext cx="5143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Agents &amp;</a:t>
            </a:r>
          </a:p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Intelligent</a:t>
            </a:r>
          </a:p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Operations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0910AF-944A-467E-9752-C24C92E6F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667375"/>
            <a:ext cx="495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IMPROVE WORK WITHOUT LOSING</a:t>
            </a:r>
          </a:p>
          <a:p xmlns:a="http://schemas.openxmlformats.org/drawingml/2006/main">
            <a:pPr algn="l">
              <a:defRPr sz="2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ACCOUNTABILITY OR CONTEXT.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28B23B-42C1-47E2-B43E-16CB51C63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1524000"/>
            <a:ext cx="5905500" cy="5905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71450">
            <a:solidFill>
              <a:srgbClr val="E8EAF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E5074A-F77B-45FF-8398-048C74F54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0" y="3333750"/>
            <a:ext cx="2286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A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9554C9-7E24-4FBC-84B6-56906E895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66700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03136C-1BB9-4C18-BB16-255A888AE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3095625"/>
            <a:ext cx="33623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agents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D7B89D-6F29-4189-B486-1E4ED2022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266700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4EFEF0-19A6-4F4E-BF5E-095B7D82F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3095625"/>
            <a:ext cx="33623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Human-AI collaboration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8F57DE-51D1-4EA6-AC90-B0CFE014D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90525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414F73-F207-403A-884D-651320872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4333875"/>
            <a:ext cx="33623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Knowledge-</a:t>
            </a:r>
          </a:p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connected workflows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665A8B6-42A6-4AE1-89FC-A2C527D0F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390525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290E018-D2C0-4127-84BC-537C4ADA7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4333875"/>
            <a:ext cx="33623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Traceability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003B0AD-945F-4276-B900-0CAE8A9B2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514350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5CB4BB7-C43B-488F-A822-69C7CFF60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5572125"/>
            <a:ext cx="33623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Governed artifact generation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2C38B7B-8A69-44C1-8F21-77F70D7F3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6610350"/>
            <a:ext cx="781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E88C9BC-FBA9-429B-8B55-1250069B3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6915150"/>
            <a:ext cx="7524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As AI becomes part of operational</a:t>
            </a:r>
          </a:p>
          <a:p xmlns:a="http://schemas.openxmlformats.org/drawingml/2006/main">
            <a:pPr algn="l">
              <a:defRPr sz="34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execution, understanding, traceability,</a:t>
            </a:r>
          </a:p>
          <a:p xmlns:a="http://schemas.openxmlformats.org/drawingml/2006/main">
            <a:pPr algn="l">
              <a:defRPr sz="34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and ownership must remain visible.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C215471-0027-4EF0-87BF-12760B940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16D9FB1-4792-4DC7-A13A-020969315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Purpose: Future-state operational conversation.</a:t>
            </a:r>
          </a:p>
        </p:txBody>
      </p:sp>
      <p:sp>
        <p:nvSpPr>
          <p:cNvPr id="28" name="pager-pill">
            <a:extLst xmlns:a="http://schemas.openxmlformats.org/drawingml/2006/main">
              <a:ext uri="{FF2B5EF4-FFF2-40B4-BE49-F238E27FC236}">
                <a16:creationId xmlns:a16="http://schemas.microsoft.com/office/drawing/2014/main" id="{1B324D94-910F-4F91-85B7-2D4A20EF0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1145EE0-B315-4A3D-92F0-68C02039C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48D368F-1A44-4F5A-BA12-6E6BF464D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9587584-FC94-4C71-A893-C98BC6FD0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B3AFAC0-ECE9-4725-AAF1-D75B110A7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10 / 14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45FA03C-D27A-4CBF-B50D-7CF3B748A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14771494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0EA9C55-18A9-4AA1-A7FB-656E0B6A1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427711-71F2-4658-BAE9-365F06739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5DF3DE-2F50-4E3B-A632-7285ECBB7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E278A6-8B0D-4D39-B789-D40222BD5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BAAEFF-8CDC-4DFF-9D09-54B1F95E9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53836E-D354-4A76-B4F8-F5A23172D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DIFFERENTIATION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038F1C-6FCD-4441-B3AB-FBF4FE6B5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A71CB0-C560-4A76-AB8B-D7EFF6600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3DB42D-554A-4412-B829-E3AD27F0B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66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0F8"/>
          </a:solidFill>
          <a:ln xmlns:a="http://schemas.openxmlformats.org/drawingml/2006/main" w="0">
            <a:solidFill>
              <a:srgbClr val="F7F0F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86E6D9-C8CB-4363-9640-D4A18D119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0027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WHY SHIFTBY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6F9A18-1A4F-4DDD-9FFE-E7417B659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724150"/>
            <a:ext cx="78105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Organizations rarely need</a:t>
            </a:r>
          </a:p>
          <a:p xmlns:a="http://schemas.openxmlformats.org/drawingml/2006/main">
            <a:pPr algn="l">
              <a:defRPr sz="49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more technology.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42DA5B-63E4-4EB6-BD46-DE4B6A3B1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619750"/>
            <a:ext cx="933450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5A6473"/>
                </a:solidFill>
                <a:latin typeface="Arial"/>
                <a:ea typeface="Arial"/>
                <a:cs typeface="Arial"/>
              </a:rPr>
              <a:t>They lose clarity when decisions, knowledge, ownership, and</a:t>
            </a:r>
          </a:p>
          <a:p xmlns:a="http://schemas.openxmlformats.org/drawingml/2006/main">
            <a:pPr algn="l">
              <a:defRPr sz="2550" b="1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5A6473"/>
                </a:solidFill>
                <a:latin typeface="Arial"/>
                <a:ea typeface="Arial"/>
                <a:cs typeface="Arial"/>
              </a:rPr>
              <a:t>accountability become harder to preserve.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B79C1F-EFF7-4C3B-A0E4-283D2B468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7239000"/>
            <a:ext cx="1047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5A6473"/>
                </a:solidFill>
                <a:latin typeface="Arial"/>
                <a:ea typeface="Arial"/>
                <a:cs typeface="Arial"/>
              </a:rPr>
              <a:t>ShiftBy helps leaders preserve understanding as execution changes.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C67CEF-B70A-463C-8DD6-8DB117C29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0" y="2476500"/>
            <a:ext cx="5524500" cy="5524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71450">
            <a:solidFill>
              <a:srgbClr val="E8EAF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0F7AEA-D0E9-4444-9088-A9C2C09B2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44625" y="3857625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A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F2DD14-91CF-4115-A40C-A95EFE3B4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5572125"/>
            <a:ext cx="514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Ananda Krishna Marri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0C1A76-17AB-45AA-A9A4-8533B158C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5286375"/>
            <a:ext cx="619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F56FC1-F968-42D9-9326-FC9CC20D5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143625"/>
            <a:ext cx="609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Founder, ShiftBy | IAPP Certified AI Governance Professional (AIGP)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E3A48F-D0D0-4D9D-8FF3-AF109DB6A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7056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ShiftBy Pte. Ltd.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BF182A0-6E14-47F1-B6AE-56CDF0D7E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72390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E1420"/>
                </a:solidFill>
                <a:latin typeface="Arial"/>
                <a:ea typeface="Arial"/>
                <a:cs typeface="Arial"/>
              </a:rPr>
              <a:t>https://www.shiftby.sg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2FFC208-664A-44E7-8EA5-9ED35CD5C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7791450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E1420"/>
                </a:solidFill>
                <a:latin typeface="Arial"/>
                <a:ea typeface="Arial"/>
                <a:cs typeface="Arial"/>
              </a:rPr>
              <a:t>linkedin.com/in/anandakrishnam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BC4CB15-40F6-4B26-ABB7-452F69E91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83439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E1420"/>
                </a:solidFill>
                <a:latin typeface="Arial"/>
                <a:ea typeface="Arial"/>
                <a:cs typeface="Arial"/>
              </a:rPr>
              <a:t>anandakrishnam@shiftby.sg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FF9DE30-6BB3-4FE4-BD41-0650FF2CC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A98ED18-82D2-4265-AC64-3BF5F50C0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Purpose: Differentiation.</a:t>
            </a:r>
          </a:p>
        </p:txBody>
      </p:sp>
      <p:sp>
        <p:nvSpPr>
          <p:cNvPr id="25" name="pager-pill">
            <a:extLst xmlns:a="http://schemas.openxmlformats.org/drawingml/2006/main">
              <a:ext uri="{FF2B5EF4-FFF2-40B4-BE49-F238E27FC236}">
                <a16:creationId xmlns:a16="http://schemas.microsoft.com/office/drawing/2014/main" id="{6144C398-23AB-4B8E-B20B-D6188341E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3DB103F-CD61-4255-8EA7-86EA1EF00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DBE0994-DA2A-4A5E-97C5-D6BEC5B8D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F4FFC2A-AFFB-49BF-85E3-8250244E0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772D085-3D21-4C29-9D40-1895A1FEF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11 / 14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FD1C912-2FF9-4D2A-9410-6390E577A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134484862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2094672-AB34-4553-8147-9E5D2D645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C9A10F-7D36-4CE6-A714-7A8AA06EF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B1DAED-CAAF-46CC-96F6-6C3C9DB54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CC7A76-AEC7-47EE-A5EB-13F509086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57FE4A-3EF5-4C6D-9C04-2A808D4EA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3171C4-F8E8-4B71-BB2B-141E4A657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CAPABILITY ARCHITECTURE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32A562-B5AE-4999-90C9-98974360A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D9BA1D-58F6-485B-B1B7-4A00F0D33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42875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THE SHIFTBY CAPABILITY SYSTEM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93A1C7-F0C3-4377-908F-D6BC33092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676400"/>
            <a:ext cx="8191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Four capabilities support</a:t>
            </a:r>
          </a:p>
          <a:p xmlns:a="http://schemas.openxmlformats.org/drawingml/2006/main">
            <a:pPr algn="l">
              <a:defRPr sz="5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confidence when</a:t>
            </a:r>
          </a:p>
          <a:p xmlns:a="http://schemas.openxmlformats.org/drawingml/2006/main">
            <a:pPr algn="l">
              <a:defRPr sz="5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execution changes.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C06E00-DA3B-409C-8B6D-D002E0309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953000"/>
            <a:ext cx="3952875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255B2E-F630-4940-ADA3-6E70EC0C0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762625"/>
            <a:ext cx="34575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Decision Traceability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BCF71B-0AC1-4F6A-84E5-29DF37A1D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6896100"/>
            <a:ext cx="34575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Rationale remains visible.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A11367-37E3-41C5-BD06-AC8456C7C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953000"/>
            <a:ext cx="3952875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770F08-3476-44E0-B64D-502125E8F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5762625"/>
            <a:ext cx="34575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Organizational</a:t>
            </a:r>
          </a:p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Memory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7BF09D-3C2C-4885-A64A-80CB732DE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6896100"/>
            <a:ext cx="34575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Meaning survives change.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C6AFEB-034D-4BE3-97BC-AFF5425E2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953000"/>
            <a:ext cx="3952875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4F0459-783A-41D8-912F-9B404AD25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5762625"/>
            <a:ext cx="34575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Human-AI</a:t>
            </a:r>
          </a:p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Accountability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334908-874E-4EFD-A56B-7574FC270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6896100"/>
            <a:ext cx="34575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Responsibility stays legible.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499715-5C5B-4039-809D-BEF45A8E3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6875" y="4953000"/>
            <a:ext cx="3952875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7B5AC3E-E434-4416-B1AB-A23CCCA5B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44525" y="5762625"/>
            <a:ext cx="34575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Adaptive Execution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E0227F-2DF4-4A91-B558-D3527C338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44525" y="6896100"/>
            <a:ext cx="34575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Change remains coherent.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703A575-37B4-4D86-8C6E-899622775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E5B7E33-656C-47C5-B521-0B53FCF31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Purpose: Reveal underlying capability architecture. No deep dive.</a:t>
            </a:r>
          </a:p>
        </p:txBody>
      </p:sp>
      <p:sp>
        <p:nvSpPr>
          <p:cNvPr id="24" name="pager-pill">
            <a:extLst xmlns:a="http://schemas.openxmlformats.org/drawingml/2006/main">
              <a:ext uri="{FF2B5EF4-FFF2-40B4-BE49-F238E27FC236}">
                <a16:creationId xmlns:a16="http://schemas.microsoft.com/office/drawing/2014/main" id="{8930D7A5-B26A-42BF-8C3F-ADD408F7F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156CD34-878D-4EDF-896F-DA2639A28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4B245B0-00BE-432E-BF66-6C69EB4EA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C55014A-C4B4-4C25-B273-43E7030F0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A87F7C8-655B-421F-8252-9192624A4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12 / 14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A7F7159-D228-4DB5-8CE9-AB82E8ABD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22972509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40D9254-3C13-46F2-A9BF-A7EDF1B81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849543-99FB-4889-ADD4-964726E6A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4E0898-ECDF-463A-B6DE-8A2DA5638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D40EEB-481E-41F6-9ACF-5CA89467C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014BB7-F18D-403A-AE94-31F8F8546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8A525C-5C0A-43E8-9BED-6799CD146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REFERRAL MOMENT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AED002-0EB8-4DB8-83B7-E750225AA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E65FC4-7899-4BFE-BE12-7418F8998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6675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0F8"/>
          </a:solidFill>
          <a:ln xmlns:a="http://schemas.openxmlformats.org/drawingml/2006/main" w="0">
            <a:solidFill>
              <a:srgbClr val="F7F0F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D2201C-5176-43FE-97C4-E35F37BB5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00275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INTRODUCE SHIFTBY WHEN...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DB1340-3983-46A7-A92F-3F2E13CE5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762250"/>
            <a:ext cx="447675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Confidence</a:t>
            </a:r>
          </a:p>
          <a:p xmlns:a="http://schemas.openxmlformats.org/drawingml/2006/main">
            <a:pPr algn="l">
              <a:defRPr sz="5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needs to</a:t>
            </a:r>
          </a:p>
          <a:p xmlns:a="http://schemas.openxmlformats.org/drawingml/2006/main">
            <a:pPr algn="l">
              <a:defRPr sz="5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survive</a:t>
            </a:r>
          </a:p>
          <a:p xmlns:a="http://schemas.openxmlformats.org/drawingml/2006/main">
            <a:pPr algn="l">
              <a:defRPr sz="5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change.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49DBFE-7DE7-4639-834B-D7A80E24A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896100"/>
            <a:ext cx="4286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A partner does not need to</a:t>
            </a:r>
          </a:p>
          <a:p xmlns:a="http://schemas.openxmlformats.org/drawingml/2006/main">
            <a:pPr algn="l">
              <a:defRPr sz="25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diagnose the work. They only</a:t>
            </a:r>
          </a:p>
          <a:p xmlns:a="http://schemas.openxmlformats.org/drawingml/2006/main">
            <a:pPr algn="l">
              <a:defRPr sz="25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need to recognize the moment.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8F1D5A-CDA7-4755-A463-F963F1366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4765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D55AC0-864A-424D-956C-C72E707E6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324225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58DEA5-FA60-4FF6-8820-10BCFC1D5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28956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966C95-C9F5-4F32-A8D7-7BF3D8D05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857500"/>
            <a:ext cx="876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 new AI initiative needs a clear starting point.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721BF9-1BD0-4E20-97B4-E2ED81581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47675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4D272F-7AF2-42BD-B291-68F45EDAA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404812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9B100E-87E1-4372-9203-41F6655FE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010025"/>
            <a:ext cx="876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ideas exist, but prioritization is unclear.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84D0C1-F5A3-42E6-92C6-00C8664FE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5629275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AA02522-BE11-4C8E-A53D-882E85412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52006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58B4776-F7D6-4439-B2EB-3F30E150A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5162550"/>
            <a:ext cx="876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Governance, auditability, or ownership is missing.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E928857-28A1-4DB4-A133-8BDB9C372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67818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45E5241-44BF-4E14-AB79-F39F17800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635317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93CC936-A081-4A87-AE44-BCC37D8DF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6315075"/>
            <a:ext cx="876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agents are moving into live workflows.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0AF7665-1F19-4FFE-A8DD-B32AFCFE0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7934325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A86462C-E998-4998-BA15-960057FE6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75057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7A2C272-58D1-40F1-85F6-299AD5DC9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7467600"/>
            <a:ext cx="876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Critical knowledge is at risk of being lost.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B7E1D1E-6190-4C8D-B8B3-99B6F9470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2EC1032-7F53-40FD-A366-ED4F0AB3D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Most important referral slide.</a:t>
            </a:r>
          </a:p>
        </p:txBody>
      </p:sp>
      <p:sp>
        <p:nvSpPr>
          <p:cNvPr id="30" name="pager-pill">
            <a:extLst xmlns:a="http://schemas.openxmlformats.org/drawingml/2006/main">
              <a:ext uri="{FF2B5EF4-FFF2-40B4-BE49-F238E27FC236}">
                <a16:creationId xmlns:a16="http://schemas.microsoft.com/office/drawing/2014/main" id="{DAC8D902-FBDA-4BFB-9977-183C24BA3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58D3E7A-C07A-4A5E-A231-538CAA303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E691F1F-28B3-48DE-A0AC-0C8B68E76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4774C5B-F799-4D98-A18B-B23A15950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BC47D6F-B5C4-45B2-83E3-3853378B4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13 / 14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DD9FA48-853F-407E-AC60-027B84DAA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64460927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A0CBBC4-8737-405A-81A3-1AD487606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C179DD-0B45-42CD-B4AB-429F5F6FA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4A3EEF-655C-4A81-B502-FE217E56B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37283F-A1CF-4AFA-BE19-3D0ED4CB2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CDCFF9-0B3C-44C7-BDDE-262321509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75C03D-D008-4393-BD8A-23EC3322A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CONTACT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4E8087-D48B-4C8A-8BBE-107E75536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B3D796-D24E-4B1F-A051-9DF9DD14F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293B2F-96FA-42D9-8AB1-E14E0CEEE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CD3619-9EDB-42E8-A653-24F70F7E1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00275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MAKE AN INTRODUCTION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EBC22E-B53E-44CC-A5C6-6C51EDD57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724150"/>
            <a:ext cx="619125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Execution</a:t>
            </a:r>
          </a:p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changes.</a:t>
            </a:r>
          </a:p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Understanding</a:t>
            </a:r>
          </a:p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preserves</a:t>
            </a:r>
          </a:p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confidence.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500647-BAE8-4459-9F17-A221B8B88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7762875"/>
            <a:ext cx="476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Introduce ShiftBy when understanding</a:t>
            </a:r>
          </a:p>
          <a:p xmlns:a="http://schemas.openxmlformats.org/drawingml/2006/main">
            <a:pPr algn="l">
              <a:defRPr sz="28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needs to survive change.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9F069C-1148-47B4-89B8-26FCB466D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0" y="2476500"/>
            <a:ext cx="5524500" cy="5524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71450">
            <a:solidFill>
              <a:srgbClr val="E8EAF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6881B0-2F1C-467E-AB92-0E11EEF59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25625" y="3857625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A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F04902-A73F-47F9-B2BC-C1CC927D8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238750"/>
            <a:ext cx="647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D365A7-1F8A-49B6-8C59-B79298161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572125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Ananda Krishna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64BDF5-36F2-49B5-8217-214FFB213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246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Founder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1B1F10-9110-4E58-A0F8-41427DF6C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7246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ShiftBy Pte. Ltd.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25F247-F3BD-4E7E-8BD6-0015A6CF2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728662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E1420"/>
                </a:solidFill>
                <a:latin typeface="Arial"/>
                <a:ea typeface="Arial"/>
                <a:cs typeface="Arial"/>
              </a:rPr>
              <a:t>https://www.shiftby.sg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A4C80D7-B233-4A54-92BA-037920085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7839075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E1420"/>
                </a:solidFill>
                <a:latin typeface="Arial"/>
                <a:ea typeface="Arial"/>
                <a:cs typeface="Arial"/>
              </a:rPr>
              <a:t>linkedin.com/in/anandakrishnam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C93D0B4-6D57-4C86-B528-C233F3BC0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839152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E1420"/>
                </a:solidFill>
                <a:latin typeface="Arial"/>
                <a:ea typeface="Arial"/>
                <a:cs typeface="Arial"/>
              </a:rPr>
              <a:t>anandakrishnam@shiftby.sg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57F659E-16AE-4607-A95B-EA6CFBE77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56AC10F-7F93-4153-95BB-ECE3D1521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SHIFTBY_PARTNER_BRIEF_V1A_OPENDESIGN_IMPLEMENTATION_PASS</a:t>
            </a:r>
          </a:p>
        </p:txBody>
      </p:sp>
      <p:sp>
        <p:nvSpPr>
          <p:cNvPr id="24" name="pager-pill">
            <a:extLst xmlns:a="http://schemas.openxmlformats.org/drawingml/2006/main">
              <a:ext uri="{FF2B5EF4-FFF2-40B4-BE49-F238E27FC236}">
                <a16:creationId xmlns:a16="http://schemas.microsoft.com/office/drawing/2014/main" id="{901927BB-61D9-4C1A-982D-D033C3D50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4251545-BEDA-4043-A9E5-75E211869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1689A79-5625-4FDC-92B0-B36BB2611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E2F7223-3544-4C4D-9525-D91207650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1D0A797-C54F-4E75-8EA1-0A5E0E49B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14 / 14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F7E17FF-D3F2-4F97-ACF4-CBF5C88D2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173899970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A8DAEAF-6843-4008-A02F-7B12A8B64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57250"/>
            <a:ext cx="16192500" cy="16192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304800">
            <a:solidFill>
              <a:srgbClr val="5D759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631AD8-AB62-4E46-9A71-C767BF78A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762000"/>
            <a:ext cx="90487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78D0FE-EF56-4F51-9A6E-ED779DB69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48625"/>
            <a:ext cx="1143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D7BAEF-3E95-4DD2-B2F0-6CEA68E8E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8048625"/>
            <a:ext cx="1143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7BA762-7E86-4DC3-AC02-67B9626F0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8953500"/>
            <a:ext cx="904875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C3FE3A-BE98-45B7-946D-664D31570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953000"/>
            <a:ext cx="6477000" cy="647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1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265E63-801E-4150-8067-853FB5EF1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219700"/>
            <a:ext cx="5905500" cy="5905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2A3762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29838517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F49B5EC-74C7-401B-92C7-86DD95FF5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57250"/>
            <a:ext cx="16192500" cy="16192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304800">
            <a:solidFill>
              <a:srgbClr val="5D759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C3BE05-B052-40D7-AB95-3ED6BA034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762000"/>
            <a:ext cx="90487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AE5FB9-F7AA-4A8D-B152-BC63716DB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48625"/>
            <a:ext cx="1143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1B886C-7280-4610-BE7D-36EC198FF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8048625"/>
            <a:ext cx="1143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4A05E9-0791-49C2-B91D-5DD9AE70D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8953500"/>
            <a:ext cx="904875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CD58A4-000F-415A-BDB8-DB16A5427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953000"/>
            <a:ext cx="6477000" cy="647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1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E1A3BC-586F-47F3-988D-A3096571A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219700"/>
            <a:ext cx="5905500" cy="5905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2A3762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85156227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8312853-CEB8-49CB-ADCA-1602D5D25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57250"/>
            <a:ext cx="16192500" cy="16192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304800">
            <a:solidFill>
              <a:srgbClr val="5D759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CAFDAD-DF29-4E2A-BCA5-B73E431E5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762000"/>
            <a:ext cx="90487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CC35ED-40B1-495F-BDB6-1A81A95FA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48625"/>
            <a:ext cx="1143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52E22C-9852-4403-A78F-D148AE298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8048625"/>
            <a:ext cx="1143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626E05-7D2B-4479-B80D-D6496B447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8953500"/>
            <a:ext cx="904875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E0F3F7-8C15-4BC9-ADC6-581552733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953000"/>
            <a:ext cx="6477000" cy="647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1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465951-AC4D-4851-A8E1-63ED412D8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219700"/>
            <a:ext cx="5905500" cy="5905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2A3762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74561579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D91EF25-8CEF-477F-B04C-672CA414B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57250"/>
            <a:ext cx="16192500" cy="16192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304800">
            <a:solidFill>
              <a:srgbClr val="5D759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AC47E3-A61E-4646-B43F-A2C2294D8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762000"/>
            <a:ext cx="90487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FBE63E-757D-4F59-81B7-1514D7DC8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48625"/>
            <a:ext cx="1143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79F724-6C7D-4C64-972A-633459E7C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8048625"/>
            <a:ext cx="1143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B28284-9545-4367-AF8D-2E394CE08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8953500"/>
            <a:ext cx="904875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CD82E7-CEE7-4BF3-BE5A-495733B5F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953000"/>
            <a:ext cx="6477000" cy="647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1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38C52D-A734-49C2-8EF6-0761A6134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219700"/>
            <a:ext cx="5905500" cy="5905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2A3762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7447580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2026-06-15T06:36:05.0800000Z</dcterms:created>
  <dcterms:modified xsi:type="dcterms:W3CDTF">2026-06-15T06:36:05.0800000Z</dcterms:modified>
</coreProperties>
</file>