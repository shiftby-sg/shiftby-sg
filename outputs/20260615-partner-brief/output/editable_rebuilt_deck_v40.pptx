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87f3f37fc42499a" /><Relationship Type="http://schemas.openxmlformats.org/officeDocument/2006/relationships/extended-properties" Target="/docProps/app.xml" Id="R887fa6c203714448" /><Relationship Type="http://schemas.openxmlformats.org/officeDocument/2006/relationships/officeDocument" Target="/ppt/presentation.xml" Id="R722768a52b2b42d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1745adedbbf437f"/>
  </p:sldMasterIdLst>
  <p:notesMasterIdLst>
    <p:notesMasterId xmlns:r="http://schemas.openxmlformats.org/officeDocument/2006/relationships" r:id="Recefd2efd59a47be"/>
  </p:notesMasterIdLst>
  <p:sldIdLst>
    <p:sldId xmlns:r="http://schemas.openxmlformats.org/officeDocument/2006/relationships" id="256" r:id="R8773617bbf6f4295"/>
    <p:sldId xmlns:r="http://schemas.openxmlformats.org/officeDocument/2006/relationships" id="257" r:id="Ra56668015aec421f"/>
    <p:sldId xmlns:r="http://schemas.openxmlformats.org/officeDocument/2006/relationships" id="258" r:id="Rf0f235ced2124e56"/>
    <p:sldId xmlns:r="http://schemas.openxmlformats.org/officeDocument/2006/relationships" id="259" r:id="R9274f567bc1744c2"/>
    <p:sldId xmlns:r="http://schemas.openxmlformats.org/officeDocument/2006/relationships" id="260" r:id="R7cb6b97b73934871"/>
    <p:sldId xmlns:r="http://schemas.openxmlformats.org/officeDocument/2006/relationships" id="261" r:id="R15ad903b09984e31"/>
    <p:sldId xmlns:r="http://schemas.openxmlformats.org/officeDocument/2006/relationships" id="262" r:id="R7b1b171768214775"/>
    <p:sldId xmlns:r="http://schemas.openxmlformats.org/officeDocument/2006/relationships" id="263" r:id="Ra14342ebc9224611"/>
    <p:sldId xmlns:r="http://schemas.openxmlformats.org/officeDocument/2006/relationships" id="264" r:id="Raaacc337e2ad45d3"/>
    <p:sldId xmlns:r="http://schemas.openxmlformats.org/officeDocument/2006/relationships" id="265" r:id="R8c313d4f2b384c7a"/>
    <p:sldId xmlns:r="http://schemas.openxmlformats.org/officeDocument/2006/relationships" id="266" r:id="Rede016545ccf45f3"/>
    <p:sldId xmlns:r="http://schemas.openxmlformats.org/officeDocument/2006/relationships" id="267" r:id="Rfcf1eb5a6f2f47f7"/>
    <p:sldId xmlns:r="http://schemas.openxmlformats.org/officeDocument/2006/relationships" id="268" r:id="Rcedc567c5246432b"/>
    <p:sldId xmlns:r="http://schemas.openxmlformats.org/officeDocument/2006/relationships" id="269" r:id="Rbc1bc9d19aac4fed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33b58158e624fec" /><Relationship Type="http://schemas.openxmlformats.org/officeDocument/2006/relationships/slideMaster" Target="/ppt/slideMasters/slideMaster1.xml" Id="Rc1745adedbbf437f" /><Relationship Type="http://schemas.openxmlformats.org/officeDocument/2006/relationships/notesMaster" Target="/ppt/notesMasters/notesMaster1.xml" Id="Recefd2efd59a47be" /><Relationship Type="http://schemas.openxmlformats.org/officeDocument/2006/relationships/presProps" Target="/ppt/presProps.xml" Id="R3ceca9c1ecbb4f58" /><Relationship Type="http://schemas.openxmlformats.org/officeDocument/2006/relationships/tableStyles" Target="/ppt/tableStyles.xml" Id="Ref46555449fe404c" /><Relationship Type="http://schemas.openxmlformats.org/officeDocument/2006/relationships/slide" Target="/ppt/slides/slide1.xml" Id="R8773617bbf6f4295" /><Relationship Type="http://schemas.openxmlformats.org/officeDocument/2006/relationships/slide" Target="/ppt/slides/slide2.xml" Id="Ra56668015aec421f" /><Relationship Type="http://schemas.openxmlformats.org/officeDocument/2006/relationships/slide" Target="/ppt/slides/slide3.xml" Id="Rf0f235ced2124e56" /><Relationship Type="http://schemas.openxmlformats.org/officeDocument/2006/relationships/slide" Target="/ppt/slides/slide4.xml" Id="R9274f567bc1744c2" /><Relationship Type="http://schemas.openxmlformats.org/officeDocument/2006/relationships/slide" Target="/ppt/slides/slide5.xml" Id="R7cb6b97b73934871" /><Relationship Type="http://schemas.openxmlformats.org/officeDocument/2006/relationships/slide" Target="/ppt/slides/slide6.xml" Id="R15ad903b09984e31" /><Relationship Type="http://schemas.openxmlformats.org/officeDocument/2006/relationships/slide" Target="/ppt/slides/slide7.xml" Id="R7b1b171768214775" /><Relationship Type="http://schemas.openxmlformats.org/officeDocument/2006/relationships/slide" Target="/ppt/slides/slide8.xml" Id="Ra14342ebc9224611" /><Relationship Type="http://schemas.openxmlformats.org/officeDocument/2006/relationships/slide" Target="/ppt/slides/slide9.xml" Id="Raaacc337e2ad45d3" /><Relationship Type="http://schemas.openxmlformats.org/officeDocument/2006/relationships/slide" Target="/ppt/slides/slide10.xml" Id="R8c313d4f2b384c7a" /><Relationship Type="http://schemas.openxmlformats.org/officeDocument/2006/relationships/slide" Target="/ppt/slides/slide11.xml" Id="Rede016545ccf45f3" /><Relationship Type="http://schemas.openxmlformats.org/officeDocument/2006/relationships/slide" Target="/ppt/slides/slide12.xml" Id="Rfcf1eb5a6f2f47f7" /><Relationship Type="http://schemas.openxmlformats.org/officeDocument/2006/relationships/slide" Target="/ppt/slides/slide13.xml" Id="Rcedc567c5246432b" /><Relationship Type="http://schemas.openxmlformats.org/officeDocument/2006/relationships/slide" Target="/ppt/slides/slide14.xml" Id="Rbc1bc9d19aac4fe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ac02972266141f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13b02fef2d24e5e" /><Relationship Type="http://schemas.openxmlformats.org/officeDocument/2006/relationships/notesMaster" Target="/ppt/notesMasters/notesMaster1.xml" Id="R15e0269e5ef8451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381c86f3958493c" /><Relationship Type="http://schemas.openxmlformats.org/officeDocument/2006/relationships/notesMaster" Target="/ppt/notesMasters/notesMaster1.xml" Id="R419525e1a53c4f5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d86d2e30fbc4f6e" /><Relationship Type="http://schemas.openxmlformats.org/officeDocument/2006/relationships/notesMaster" Target="/ppt/notesMasters/notesMaster1.xml" Id="Ra86ec343df764ea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e41b5d57b8247d3" /><Relationship Type="http://schemas.openxmlformats.org/officeDocument/2006/relationships/notesMaster" Target="/ppt/notesMasters/notesMaster1.xml" Id="R6cf9886c725247a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8bc3da5698740b8" /><Relationship Type="http://schemas.openxmlformats.org/officeDocument/2006/relationships/notesMaster" Target="/ppt/notesMasters/notesMaster1.xml" Id="Rde1d3d388fdc48f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f111181ff184d75" /><Relationship Type="http://schemas.openxmlformats.org/officeDocument/2006/relationships/notesMaster" Target="/ppt/notesMasters/notesMaster1.xml" Id="R155dc077583e4fb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b7af99c530a43ba" /><Relationship Type="http://schemas.openxmlformats.org/officeDocument/2006/relationships/notesMaster" Target="/ppt/notesMasters/notesMaster1.xml" Id="R8902497d36a84e6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5e228fdb37b47d0" /><Relationship Type="http://schemas.openxmlformats.org/officeDocument/2006/relationships/notesMaster" Target="/ppt/notesMasters/notesMaster1.xml" Id="R5361e1016c5d411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640eaafc36d439e" /><Relationship Type="http://schemas.openxmlformats.org/officeDocument/2006/relationships/notesMaster" Target="/ppt/notesMasters/notesMaster1.xml" Id="R990b564126da4f1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d1dcfe2ee9d4887" /><Relationship Type="http://schemas.openxmlformats.org/officeDocument/2006/relationships/notesMaster" Target="/ppt/notesMasters/notesMaster1.xml" Id="Rad4d69f5b045400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46c32d7ed0a4a1a" /><Relationship Type="http://schemas.openxmlformats.org/officeDocument/2006/relationships/notesMaster" Target="/ppt/notesMasters/notesMaster1.xml" Id="R7e93256029f0475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c676161bb5748aa" /><Relationship Type="http://schemas.openxmlformats.org/officeDocument/2006/relationships/notesMaster" Target="/ppt/notesMasters/notesMaster1.xml" Id="R34ed3901d4ea4cd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e6c6dbc8ab74d2c" /><Relationship Type="http://schemas.openxmlformats.org/officeDocument/2006/relationships/notesMaster" Target="/ppt/notesMasters/notesMaster1.xml" Id="Re68c8cc92f9a42e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6c920a409be4dd3" /><Relationship Type="http://schemas.openxmlformats.org/officeDocument/2006/relationships/notesMaster" Target="/ppt/notesMasters/notesMaster1.xml" Id="R9c0971ee80c14a5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9cd5edde4043e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457c234cffd45a8" /><Relationship Type="http://schemas.openxmlformats.org/officeDocument/2006/relationships/slideLayout" Target="/ppt/slideLayouts/slideLayout1.xml" Id="R38227e07bc4e4d1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8227e07bc4e4d1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c9d1ed1a7947cd" /><Relationship Type="http://schemas.openxmlformats.org/officeDocument/2006/relationships/image" Target="/ppt/media/image.png" Id="Rda775f0105dc438b" /><Relationship Type="http://schemas.openxmlformats.org/officeDocument/2006/relationships/image" Target="/ppt/media/image2.png" Id="R7c04f5d4e5fd4b1c" /><Relationship Type="http://schemas.openxmlformats.org/officeDocument/2006/relationships/notesSlide" Target="/ppt/notesSlides/notesSlide1.xml" Id="Rad5b48b896cb459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fb596db7f846b0" /><Relationship Type="http://schemas.openxmlformats.org/officeDocument/2006/relationships/image" Target="/ppt/media/image3.png" Id="R05bde4b3fd4648ca" /><Relationship Type="http://schemas.openxmlformats.org/officeDocument/2006/relationships/notesSlide" Target="/ppt/notesSlides/notesSlide2.xml" Id="R44700376e4bc405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216e9cdd594815" /><Relationship Type="http://schemas.openxmlformats.org/officeDocument/2006/relationships/image" Target="/ppt/media/image4.png" Id="Rab94325f28544fe8" /><Relationship Type="http://schemas.openxmlformats.org/officeDocument/2006/relationships/notesSlide" Target="/ppt/notesSlides/notesSlide3.xml" Id="Rcf21e43d4c37481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94ade4201a4c95" /><Relationship Type="http://schemas.openxmlformats.org/officeDocument/2006/relationships/image" Target="/ppt/media/image5.png" Id="R784ef731e52744fc" /><Relationship Type="http://schemas.openxmlformats.org/officeDocument/2006/relationships/notesSlide" Target="/ppt/notesSlides/notesSlide4.xml" Id="R7d6bb652fac540e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a85cc22e6f48ac" /><Relationship Type="http://schemas.openxmlformats.org/officeDocument/2006/relationships/image" Target="/ppt/media/image6.png" Id="R27d631d5b0c64673" /><Relationship Type="http://schemas.openxmlformats.org/officeDocument/2006/relationships/notesSlide" Target="/ppt/notesSlides/notesSlide5.xml" Id="R1706e364206f4d1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5a633260e4424b" /><Relationship Type="http://schemas.openxmlformats.org/officeDocument/2006/relationships/image" Target="/ppt/media/image7.png" Id="Rdd808511d64740cd" /><Relationship Type="http://schemas.openxmlformats.org/officeDocument/2006/relationships/notesSlide" Target="/ppt/notesSlides/notesSlide6.xml" Id="Ra5e079d252f74bf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4460e4be474bb1" /><Relationship Type="http://schemas.openxmlformats.org/officeDocument/2006/relationships/image" Target="/ppt/media/image8.png" Id="Rd9f3662c04004479" /><Relationship Type="http://schemas.openxmlformats.org/officeDocument/2006/relationships/image" Target="/ppt/media/image9.png" Id="R1984b853ed6548c7" /><Relationship Type="http://schemas.openxmlformats.org/officeDocument/2006/relationships/notesSlide" Target="/ppt/notesSlides/notesSlide7.xml" Id="R3b2a0a5d34b9477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a9d659226e494d" /><Relationship Type="http://schemas.openxmlformats.org/officeDocument/2006/relationships/image" Target="/ppt/media/image10.png" Id="R5d7dd2165a764ca2" /><Relationship Type="http://schemas.openxmlformats.org/officeDocument/2006/relationships/image" Target="/ppt/media/image11.png" Id="R67ee08e3d2d043b9" /><Relationship Type="http://schemas.openxmlformats.org/officeDocument/2006/relationships/notesSlide" Target="/ppt/notesSlides/notesSlide8.xml" Id="R988016f6bd474bd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42fc4b9d4549cc" /><Relationship Type="http://schemas.openxmlformats.org/officeDocument/2006/relationships/image" Target="/ppt/media/image12.png" Id="R54503a5c409f4d9c" /><Relationship Type="http://schemas.openxmlformats.org/officeDocument/2006/relationships/image" Target="/ppt/media/image13.png" Id="R42f8362c7bf64f03" /><Relationship Type="http://schemas.openxmlformats.org/officeDocument/2006/relationships/notesSlide" Target="/ppt/notesSlides/notesSlide9.xml" Id="Re61e3a843a77433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7f990763604189" /><Relationship Type="http://schemas.openxmlformats.org/officeDocument/2006/relationships/image" Target="/ppt/media/image14.png" Id="Rba6de07e0ad64798" /><Relationship Type="http://schemas.openxmlformats.org/officeDocument/2006/relationships/image" Target="/ppt/media/image15.png" Id="Rbfc8a004ddbe43e4" /><Relationship Type="http://schemas.openxmlformats.org/officeDocument/2006/relationships/notesSlide" Target="/ppt/notesSlides/notesSlide10.xml" Id="Re1854961c19f491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03cfbad39a4311" /><Relationship Type="http://schemas.openxmlformats.org/officeDocument/2006/relationships/image" Target="/ppt/media/image16.png" Id="R61462741f22e4b3e" /><Relationship Type="http://schemas.openxmlformats.org/officeDocument/2006/relationships/notesSlide" Target="/ppt/notesSlides/notesSlide11.xml" Id="R220b31dc3c9746e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af4422491247a9" /><Relationship Type="http://schemas.openxmlformats.org/officeDocument/2006/relationships/image" Target="/ppt/media/image17.png" Id="R61dcde3100bc4c21" /><Relationship Type="http://schemas.openxmlformats.org/officeDocument/2006/relationships/notesSlide" Target="/ppt/notesSlides/notesSlide12.xml" Id="R8c9d3357f9194c3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909a8d5fed4e4c" /><Relationship Type="http://schemas.openxmlformats.org/officeDocument/2006/relationships/image" Target="/ppt/media/image18.png" Id="R3184a8337af5494e" /><Relationship Type="http://schemas.openxmlformats.org/officeDocument/2006/relationships/notesSlide" Target="/ppt/notesSlides/notesSlide13.xml" Id="Rae2d71fbe4c741e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18c063aace4460" /><Relationship Type="http://schemas.openxmlformats.org/officeDocument/2006/relationships/image" Target="/ppt/media/image19.png" Id="R050f4291b6ce45cb" /><Relationship Type="http://schemas.openxmlformats.org/officeDocument/2006/relationships/notesSlide" Target="/ppt/notesSlides/notesSlide14.xml" Id="R540d439e27a34a2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A00E7F4-3686-4FE5-A55B-BF9BD05D7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240ECA-43AA-4FC2-A591-41B293C9A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775f0105dc438b"/>
          <a:stretch xmlns:a="http://schemas.openxmlformats.org/drawingml/2006/main"/>
        </p:blipFill>
        <p:spPr>
          <a:xfrm xmlns:a="http://schemas.openxmlformats.org/drawingml/2006/main">
            <a:off x="666750" y="228600"/>
            <a:ext cx="1028700" cy="10287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D54112-D5AC-40F1-9F33-CF80C51F8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BRIEFING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4C9977-2C13-4110-BB63-A91FF28C5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92294C-8393-4BB1-981C-8A0D3305D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28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BAA2AC-198E-4BAD-8B9F-D6FB42002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66875"/>
            <a:ext cx="9334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Execution changes.</a:t>
            </a:r>
          </a:p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Understanding preserves confidence.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C908BD-AA26-409D-B91C-9E0D4DF7C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14875"/>
            <a:ext cx="685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AI advisory, coaching, and thought leadership for organizations navigating AI, governance, knowledge, and transformation.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04f5d4e5fd4b1c"/>
          <a:stretch xmlns:a="http://schemas.openxmlformats.org/drawingml/2006/main"/>
        </p:blipFill>
        <p:spPr>
          <a:xfrm xmlns:a="http://schemas.openxmlformats.org/drawingml/2006/main">
            <a:off x="13525500" y="2286000"/>
            <a:ext cx="5334000" cy="53340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FCEC46-6FB7-4EF6-848E-05F2AC6CC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F491AB-528D-49AB-B6E8-7FC92E2E8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guide to when ShiftBy can help</a:t>
            </a:r>
          </a:p>
        </p:txBody>
      </p:sp>
      <p:sp>
        <p:nvSpPr>
          <p:cNvPr id="12" name="pager-pill">
            <a:extLst xmlns:a="http://schemas.openxmlformats.org/drawingml/2006/main">
              <a:ext uri="{FF2B5EF4-FFF2-40B4-BE49-F238E27FC236}">
                <a16:creationId xmlns:a16="http://schemas.microsoft.com/office/drawing/2014/main" id="{7F17187E-0601-4385-8B12-E950F4F43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8F438D-3603-45D1-A6B2-4AEFFDF3D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131603-12D5-4E1E-82A3-D08567E15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62DDBC-9FE1-4DBE-827B-A8DAE9BFA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0A889D-4829-482E-AE19-6EE0E483C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01 / 14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2A9310-72EE-4EEF-8287-049AED32E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8009214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7DCCD05-72CF-4942-B0E8-3E66A83EC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D95AE0-2F17-439F-9446-323A25D7B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bde4b3fd4648ca"/>
          <a:stretch xmlns:a="http://schemas.openxmlformats.org/drawingml/2006/main"/>
        </p:blipFill>
        <p:spPr>
          <a:xfrm xmlns:a="http://schemas.openxmlformats.org/drawingml/2006/main">
            <a:off x="666750" y="228600"/>
            <a:ext cx="1028700" cy="10287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3B33AC-D1F8-4F16-9B06-4866A382C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WHY SHIFTBY EXISTS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5F9333-78A4-4231-9EFF-17D845690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246C58-CB2B-4E15-868C-0DB9EDA00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956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CORE OBSERVATION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2B737C-CFA9-4CE6-82B6-AA6BE09CD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33800"/>
            <a:ext cx="53340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Organizations preserve</a:t>
            </a:r>
          </a:p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records.</a:t>
            </a:r>
          </a:p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They lose operating context.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188C95-5594-4969-83C5-80CD134D5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35330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ShiftBy exists to help leaders preserve understanding as execution changes.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51BF2F-480B-40E9-852D-C52B88743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1470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5AAA2D-4A18-4A49-963B-24556EE3F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4330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decision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survives.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D94A78-5A12-4B39-9BE2-96463793C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54330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The rationale</a:t>
            </a:r>
          </a:p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often does not.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0BED04-15D9-4538-BB36-E7D214209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958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95FB4D-CA39-4108-B4D7-AB4FA6EF3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24425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process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survives.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217A45-D7D8-46D5-9986-F48B83588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924425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The context</a:t>
            </a:r>
          </a:p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often does not.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843EB7-3884-4E3B-BCA7-30B54BF8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0769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DFBB1C-0ACD-4420-8198-ED4F07E06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30555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system survives.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EF3200-4942-41EE-9753-21390C7A7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30555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The knowledge</a:t>
            </a:r>
          </a:p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often does not.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CB288A-2889-47A0-9FAB-50924282D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745807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0C21B3-87B8-4D2B-A2D7-396B662BC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0A08AA-D40C-4842-9CB3-65CD45C6F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guide to when ShiftBy can help</a:t>
            </a:r>
          </a:p>
        </p:txBody>
      </p:sp>
      <p:sp>
        <p:nvSpPr>
          <p:cNvPr id="21" name="pager-pill">
            <a:extLst xmlns:a="http://schemas.openxmlformats.org/drawingml/2006/main">
              <a:ext uri="{FF2B5EF4-FFF2-40B4-BE49-F238E27FC236}">
                <a16:creationId xmlns:a16="http://schemas.microsoft.com/office/drawing/2014/main" id="{280369BA-C55B-40AB-BEC0-569FD8DB5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23395B-472B-4FA2-8712-FC719508E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578A2C-218D-43B7-883E-E5C57A50A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4F3F1E-C877-46CC-AB12-8745548A7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F6FDD8-2C62-493B-B3A6-3BE5DA245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02 / 14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D22EF9-BB32-4F18-88EE-B7E5E6102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65085670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5AE8BAD-15F4-4C52-B90F-BE509054B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4EEF04-738D-4DA5-B7D1-720224A99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94325f28544fe8"/>
          <a:stretch xmlns:a="http://schemas.openxmlformats.org/drawingml/2006/main"/>
        </p:blipFill>
        <p:spPr>
          <a:xfrm xmlns:a="http://schemas.openxmlformats.org/drawingml/2006/main">
            <a:off x="666750" y="228600"/>
            <a:ext cx="1028700" cy="10287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6308DA-F226-42BE-8004-188079BF2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VALUE FRAME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FCE304-B94F-4238-9D63-6E783A6FE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591359-6C22-4215-A813-4B9CD726A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287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WHY ORGANIZATIONS ENGAGE SHIFTBY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B4A8A3-8C77-4D44-81C1-E28FDE0F4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38300"/>
            <a:ext cx="1066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Value, risk, and trust are</a:t>
            </a:r>
          </a:p>
          <a:p xmlns:a="http://schemas.openxmlformats.org/drawingml/2006/main">
            <a:pPr algn="l">
              <a:defRPr sz="5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increasingly connected.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38A03C-028F-4EE0-9299-67D5402AA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29000"/>
            <a:ext cx="5334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7BF757-2FA1-4998-AF05-2B233D12B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676650"/>
            <a:ext cx="480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CREATE VALUE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D7E8D8-E589-4B21-A9D1-7007588AC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3338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Clarify where AI can create meaningful value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108344-7D4A-4EFD-9CCC-C6AA71546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85775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Prioritize AI opportunities and investments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12317B-3988-461F-BAD4-96EFD017C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38162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decision quality and visibility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F3752A-E76C-46FE-A53A-7358BB77D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90550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Accelerate responsible AI adoption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33158D-DC13-4FBB-869F-3EECC0FF5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4293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organizational effectiveness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CD15CD-0368-4E56-BD5F-66E426516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29000"/>
            <a:ext cx="5334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FCDE00-8965-4F64-AC28-EEC7DA551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76650"/>
            <a:ext cx="480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REDUCE RISK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42A7DF-F999-457F-98E1-D5AF52937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3338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Strengthen governance and oversight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9C902E-5B38-41E7-BE78-B93F62BDC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85775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audit readiness and assurance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B6C28F-B769-4FF8-A8FD-7A465EEB3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38162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Address AI security and privacy concerns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3CAFA7-600C-414D-AC76-6044D9035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90550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accountability and traceability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53D642-69AC-491B-9342-A6D49788E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64293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visibility of AI-related risks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E3C01E-82B5-43B9-9AA8-800EC15D4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429000"/>
            <a:ext cx="5334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BBD029-5201-42EE-B809-E0F33811A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3676650"/>
            <a:ext cx="480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PRESERVE TRUST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CFAEC7-AA34-435A-A692-DB21560F6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43338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Preserve organizational knowledge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D56F08-5F08-4155-B09F-16B74720A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485775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Maintain explainability of important decisions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BBDCCF-D22F-4AAB-8B95-413E134BF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538162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Retain rationale as systems evolve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8729157-31AC-4832-AED0-695FED87D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590550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Maintain accountability as execution changes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5DA0FF7-F7D2-4E01-88BF-2F05C262E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64293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Increase confidence in AI-enabled operations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71C254-846C-45E2-A52A-9BE0173B6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0010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821BFB6-AB26-453D-A787-301C5E69F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3343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Understanding helps organizations navigate all</a:t>
            </a:r>
          </a:p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three.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F93A557-95E7-48D7-806A-60A32F62F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BC35F04-3640-4681-8D67-BF1A18CA1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guide to when ShiftBy can help</a:t>
            </a:r>
          </a:p>
        </p:txBody>
      </p:sp>
      <p:sp>
        <p:nvSpPr>
          <p:cNvPr id="33" name="pager-pill">
            <a:extLst xmlns:a="http://schemas.openxmlformats.org/drawingml/2006/main">
              <a:ext uri="{FF2B5EF4-FFF2-40B4-BE49-F238E27FC236}">
                <a16:creationId xmlns:a16="http://schemas.microsoft.com/office/drawing/2014/main" id="{E1814EEA-E092-4EEB-9BF4-107F1ECE5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CD1F5DC-D889-45BE-9715-2056DADBE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55C7119-4F4A-48F9-94FC-59FF6F92D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0963A6E-1F32-41E6-8982-ACEB57602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BC9E12D-B167-4098-8393-3590C2225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03 / 14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76F847A-927D-4055-909E-04EDDA3D0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22897997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24AE5BF-26DF-431D-93E8-34DA102F1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6E4BAA-AC01-495F-AF31-45697DAA0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4ef731e52744fc"/>
          <a:stretch xmlns:a="http://schemas.openxmlformats.org/drawingml/2006/main"/>
        </p:blipFill>
        <p:spPr>
          <a:xfrm xmlns:a="http://schemas.openxmlformats.org/drawingml/2006/main">
            <a:off x="666750" y="228600"/>
            <a:ext cx="1028700" cy="10287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9916B2-3EC2-496B-9B46-8AAF88CAB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INDUSTRY SIGNALS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97CD76-BB3F-425D-9744-4DECA0354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B9DF31-A4D2-4A8B-8D6D-15F0C2D23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097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INDUSTRIES WHERE SIMILAR CONVERSATIONS FREQUENTLY ARISE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75127C-7B01-48CC-AC2F-242A9053C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38300"/>
            <a:ext cx="1047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Different industries.</a:t>
            </a:r>
          </a:p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Similar enterprise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D69F20-338D-48CA-804F-992AF4F9D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2900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B698C6-5E9F-4870-8663-2F5BD4B3E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2386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Pharmaceuticals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EE3EE9-EC1D-49F7-94EF-85DF4947C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42900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4BC4F8-CE93-47C7-B0DB-B82B32B69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42386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Consumer Health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B03B6A-92B4-4B96-A033-ED98363C8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42900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A60BA7-26C2-426C-BD9E-8F3E95285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2386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Medical Technology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C74333-D7AD-491E-AD00-A085EBA0D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342900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30D0D2-4ECA-44F9-89CB-FD59D8046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42386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Manufacturing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56595E-4C95-42D0-BBAA-45291B239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5775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D0878F-8F72-41AB-8BE9-8F40D7FBD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6673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Supply Chain &amp; Logistics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A61644-58EA-4BCE-A544-92B296065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85775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83868F-40F1-4610-A9C8-B154D0A05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56673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Technology &amp; Digital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3B0D56-6E39-4C41-B1C6-26F979B25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85775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0659B4-0E4E-4630-BD14-A7B5AF987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6673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Professional Services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2C9C88-D171-4245-B1E7-A4819DB28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8199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8E9900-5787-44F8-AF2B-C96EDB82F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086600"/>
            <a:ext cx="12001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Across sectors, the same questions recur around</a:t>
            </a:r>
          </a:p>
          <a:p xmlns:a="http://schemas.openxmlformats.org/drawingml/2006/main">
            <a:pPr algn="l">
              <a:defRPr sz="36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change, knowledge, accountability, and</a:t>
            </a:r>
          </a:p>
          <a:p xmlns:a="http://schemas.openxmlformats.org/drawingml/2006/main">
            <a:pPr algn="l">
              <a:defRPr sz="36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confidence.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9F28D0-555F-44F4-99DE-A1C2BF5A2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5FD269-3B27-4272-89F4-90E39F400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guide to when ShiftBy can help</a:t>
            </a:r>
          </a:p>
        </p:txBody>
      </p:sp>
      <p:sp>
        <p:nvSpPr>
          <p:cNvPr id="26" name="pager-pill">
            <a:extLst xmlns:a="http://schemas.openxmlformats.org/drawingml/2006/main">
              <a:ext uri="{FF2B5EF4-FFF2-40B4-BE49-F238E27FC236}">
                <a16:creationId xmlns:a16="http://schemas.microsoft.com/office/drawing/2014/main" id="{F108D54E-F02C-4418-BF38-51A81042F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21ADDA-21B3-437C-BF92-02D3F7F84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CC81AB-5351-405B-AF4D-62209B44D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CC5B6EF-1E99-4725-8503-EC7FA8AF3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F343D2C-91F3-4DD7-8B02-36CBF4248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04 / 14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1D8020B-181D-42B0-B71C-F2DFE2880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82395059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E993820-E86C-451E-B0D9-664E50499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7389A9-7C67-4986-97FA-95A5CCDFA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d631d5b0c64673"/>
          <a:stretch xmlns:a="http://schemas.openxmlformats.org/drawingml/2006/main"/>
        </p:blipFill>
        <p:spPr>
          <a:xfrm xmlns:a="http://schemas.openxmlformats.org/drawingml/2006/main">
            <a:off x="666750" y="228600"/>
            <a:ext cx="1028700" cy="10287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AE8024-72E1-4194-B11A-2117C055E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FUNCTIONAL SIGNALS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5B911A-F25E-4E52-8E99-31FD7927B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B258F5-752B-4C2F-8A58-ADD2C0FD2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097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BUSINESS FUNCTIONS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1460AE-8276-4B6E-9C75-9E81F8528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38300"/>
            <a:ext cx="10668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 conversations often</a:t>
            </a:r>
          </a:p>
          <a:p xmlns:a="http://schemas.openxmlformats.org/drawingml/2006/main">
            <a:pPr algn="l">
              <a:defRPr sz="5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begin where responsibility,</a:t>
            </a:r>
          </a:p>
          <a:p xmlns:a="http://schemas.openxmlformats.org/drawingml/2006/main">
            <a:pPr algn="l">
              <a:defRPr sz="5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change, and control meet.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D27875-B812-40EA-8FE7-E9C916140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052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F6CEE3-6BB0-41F1-8794-FB8A13296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9434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Executive Leadership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425E1E-E211-4108-A4A3-2EAE3845A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1052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4301B4-9381-43FA-B99C-81A19C086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49434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Research &amp; Development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AE400C-ABB2-4D57-B701-5E9FD0B6A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1052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60AC0E-7389-431C-8DC5-3310D34C8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9434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Manufacturing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663A24-FE0B-4A9F-92BE-F1BD37DC5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41052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AA139A-2F39-4EFE-B168-444197F15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49434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Supply Chain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76F679-37F9-4152-9567-9D48CBD79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53402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514FAC-7C4D-4464-8A42-495A6B3CB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3722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Quality &amp; Compliance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80D191-E122-469C-933D-DE83840AA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53402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6D2309-005E-44DF-A199-153FF6CAA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63722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Procurement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6728FC-1B2C-48DD-8029-4CE29A0B0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53402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10789B-3A28-49E0-862B-66FF66644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3722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Technology &amp; Digital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5AFBDF-CF90-469C-8630-FCFA750CF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553402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73F8CD-2FB4-4B6D-A740-616CE085B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63722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Data &amp; AI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80CA08-73BA-492F-8418-1A8FDC3EB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9627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45E9BE-41FB-4444-9449-9A8562601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78009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Enterprise Architecture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79BF7E-C6A6-41B6-AED9-F3F7579BB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69627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2794832-3349-491A-9023-BF9D0EF82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78009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Risk &amp; Governance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A4DE100-9CA8-4BC4-BFE4-45FE3B8CA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9627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73C9B4B-46E3-45B1-9A13-C50E6CD2F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78009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Internal Audit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61A3760-7087-4220-8DC8-7417489D6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69627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E0A05B3-B17F-4B7D-93D0-CB79CE2B6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78009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Transformation Offices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6894739-34A6-4544-A111-CBC146E70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572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96FB420-3FED-4F32-95C9-2C08A2037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7439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Many functions inherit AI-enabled change</a:t>
            </a:r>
          </a:p>
          <a:p xmlns:a="http://schemas.openxmlformats.org/drawingml/2006/main">
            <a:pPr algn="l">
              <a:defRPr sz="19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before they own it.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F040D0A-09A7-48C0-81B2-C3790A572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CB92236-C052-4EDA-876C-C62B645D5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guide to when ShiftBy can help</a:t>
            </a:r>
          </a:p>
        </p:txBody>
      </p:sp>
      <p:sp>
        <p:nvSpPr>
          <p:cNvPr id="36" name="pager-pill">
            <a:extLst xmlns:a="http://schemas.openxmlformats.org/drawingml/2006/main">
              <a:ext uri="{FF2B5EF4-FFF2-40B4-BE49-F238E27FC236}">
                <a16:creationId xmlns:a16="http://schemas.microsoft.com/office/drawing/2014/main" id="{DB214413-B39D-480D-8A89-7CB4AE02D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DC6AE8F-4576-4E8C-8F0A-006872A09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7DE1BD5-AD00-4038-9673-96A68E509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AD50F3C-C347-4E3C-A91F-008BCBB4F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EFD47D9-586E-461B-8C7B-4C5ABD912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05 / 14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497436B-F2BD-48F3-B666-59C41EF52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98217283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105070B-18F7-433C-AC06-F2FB3152F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14E939-8406-4B13-8BDE-80B6C2276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808511d64740cd"/>
          <a:stretch xmlns:a="http://schemas.openxmlformats.org/drawingml/2006/main"/>
        </p:blipFill>
        <p:spPr>
          <a:xfrm xmlns:a="http://schemas.openxmlformats.org/drawingml/2006/main">
            <a:off x="666750" y="228600"/>
            <a:ext cx="1028700" cy="10287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88CB62-03BA-4E0D-A6D2-DAE094A1C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REFERRAL SIGNALS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B5BA94-0402-432D-B368-EF4D9024A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AD5DFB-AFEC-4604-B15C-CBF94199A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097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TYPICAL SITUATIONS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369BCC-4163-4D31-A2CB-492048096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38300"/>
            <a:ext cx="8858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 may be relevant.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F7647A-162D-435D-8E73-600EB0C7D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957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6DB01E-BDC2-43FD-B2D5-0741D0B94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3624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4FDB42-45B2-45A4-898A-4F821FEF6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886450"/>
            <a:ext cx="26574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are exploring AI and need a starting point.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DB29D9-4FFE-4C9E-B52B-577C8C37F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0957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3496A1-C003-49EF-9F3C-9126F6CEB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3624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7160A4-70D4-4B98-BE00-5096DA4B5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5886450"/>
            <a:ext cx="26574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have AI ideas and need priorities.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598496-BB8B-4A0A-9B91-212431D3D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0957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D8FD88-8791-43B8-BF6F-F94148E92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3624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95E4B7-5090-404F-848B-A83B491C8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886450"/>
            <a:ext cx="26574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need governance and audit readiness.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35DEB9-9C4D-4C54-9712-B92FA7F1B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40957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3D07D5-9EA2-403B-9A67-9B5BDDBFD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43624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CB01A1-3614-409E-A238-3C64E2509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5886450"/>
            <a:ext cx="26574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are introducing AI agents into workflows.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1D773D-1233-4075-8C88-BD87F4A84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40957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CB86E8-7B92-4BC7-B411-C96884BBD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8450" y="43624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DBB207-B070-41A2-B6E5-524176DF8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8450" y="5886450"/>
            <a:ext cx="26574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want to preserve critical knowledge.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13FF68-021B-4B50-AF67-649C32933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DE4E3B-36B3-4FAE-B6D1-B9A111532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guide to when ShiftBy can help</a:t>
            </a:r>
          </a:p>
        </p:txBody>
      </p:sp>
      <p:sp>
        <p:nvSpPr>
          <p:cNvPr id="25" name="pager-pill">
            <a:extLst xmlns:a="http://schemas.openxmlformats.org/drawingml/2006/main">
              <a:ext uri="{FF2B5EF4-FFF2-40B4-BE49-F238E27FC236}">
                <a16:creationId xmlns:a16="http://schemas.microsoft.com/office/drawing/2014/main" id="{F7F5F90B-B30E-4B44-B1FE-FD0E636F9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07D768-0EAF-42F2-B0E4-C05B03DA8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138D03-6403-439E-966A-BB8BD36A8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034412-6BDF-48A2-8310-E807950F8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AAF865C-6B43-432A-A9DD-99E3B3F32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06 / 14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1AE3C3D-78D5-4CF4-887B-F2535D21E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72275583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B3D275A-0467-4036-85EF-9FCA2682C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891F0F-E33C-4713-AD64-A8254CD39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f3662c04004479"/>
          <a:stretch xmlns:a="http://schemas.openxmlformats.org/drawingml/2006/main"/>
        </p:blipFill>
        <p:spPr>
          <a:xfrm xmlns:a="http://schemas.openxmlformats.org/drawingml/2006/main">
            <a:off x="666750" y="228600"/>
            <a:ext cx="1028700" cy="10287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EB6696-E5A0-435E-8B32-8FD9356D1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READINESS SIGNALS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D146E2-402C-488B-96F2-2EE7C3FCE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945399-AA9A-463B-8570-2F9835FBE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838200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B"/>
          </a:solidFill>
          <a:ln xmlns:a="http://schemas.openxmlformats.org/drawingml/2006/main" w="0">
            <a:solidFill>
              <a:srgbClr val="F7F6F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5F9148-2F67-46F5-8229-2FCA193DF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955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PREPARING FOR AI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83B0FC-D347-4E89-B9DA-57B6F3704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90850"/>
            <a:ext cx="51435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Readiness</a:t>
            </a:r>
          </a:p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&amp; Enablement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F220C4-AC37-4EF5-8EAD-90F4D3F9C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19700"/>
            <a:ext cx="5143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REDUCE UNCERTAINTY BEFORE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MAJOR AI MOVES.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84b853ed6548c7"/>
          <a:stretch xmlns:a="http://schemas.openxmlformats.org/drawingml/2006/main"/>
        </p:blipFill>
        <p:spPr>
          <a:xfrm xmlns:a="http://schemas.openxmlformats.org/drawingml/2006/main">
            <a:off x="13335000" y="1619250"/>
            <a:ext cx="5905500" cy="59055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D59CFF-6E00-4486-9CBA-72AEE2FDC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76525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9E5F20-11B8-49D0-9D72-D4636E72C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486150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Executive workshops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4FAFD9-C48D-4787-B55A-799EE07A1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2676525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ECD705-D448-4CA0-A4EE-458286A6A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3486150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literacy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C5CDA9-AE86-4DAE-A759-CC15E3AD7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898900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65DC7B-2F08-422C-A401-9019BE307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708525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Data readiness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A047E4-FB58-4451-A6DA-CC1A5D027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3898900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AC06A2-60E3-404A-A0DD-D55A5BDEC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4708525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Knowledge readiness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08C400-FC19-40ED-B7C5-C3B9D11D3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121275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848EFF-332A-41C3-93EC-86A4A60FE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5930900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Governance readiness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46D09E-58E3-4F45-8D9A-A9A35BBFC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5121275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E114CD-1213-4AB3-B403-9BF1281B3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5930900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Workforce readiness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2A0929-E0A8-4B68-893A-0849C2D23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457950"/>
            <a:ext cx="7715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36AACA-63F1-49D8-9F4D-6730DDAFD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781800"/>
            <a:ext cx="8001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Organizations often know AI matters.</a:t>
            </a:r>
          </a:p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question is whether data, knowledge,</a:t>
            </a:r>
          </a:p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and operating model can support change.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847CC5-E587-4330-8FD4-311234559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D50591-0BE4-4DE2-B288-F7BAFAECB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guide to when ShiftBy can help</a:t>
            </a:r>
          </a:p>
        </p:txBody>
      </p:sp>
      <p:sp>
        <p:nvSpPr>
          <p:cNvPr id="27" name="pager-pill">
            <a:extLst xmlns:a="http://schemas.openxmlformats.org/drawingml/2006/main">
              <a:ext uri="{FF2B5EF4-FFF2-40B4-BE49-F238E27FC236}">
                <a16:creationId xmlns:a16="http://schemas.microsoft.com/office/drawing/2014/main" id="{617B4170-B2E7-464D-B01A-F7309AF15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345E79-3EF1-44F4-AC9B-9B15663BE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7D8E410-83A7-4AED-8D85-9B0342738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8A9481C-8BFA-4F66-902F-874898FC4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080588C-1075-4C34-9715-09036CAC5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07 / 14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A813473-043C-487E-93C6-23043CDF6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201742843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3364B54-A2ED-4EBE-A962-12F9B4F02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7C35BA-9E03-48A0-AD52-1E8402232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7dd2165a764ca2"/>
          <a:stretch xmlns:a="http://schemas.openxmlformats.org/drawingml/2006/main"/>
        </p:blipFill>
        <p:spPr>
          <a:xfrm xmlns:a="http://schemas.openxmlformats.org/drawingml/2006/main">
            <a:off x="666750" y="228600"/>
            <a:ext cx="1028700" cy="10287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638546-5071-479C-A8A7-5EA38DCEC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VALUE PRIORITIES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E89C29-3ABA-4134-8F42-A6FA976E8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456625-3639-4BD8-9B92-2622EBABB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838200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B"/>
          </a:solidFill>
          <a:ln xmlns:a="http://schemas.openxmlformats.org/drawingml/2006/main" w="0">
            <a:solidFill>
              <a:srgbClr val="F7F6F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781F81-37BF-41A9-A9DE-5F8AF8B2A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95525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CHOOSING WHERE TO ACT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BDD992-B7FE-4D13-B6C7-CF34FE4AA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90850"/>
            <a:ext cx="666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Adoption &amp;</a:t>
            </a:r>
          </a:p>
          <a:p xmlns:a="http://schemas.openxmlformats.org/drawingml/2006/main">
            <a:pPr algn="l">
              <a:defRPr sz="45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Transformation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672E77-751C-41EA-9111-BB0F1B4B3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62500"/>
            <a:ext cx="5905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TURN AI INTEREST INTO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FOCUSED BUSINESS VALUE.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ee08e3d2d043b9"/>
          <a:stretch xmlns:a="http://schemas.openxmlformats.org/drawingml/2006/main"/>
        </p:blipFill>
        <p:spPr>
          <a:xfrm xmlns:a="http://schemas.openxmlformats.org/drawingml/2006/main">
            <a:off x="13430250" y="1524000"/>
            <a:ext cx="5905500" cy="59055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A1701C-84B9-4B24-8A76-F8866DAE2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667000"/>
            <a:ext cx="7810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AE6FF4-A858-4CBE-938B-B18755B00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952875"/>
            <a:ext cx="7810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E23A25-98E0-4324-A558-8D9538143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5238750"/>
            <a:ext cx="7810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94F200-3295-46B5-BF35-1AF2B2304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143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Opportunity assessment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2BFA20-27D3-4DA3-AD28-393118B3E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3143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Use-case prioritization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8ECA26-84C9-4911-9F1B-AC83184B9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4196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Business process analysis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54445C-1CC7-4698-80B3-19314AC77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44196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roadmaps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70190E-BF7B-45F6-9F9A-BC189483D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5581650"/>
            <a:ext cx="704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Operating model</a:t>
            </a:r>
          </a:p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considerations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7C490F-5E02-4ACB-90BE-081D7A66F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6705600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B83DF2-0DDB-4116-85C9-57D461845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6991350"/>
            <a:ext cx="742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Organizations often have more AI ideas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than they can realistically pursue.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challenge is determining where value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may emerge, what should be prioritized,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and where ownership should remain visible.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1701CB-4A7C-4B7C-8587-C6EE4BA95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E8086E-6234-47C5-B9B4-E4427E9FA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guide to when ShiftBy can help</a:t>
            </a:r>
          </a:p>
        </p:txBody>
      </p:sp>
      <p:sp>
        <p:nvSpPr>
          <p:cNvPr id="23" name="pager-pill">
            <a:extLst xmlns:a="http://schemas.openxmlformats.org/drawingml/2006/main">
              <a:ext uri="{FF2B5EF4-FFF2-40B4-BE49-F238E27FC236}">
                <a16:creationId xmlns:a16="http://schemas.microsoft.com/office/drawing/2014/main" id="{38881A83-7016-48F7-BE4B-E1CB73DD6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F9100D-02B9-4BF4-A44F-F244E6543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FC4694-0FB1-4827-BA29-8EFA4DA8B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56E33D-1EF0-4B64-9DE0-28C87979C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1449E2-00B1-4C83-9EC7-F271CF33B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08 / 14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7FE24C1-6520-40C1-907D-48360BA9B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43685684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BC448A1-9610-47EA-8EB7-3DE63D2FD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8C8C61-EBEF-4BC0-948F-0494AAE30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503a5c409f4d9c"/>
          <a:stretch xmlns:a="http://schemas.openxmlformats.org/drawingml/2006/main"/>
        </p:blipFill>
        <p:spPr>
          <a:xfrm xmlns:a="http://schemas.openxmlformats.org/drawingml/2006/main">
            <a:off x="666750" y="228600"/>
            <a:ext cx="1028700" cy="10287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540358-11D7-4F29-972B-C06235F72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TRUST &amp; OVERSIGHT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3319CE-9540-462F-BC1A-BFB365A9E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B35194-946C-49BC-A41F-43A05D9A5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838200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B"/>
          </a:solidFill>
          <a:ln xmlns:a="http://schemas.openxmlformats.org/drawingml/2006/main" w="0">
            <a:solidFill>
              <a:srgbClr val="F7F6F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4AAD61-7147-4BE3-A679-4CD506A3B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95525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PRESERVING TRUST AS EXECUTION CHANGES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67A75F-4612-46DC-BB4A-587FDCC19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90850"/>
            <a:ext cx="5334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Governance,</a:t>
            </a:r>
          </a:p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Safety &amp; Resilience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8B1E08-67C2-4186-903E-FA72E4175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19700"/>
            <a:ext cx="504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PRESERVE TRUST WHILE KEEPING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OPERATIONAL AND GOVERNANCE RISK IN VIEW.</a:t>
            </a:r>
          </a:p>
        </p:txBody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f8362c7bf64f03"/>
          <a:stretch xmlns:a="http://schemas.openxmlformats.org/drawingml/2006/main"/>
        </p:blipFill>
        <p:spPr>
          <a:xfrm xmlns:a="http://schemas.openxmlformats.org/drawingml/2006/main">
            <a:off x="13430250" y="1524000"/>
            <a:ext cx="5905500" cy="59055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7B2AC5-0903-485B-9F8C-C1A73D445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4287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D85D52-D5F6-40DA-8DEC-199E436C2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185737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Responsible AI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E3E3BF-67CE-4EDF-BE43-76708126C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14287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415001-7FB2-4526-8DAB-F1EC641F7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185737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governance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F51879-FA9F-49CD-B405-CEC674E1F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670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59D138-9FE7-4DC5-927C-62E6E164E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09562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risk management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A21A6B-C559-4F85-B1FD-BEB6A7DEA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26670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CE9A50-02D6-4962-BF3C-E51FFD193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309562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security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F3A7D8-7959-4CC5-A8B0-A2FA4F4DC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9052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5F8620-92AA-4C71-8051-0B7607FCC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33387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safety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B4A7D6-04C4-4683-920F-C9BDBD1CE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39052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FE677C-65E2-4050-9612-592D8EBDB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433387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Data privacy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C13145-35E1-4335-AA5F-2C7BD3CA3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1435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6EA1A2-D1C3-4141-B219-FDAC52853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557212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assurance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FB6FA1-D4BD-404E-84EF-6D80C4B31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51435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50BF6C-9379-4FE1-A282-C93244FA6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557212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Audit readiness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5F9B0E-7C67-4700-9863-F505C6B62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381750"/>
            <a:ext cx="7810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19D609E-4D12-4259-B4A3-7C456DC3A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7246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Third-party AI risk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CC02D9F-4C39-456F-A490-B534C7296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7839075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346DEE8-7DF6-448F-8BBC-3EF820D74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7962900"/>
            <a:ext cx="7810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As AI adoption grows, organizations need decisions that can be</a:t>
            </a:r>
          </a:p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explained, reviewed, governed, and defended.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30A3E8-4FE0-4F87-A47A-EBF2A73D5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2AF7545-5545-4E39-8100-E02D4744E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guide to when ShiftBy can help</a:t>
            </a:r>
          </a:p>
        </p:txBody>
      </p:sp>
      <p:sp>
        <p:nvSpPr>
          <p:cNvPr id="33" name="pager-pill">
            <a:extLst xmlns:a="http://schemas.openxmlformats.org/drawingml/2006/main">
              <a:ext uri="{FF2B5EF4-FFF2-40B4-BE49-F238E27FC236}">
                <a16:creationId xmlns:a16="http://schemas.microsoft.com/office/drawing/2014/main" id="{5AEEADC2-8CAA-41B6-9AEE-90CECCF49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F0ECD40-85E8-4E32-8C56-4C27E9E6A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4101515-817E-48CC-8FAD-8A33F8778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F0DE29F-A942-4061-BFAC-FB89C5D9D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668892E-C352-4163-AFB9-A120D2B1A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09 / 14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B533D94-DC49-483E-B249-AF4A1A170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82441346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CE9605B-5DE0-406D-9E73-98E9DC1CF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A5ACC0-E83D-4D96-9490-082A81C8D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6de07e0ad64798"/>
          <a:stretch xmlns:a="http://schemas.openxmlformats.org/drawingml/2006/main"/>
        </p:blipFill>
        <p:spPr>
          <a:xfrm xmlns:a="http://schemas.openxmlformats.org/drawingml/2006/main">
            <a:off x="666750" y="228600"/>
            <a:ext cx="1028700" cy="10287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1DB891-1B1A-4A0F-8AE1-E2A1D4770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FUTURE OPERATIONS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FFCDBD-87A4-4D80-8833-62E42181A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9C4E5C-8CA2-433F-8583-F9BA8722C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838200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B"/>
          </a:solidFill>
          <a:ln xmlns:a="http://schemas.openxmlformats.org/drawingml/2006/main" w="0">
            <a:solidFill>
              <a:srgbClr val="F7F6F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1F812D-FADF-4473-9640-C21B3AC7C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95525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IMPROVING WORK WITHOUT LOSING 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A9F2A9-5432-4D6D-BFEB-AECBCEC4F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90850"/>
            <a:ext cx="5143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Agents &amp;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Intelligent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Operations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73806A-066B-4390-B538-B9679737C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67375"/>
            <a:ext cx="495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IMPROVE WORK WHILE KEEPING</a:t>
            </a:r>
          </a:p>
          <a:p xmlns:a="http://schemas.openxmlformats.org/drawingml/2006/main">
            <a:pPr algn="l">
              <a:defRPr sz="2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ACCOUNTABILITY AND CONTEXT IN PLACE.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c8a004ddbe43e4"/>
          <a:stretch xmlns:a="http://schemas.openxmlformats.org/drawingml/2006/main"/>
        </p:blipFill>
        <p:spPr>
          <a:xfrm xmlns:a="http://schemas.openxmlformats.org/drawingml/2006/main">
            <a:off x="13430250" y="1524000"/>
            <a:ext cx="5905500" cy="59055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B81A74-F165-487C-87A6-B98358637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670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75FCA7-9F60-4866-8910-518CBC656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095625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agents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7D8057-E242-4F83-893E-C7C3E5647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26670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86D919-B128-4C1E-9D1F-F9AE36314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3095625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Human-AI collaboration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B6AE19-5A0A-4F1B-968B-CF1625CAA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9052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07D5C6-1098-4ED6-BFD1-399A90A4F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333875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Knowledge-</a:t>
            </a:r>
          </a:p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connected workflows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273ADC-0C63-469A-97D2-50412C07F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39052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0D9AD2-1F51-4611-84F8-8773B25B6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4333875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Traceability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464D60-BC3F-46BD-901A-C60B33E61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143500"/>
            <a:ext cx="7810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07B389-A79A-4CEA-AEA8-6859A0B73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5572125"/>
            <a:ext cx="7315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Governed output generation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8DDBAE-3855-4720-B2DE-F5167E66B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610350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425AA7-8756-4800-8AB5-1B4809719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915150"/>
            <a:ext cx="7524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As AI becomes part of operational</a:t>
            </a:r>
          </a:p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execution, understanding, traceability,</a:t>
            </a:r>
          </a:p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and ownership must remain in place.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14AEFB-9771-4EF9-AAB0-EFC0CC4C7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946B49-5818-4271-A9F8-95AB7101A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guide to when ShiftBy can help</a:t>
            </a:r>
          </a:p>
        </p:txBody>
      </p:sp>
      <p:sp>
        <p:nvSpPr>
          <p:cNvPr id="25" name="pager-pill">
            <a:extLst xmlns:a="http://schemas.openxmlformats.org/drawingml/2006/main">
              <a:ext uri="{FF2B5EF4-FFF2-40B4-BE49-F238E27FC236}">
                <a16:creationId xmlns:a16="http://schemas.microsoft.com/office/drawing/2014/main" id="{18E9B9E4-1C34-45EE-B5C8-0D2F2C171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DF7219-B8ED-441D-82F6-C513C575F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44CAB6-E026-424E-8A61-EE262AF50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4066F17-5E55-478B-ACAA-C31C7104E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10BC298-1641-497A-9B6C-C4565C134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10 / 14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5517DC6-CDDF-4019-8DC9-6CDCE1DA6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67209168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4AAD8B9-78CB-4C9C-B47A-E7B986E43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DD911A-3EF2-4171-AA06-C9CB588D7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66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F8"/>
          </a:solidFill>
          <a:ln xmlns:a="http://schemas.openxmlformats.org/drawingml/2006/main" w="0">
            <a:solidFill>
              <a:srgbClr val="F7F0F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04AA2E-94DD-4EEF-8055-EC0E35C5C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2545A3-951D-4930-80AE-D05098385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462741f22e4b3e"/>
          <a:stretch xmlns:a="http://schemas.openxmlformats.org/drawingml/2006/main"/>
        </p:blipFill>
        <p:spPr>
          <a:xfrm xmlns:a="http://schemas.openxmlformats.org/drawingml/2006/main">
            <a:off x="666750" y="228600"/>
            <a:ext cx="1028700" cy="10287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4A96D9-B519-417C-B391-BFD788886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DIFFERENTIATION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FD0386-4B1B-45FD-A61A-30D4F489A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12FF65-E56E-487D-B28D-4E9964E9C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002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WHY SHIFTBY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BBF12E-20DF-4D78-B03C-2BB413A55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24150"/>
            <a:ext cx="7810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Organizations rarely need</a:t>
            </a:r>
          </a:p>
          <a:p xmlns:a="http://schemas.openxmlformats.org/drawingml/2006/main">
            <a:pPr algn="l">
              <a:defRPr sz="4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more technology.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78F4ED-4AE6-4B3B-9C16-4C2BE25E5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19750"/>
            <a:ext cx="93345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They lose clarity when decisions, knowledge, ownership, and</a:t>
            </a:r>
          </a:p>
          <a:p xmlns:a="http://schemas.openxmlformats.org/drawingml/2006/main">
            <a:pPr algn="l">
              <a:defRPr sz="25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accountability become harder to preserve.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405CD8-A90D-4C7A-9512-E3AE646F6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239000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ShiftBy helps leaders preserve the rationale behind execution as change accelerates.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28187B-AE62-437C-848E-60060B3B8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2476500"/>
            <a:ext cx="5524500" cy="5524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EBEB77-9E53-4137-87C4-B53DC3CFC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625" y="3857625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27550A-C23D-475E-AB3B-347833D51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E211A1-F37A-4AE0-B6D6-53C399D1A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guide to when ShiftBy can help</a:t>
            </a:r>
          </a:p>
        </p:txBody>
      </p:sp>
      <p:sp>
        <p:nvSpPr>
          <p:cNvPr id="16" name="pager-pill">
            <a:extLst xmlns:a="http://schemas.openxmlformats.org/drawingml/2006/main">
              <a:ext uri="{FF2B5EF4-FFF2-40B4-BE49-F238E27FC236}">
                <a16:creationId xmlns:a16="http://schemas.microsoft.com/office/drawing/2014/main" id="{97BE2477-E9F5-4A03-AB68-DF4EF6D9B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70E1B3-91DD-4005-8C6A-3EEFC6C2C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3F093E-E38A-4DD3-848D-50F5251D1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EFE096-40ED-44A0-9E2E-F9F6595FD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F62AA0-C934-4AF1-9194-C3B4B124B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11 / 14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65C0CC-28F9-465F-85CF-8C71A0AE6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82117107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BFE034A-429C-43D0-8B44-BC750C9C8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E77380-0844-4768-BFAB-0EAC097E3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dcde3100bc4c21"/>
          <a:stretch xmlns:a="http://schemas.openxmlformats.org/drawingml/2006/main"/>
        </p:blipFill>
        <p:spPr>
          <a:xfrm xmlns:a="http://schemas.openxmlformats.org/drawingml/2006/main">
            <a:off x="666750" y="228600"/>
            <a:ext cx="1028700" cy="10287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54419C-68F7-4C66-B1A8-E1128A2DB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CAPABILITIES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F77225-F35F-4483-845A-DC5193925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EC8D64-0044-4FBC-807B-DDB78CF60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287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THE SHIFTBY CAPABILITY 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5184A7-9903-4C5E-B445-01B119278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76400"/>
            <a:ext cx="8191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Four capabilities support</a:t>
            </a:r>
          </a:p>
          <a:p xmlns:a="http://schemas.openxmlformats.org/drawingml/2006/main">
            <a:pPr algn="l">
              <a:defRPr sz="5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confidence when</a:t>
            </a:r>
          </a:p>
          <a:p xmlns:a="http://schemas.openxmlformats.org/drawingml/2006/main">
            <a:pPr algn="l">
              <a:defRPr sz="5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execution changes.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00AF12-B7C2-4659-82B2-7FECB51DC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53000"/>
            <a:ext cx="395287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86B47D-A19A-48EF-B67C-665F0CBF5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762625"/>
            <a:ext cx="34575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Decision Traceability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59A545-F408-4F27-AB5E-2A42FDE24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6896100"/>
            <a:ext cx="3457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Rationale remains visible.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572962-26F1-435F-8CFD-1AD450C9E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953000"/>
            <a:ext cx="395287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92922B-3356-40E6-8BB6-302D73834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5762625"/>
            <a:ext cx="34575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Organizational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Memory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8B211B-BE32-4FFD-A1DA-6F718919F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6896100"/>
            <a:ext cx="3457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Meaning survives change.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C78FB0-23CD-46C1-B706-373E14527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53000"/>
            <a:ext cx="395287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9C3ED0-36D7-4F28-B230-435922535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5762625"/>
            <a:ext cx="34575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Human-AI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Accountability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217BFB-2853-4229-9DE9-A1657D63D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6896100"/>
            <a:ext cx="3457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Responsibility stays legible.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22B259-E56B-4FC1-94BF-79E2D587B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4953000"/>
            <a:ext cx="395287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3DBC5E-9678-43C8-8BC3-13E222C5A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44525" y="5762625"/>
            <a:ext cx="34575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Adaptive Execution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2695CD-7446-4978-B737-1C891489A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44525" y="6896100"/>
            <a:ext cx="3457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Change remains coherent.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8AC5EF-79EE-4B46-A3E8-CFE77F345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0772B9-C88E-44AD-B142-E40712E15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guide to when ShiftBy can help</a:t>
            </a:r>
          </a:p>
        </p:txBody>
      </p:sp>
      <p:sp>
        <p:nvSpPr>
          <p:cNvPr id="22" name="pager-pill">
            <a:extLst xmlns:a="http://schemas.openxmlformats.org/drawingml/2006/main">
              <a:ext uri="{FF2B5EF4-FFF2-40B4-BE49-F238E27FC236}">
                <a16:creationId xmlns:a16="http://schemas.microsoft.com/office/drawing/2014/main" id="{F646041B-632B-4266-933D-554155DD0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BEEB62-85A8-47BD-AC3B-1C2D82E18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D224FB-90FE-499B-8F5D-43A55ACA4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DABA94-2BC9-4F63-B8EF-9E05D8231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D4E0FE-0D8A-47B0-B777-1F16AE467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12 / 14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27CE6F3-15AE-48AE-92A4-7CD39096F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200339309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035C9B9-A4A3-4912-82D7-32DDDA51A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A7CC95-15A7-432F-B308-2CEC57156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84a8337af5494e"/>
          <a:stretch xmlns:a="http://schemas.openxmlformats.org/drawingml/2006/main"/>
        </p:blipFill>
        <p:spPr>
          <a:xfrm xmlns:a="http://schemas.openxmlformats.org/drawingml/2006/main">
            <a:off x="666750" y="228600"/>
            <a:ext cx="1028700" cy="10287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5CF3A7-593A-47FB-9A97-317070053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REFERRAL MOMENT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61469D-355E-4DCC-9BF3-5EDA17D04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7A7D41-CE8C-4B1E-B90C-B0F3E08DD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6667500" cy="841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F8"/>
          </a:solidFill>
          <a:ln xmlns:a="http://schemas.openxmlformats.org/drawingml/2006/main" w="0">
            <a:solidFill>
              <a:srgbClr val="F7F0F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1BE2E0-F94A-4F4E-A00C-22C1DF189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0027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INTRODUCE SHIFTBY WHEN...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E200EB-E000-456C-AC39-1BD1E05E7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62250"/>
            <a:ext cx="44767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Confidence</a:t>
            </a:r>
          </a:p>
          <a:p xmlns:a="http://schemas.openxmlformats.org/drawingml/2006/main">
            <a:pPr algn="l">
              <a:defRPr sz="5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needs to</a:t>
            </a:r>
          </a:p>
          <a:p xmlns:a="http://schemas.openxmlformats.org/drawingml/2006/main">
            <a:pPr algn="l">
              <a:defRPr sz="5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survive</a:t>
            </a:r>
          </a:p>
          <a:p xmlns:a="http://schemas.openxmlformats.org/drawingml/2006/main">
            <a:pPr algn="l">
              <a:defRPr sz="5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change.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5887B8-839D-4A27-BAF9-36EDD2239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896100"/>
            <a:ext cx="4286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A partner does not need to</a:t>
            </a:r>
          </a:p>
          <a:p xmlns:a="http://schemas.openxmlformats.org/drawingml/2006/main">
            <a:pPr algn="l">
              <a:defRPr sz="25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diagnose the work. They only</a:t>
            </a:r>
          </a:p>
          <a:p xmlns:a="http://schemas.openxmlformats.org/drawingml/2006/main">
            <a:pPr algn="l">
              <a:defRPr sz="25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need to recognize the moment.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95BEB5-2253-4B10-ABAB-9A2E94A07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4765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0F440F-2C66-4A7C-819D-60E8E699F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32422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375A68-8DCD-4339-A17E-0E37BF284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8956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0EF98A-4325-4996-8375-5AE69CDC1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857500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 new AI initiative needs a clear starting point.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98047D-8EEC-4E8B-8456-DE18AFE3F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4767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80781A-1754-4300-8F05-CE1D32523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40481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FF9139-0442-44D7-9D1A-FA82C3DD7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010025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ideas exist, but prioritization is unclear.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1EA799-CA6D-49D3-BC34-519718A0D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62927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025BCC-CB86-4DE9-986B-D13F86E26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52006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025C27-C83A-4958-80BB-60EA5E837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162550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Governance, auditability, or ownership is missing.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002DC7-A946-4409-9C9B-813B0B6C9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67818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58170D-AF30-460B-8CD5-8CC5B78E2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63531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4A6B8D-0F62-41E4-B9BB-D977471B4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6315075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agents are moving into live workflows.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AE6A05-EC02-47BB-BCE8-3ABA0315D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793432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8BBBBA-6698-4EB3-A2D9-CD1E02508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75057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A12AB8-773A-44B6-825D-5A13D1631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7467600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Critical knowledge is at risk of being lost.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1059F83-32FD-4AEB-B5A7-F3897E255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5011839-8C3D-4D6C-B2AA-A62D0A743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guide to when ShiftBy can help</a:t>
            </a:r>
          </a:p>
        </p:txBody>
      </p:sp>
      <p:sp>
        <p:nvSpPr>
          <p:cNvPr id="28" name="pager-pill">
            <a:extLst xmlns:a="http://schemas.openxmlformats.org/drawingml/2006/main">
              <a:ext uri="{FF2B5EF4-FFF2-40B4-BE49-F238E27FC236}">
                <a16:creationId xmlns:a16="http://schemas.microsoft.com/office/drawing/2014/main" id="{C2122F33-D05F-4BA1-8260-2ABD5AC4D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488B2F-7B21-4CD1-BEFB-8AD2569EC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66F5197-9CD3-413D-B19C-5ADCC5689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E5A06CB-37DB-475A-A45A-55D914E82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15D00E8-9BC7-4F63-AED8-BAC190779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13 / 14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8C197C3-3582-4B88-B17E-99C28B495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52839660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27CF72D-F677-4A60-8EDF-E33C328D9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7157AF-6D17-4EAD-B8EE-852BA232B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0f4291b6ce45cb"/>
          <a:stretch xmlns:a="http://schemas.openxmlformats.org/drawingml/2006/main"/>
        </p:blipFill>
        <p:spPr>
          <a:xfrm xmlns:a="http://schemas.openxmlformats.org/drawingml/2006/main">
            <a:off x="666750" y="228600"/>
            <a:ext cx="1028700" cy="10287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9EB426-66AE-44FB-90F8-1FD100A07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CONTACT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5B887E-721B-4D63-8315-5AE56D999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564358-7857-40E4-A687-298D6FB98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6607DF-7AD5-4E15-856B-4BDF808FC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DA0647-FB68-4062-9051-DAFCC4343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00275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MAKE AN INTRODUCTION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EE6DB3-499D-4671-A532-935C4B23F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24150"/>
            <a:ext cx="61912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Execution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changes.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Understanding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preserves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confidence.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DC8AB6-4264-496C-A08A-D7C415EB0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762875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Introduce ShiftBy when understanding</a:t>
            </a:r>
          </a:p>
          <a:p xmlns:a="http://schemas.openxmlformats.org/drawingml/2006/main">
            <a:pPr algn="l">
              <a:defRPr sz="28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needs to survive change.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D4F1E5-BE80-4FAB-B283-F64623975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2476500"/>
            <a:ext cx="5524500" cy="5524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8EE0E4-AB38-4EED-9C54-CF53BA313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5625" y="3857625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5DCF2E-917E-48F1-9FA2-E4B2E559A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238750"/>
            <a:ext cx="647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A3DA07-A123-4673-BB61-00DB41488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572125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Ananda Krishna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D03478-7C44-44B4-8702-C4F17FB8B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Founder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409EE9-CF07-4EEB-9DD7-DBDCDDDC9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7246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ShiftBy Pte. Ltd.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BF7B31-B2AD-47F6-BE5D-64DDD01F8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72866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E1420"/>
                </a:solidFill>
                <a:latin typeface="Arial"/>
                <a:ea typeface="Arial"/>
                <a:cs typeface="Arial"/>
              </a:rPr>
              <a:t>https://www.shiftby.sg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2F73A4-AAB1-4587-A861-88C93A836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783907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E1420"/>
                </a:solidFill>
                <a:latin typeface="Arial"/>
                <a:ea typeface="Arial"/>
                <a:cs typeface="Arial"/>
              </a:rPr>
              <a:t>linkedin.com/in/anandakrishnam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B60927-7652-4AEB-844C-8C8337031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3915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E1420"/>
                </a:solidFill>
                <a:latin typeface="Arial"/>
                <a:ea typeface="Arial"/>
                <a:cs typeface="Arial"/>
              </a:rPr>
              <a:t>anandakrishnam@shiftby.sg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B5457B-F984-4BD6-8215-523364EE4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59CC24-B99D-4452-BCDE-1B9E3E64E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guide to when ShiftBy can help</a:t>
            </a:r>
          </a:p>
        </p:txBody>
      </p:sp>
      <p:sp>
        <p:nvSpPr>
          <p:cNvPr id="22" name="pager-pill">
            <a:extLst xmlns:a="http://schemas.openxmlformats.org/drawingml/2006/main">
              <a:ext uri="{FF2B5EF4-FFF2-40B4-BE49-F238E27FC236}">
                <a16:creationId xmlns:a16="http://schemas.microsoft.com/office/drawing/2014/main" id="{2DBC29FE-82E1-45B1-8FF1-BCD309C44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414DD8-69AE-4789-99CD-5B935FD39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831311-B3E4-4B96-B390-3F8C99848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A442BD-F147-400A-B31F-2997FE4CF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8F65A3-B63E-4CAA-94F7-F3F8E1041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14 / 14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4377BFD-0259-411D-B765-E4E531F27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9948765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2026-06-15T09:57:13.7320000Z</dcterms:created>
  <dcterms:modified xsi:type="dcterms:W3CDTF">2026-06-15T09:57:13.7320000Z</dcterms:modified>
</coreProperties>
</file>